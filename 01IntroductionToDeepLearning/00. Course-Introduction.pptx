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74" r:id="rId7"/>
    <p:sldId id="262" r:id="rId8"/>
    <p:sldId id="263" r:id="rId9"/>
    <p:sldId id="264" r:id="rId10"/>
    <p:sldId id="271" r:id="rId11"/>
    <p:sldId id="273" r:id="rId12"/>
    <p:sldId id="277" r:id="rId13"/>
    <p:sldId id="278" r:id="rId14"/>
    <p:sldId id="267" r:id="rId15"/>
    <p:sldId id="268" r:id="rId16"/>
    <p:sldId id="269" r:id="rId17"/>
    <p:sldId id="261" r:id="rId1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6F3"/>
    <a:srgbClr val="4D4D4D"/>
    <a:srgbClr val="8BC34A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0AAABE-4D6D-4E9E-A2B8-AF4EC3C55083}" type="doc">
      <dgm:prSet loTypeId="urn:microsoft.com/office/officeart/2005/8/layout/vLis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78226C-C953-4F85-9974-C51AF902BDA8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>
              <a:solidFill>
                <a:srgbClr val="4D4D4D"/>
              </a:solidFill>
            </a:rPr>
            <a:t>Intermediate English</a:t>
          </a:r>
        </a:p>
      </dgm:t>
    </dgm:pt>
    <dgm:pt modelId="{06DCD261-52C3-43E7-A3C5-A1867B820CBD}" type="parTrans" cxnId="{12377B9A-C9D3-4411-9235-9DD98439EC7A}">
      <dgm:prSet/>
      <dgm:spPr/>
      <dgm:t>
        <a:bodyPr/>
        <a:lstStyle/>
        <a:p>
          <a:endParaRPr lang="en-US"/>
        </a:p>
      </dgm:t>
    </dgm:pt>
    <dgm:pt modelId="{5F3995D8-249F-43EB-A4D0-BCD11FD9CAF7}" type="sibTrans" cxnId="{12377B9A-C9D3-4411-9235-9DD98439EC7A}">
      <dgm:prSet/>
      <dgm:spPr/>
      <dgm:t>
        <a:bodyPr/>
        <a:lstStyle/>
        <a:p>
          <a:endParaRPr lang="en-US"/>
        </a:p>
      </dgm:t>
    </dgm:pt>
    <dgm:pt modelId="{663562F9-4A81-41E8-97F0-6004C84CB7D5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>
              <a:solidFill>
                <a:srgbClr val="4D4D4D"/>
              </a:solidFill>
            </a:rPr>
            <a:t>Programming </a:t>
          </a:r>
          <a:r>
            <a:rPr lang="en-US" dirty="0" smtClean="0">
              <a:solidFill>
                <a:srgbClr val="4D4D4D"/>
              </a:solidFill>
            </a:rPr>
            <a:t>Basics</a:t>
          </a:r>
          <a:endParaRPr lang="en-US" dirty="0">
            <a:solidFill>
              <a:srgbClr val="4D4D4D"/>
            </a:solidFill>
          </a:endParaRPr>
        </a:p>
      </dgm:t>
    </dgm:pt>
    <dgm:pt modelId="{4EA71571-B9FD-4379-A954-7EBAC207E36C}" type="parTrans" cxnId="{D7E41BC8-5B5B-413D-AD5C-7741BA429E18}">
      <dgm:prSet/>
      <dgm:spPr/>
      <dgm:t>
        <a:bodyPr/>
        <a:lstStyle/>
        <a:p>
          <a:endParaRPr lang="en-US"/>
        </a:p>
      </dgm:t>
    </dgm:pt>
    <dgm:pt modelId="{CE86A687-BCB8-40BA-B837-01EF5AD235BC}" type="sibTrans" cxnId="{D7E41BC8-5B5B-413D-AD5C-7741BA429E18}">
      <dgm:prSet/>
      <dgm:spPr/>
      <dgm:t>
        <a:bodyPr/>
        <a:lstStyle/>
        <a:p>
          <a:endParaRPr lang="en-US"/>
        </a:p>
      </dgm:t>
    </dgm:pt>
    <dgm:pt modelId="{33AD885B-9268-499D-933D-5B2928A56B51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 smtClean="0">
              <a:solidFill>
                <a:srgbClr val="4D4D4D"/>
              </a:solidFill>
            </a:rPr>
            <a:t>Maths and Machine Learning</a:t>
          </a:r>
          <a:endParaRPr lang="en-US" dirty="0">
            <a:solidFill>
              <a:srgbClr val="4D4D4D"/>
            </a:solidFill>
          </a:endParaRPr>
        </a:p>
      </dgm:t>
    </dgm:pt>
    <dgm:pt modelId="{D536C9D5-29F1-48EC-ACEA-36761E575470}" type="parTrans" cxnId="{9DC0ED8F-AC40-4591-889B-9858307BF01D}">
      <dgm:prSet/>
      <dgm:spPr/>
      <dgm:t>
        <a:bodyPr/>
        <a:lstStyle/>
        <a:p>
          <a:endParaRPr lang="en-US"/>
        </a:p>
      </dgm:t>
    </dgm:pt>
    <dgm:pt modelId="{B07D4A8F-EA48-4A74-A16F-84F19BB15702}" type="sibTrans" cxnId="{9DC0ED8F-AC40-4591-889B-9858307BF01D}">
      <dgm:prSet/>
      <dgm:spPr/>
      <dgm:t>
        <a:bodyPr/>
        <a:lstStyle/>
        <a:p>
          <a:endParaRPr lang="en-US"/>
        </a:p>
      </dgm:t>
    </dgm:pt>
    <dgm:pt modelId="{EF4148C6-5385-4E69-8E9F-AE7B507770B6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 smtClean="0">
              <a:solidFill>
                <a:srgbClr val="4D4D4D"/>
              </a:solidFill>
            </a:rPr>
            <a:t>Knowing the foundations of </a:t>
          </a:r>
          <a:r>
            <a:rPr lang="en-US" b="1" dirty="0" smtClean="0">
              <a:solidFill>
                <a:srgbClr val="4D4D4D"/>
              </a:solidFill>
            </a:rPr>
            <a:t>machine learning</a:t>
          </a:r>
          <a:r>
            <a:rPr lang="en-US" dirty="0" smtClean="0">
              <a:solidFill>
                <a:srgbClr val="4D4D4D"/>
              </a:solidFill>
            </a:rPr>
            <a:t> is required</a:t>
          </a:r>
          <a:endParaRPr lang="en-US" dirty="0">
            <a:solidFill>
              <a:srgbClr val="4D4D4D"/>
            </a:solidFill>
          </a:endParaRPr>
        </a:p>
      </dgm:t>
    </dgm:pt>
    <dgm:pt modelId="{3C093DC7-76D9-436C-A5BA-276D7997F657}" type="parTrans" cxnId="{9DD5E4BC-C5B2-48A8-9924-E7B5EAED164B}">
      <dgm:prSet/>
      <dgm:spPr/>
      <dgm:t>
        <a:bodyPr/>
        <a:lstStyle/>
        <a:p>
          <a:endParaRPr lang="en-US"/>
        </a:p>
      </dgm:t>
    </dgm:pt>
    <dgm:pt modelId="{D748EF8B-569F-4A4C-9DBE-04536248779B}" type="sibTrans" cxnId="{9DD5E4BC-C5B2-48A8-9924-E7B5EAED164B}">
      <dgm:prSet/>
      <dgm:spPr/>
      <dgm:t>
        <a:bodyPr/>
        <a:lstStyle/>
        <a:p>
          <a:endParaRPr lang="en-US"/>
        </a:p>
      </dgm:t>
    </dgm:pt>
    <dgm:pt modelId="{E7D504E2-2767-47E7-B888-05B76CC67C7D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>
              <a:solidFill>
                <a:srgbClr val="4D4D4D"/>
              </a:solidFill>
            </a:rPr>
            <a:t>Understand what is written on the slides</a:t>
          </a:r>
        </a:p>
      </dgm:t>
    </dgm:pt>
    <dgm:pt modelId="{D96F55A6-CC2F-474B-8830-64F5356E6D48}" type="parTrans" cxnId="{BF539987-7D57-44AB-B392-00BB58ED76D6}">
      <dgm:prSet/>
      <dgm:spPr/>
      <dgm:t>
        <a:bodyPr/>
        <a:lstStyle/>
        <a:p>
          <a:endParaRPr lang="en-US"/>
        </a:p>
      </dgm:t>
    </dgm:pt>
    <dgm:pt modelId="{96D0D406-D038-4393-BAA5-28B8C438E058}" type="sibTrans" cxnId="{BF539987-7D57-44AB-B392-00BB58ED76D6}">
      <dgm:prSet/>
      <dgm:spPr/>
      <dgm:t>
        <a:bodyPr/>
        <a:lstStyle/>
        <a:p>
          <a:endParaRPr lang="en-US"/>
        </a:p>
      </dgm:t>
    </dgm:pt>
    <dgm:pt modelId="{E73FDC8E-5484-44DB-9569-017F516042FE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>
              <a:solidFill>
                <a:srgbClr val="4D4D4D"/>
              </a:solidFill>
            </a:rPr>
            <a:t>Scientific Mindset</a:t>
          </a:r>
        </a:p>
      </dgm:t>
    </dgm:pt>
    <dgm:pt modelId="{C4E58209-A76E-44CA-9B94-B931BC81B234}" type="parTrans" cxnId="{CB945856-BF92-408D-B9C9-4D500070EA66}">
      <dgm:prSet/>
      <dgm:spPr/>
      <dgm:t>
        <a:bodyPr/>
        <a:lstStyle/>
        <a:p>
          <a:endParaRPr lang="en-US"/>
        </a:p>
      </dgm:t>
    </dgm:pt>
    <dgm:pt modelId="{5116FAE0-9FCD-41D2-9C4D-5BDE39BABEB0}" type="sibTrans" cxnId="{CB945856-BF92-408D-B9C9-4D500070EA66}">
      <dgm:prSet/>
      <dgm:spPr/>
      <dgm:t>
        <a:bodyPr/>
        <a:lstStyle/>
        <a:p>
          <a:endParaRPr lang="en-US"/>
        </a:p>
      </dgm:t>
    </dgm:pt>
    <dgm:pt modelId="{AD588CA0-3731-47B6-B483-FBCD4F26ADC4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>
              <a:solidFill>
                <a:srgbClr val="4D4D4D"/>
              </a:solidFill>
            </a:rPr>
            <a:t>Be open to (and not afraid of) challenges</a:t>
          </a:r>
        </a:p>
      </dgm:t>
    </dgm:pt>
    <dgm:pt modelId="{B56EAC1D-73B0-4120-92C3-154E0B9F56D8}" type="parTrans" cxnId="{D6952FED-F3EB-454E-8C65-4830D48FAC2A}">
      <dgm:prSet/>
      <dgm:spPr/>
      <dgm:t>
        <a:bodyPr/>
        <a:lstStyle/>
        <a:p>
          <a:endParaRPr lang="en-US"/>
        </a:p>
      </dgm:t>
    </dgm:pt>
    <dgm:pt modelId="{8DE25701-A1C0-4A47-8A8D-96805B50A54D}" type="sibTrans" cxnId="{D6952FED-F3EB-454E-8C65-4830D48FAC2A}">
      <dgm:prSet/>
      <dgm:spPr/>
      <dgm:t>
        <a:bodyPr/>
        <a:lstStyle/>
        <a:p>
          <a:endParaRPr lang="en-US"/>
        </a:p>
      </dgm:t>
    </dgm:pt>
    <dgm:pt modelId="{86649C5B-ABDD-471E-8693-B9FA2715B336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 smtClean="0">
              <a:solidFill>
                <a:srgbClr val="4D4D4D"/>
              </a:solidFill>
            </a:rPr>
            <a:t>Software development experience is a plus</a:t>
          </a:r>
          <a:endParaRPr lang="en-US" dirty="0">
            <a:solidFill>
              <a:srgbClr val="4D4D4D"/>
            </a:solidFill>
          </a:endParaRPr>
        </a:p>
      </dgm:t>
    </dgm:pt>
    <dgm:pt modelId="{7DB78753-6444-434B-B83E-90115A28B93F}" type="parTrans" cxnId="{B7BEB747-94A3-413A-907D-60761BBCC7A3}">
      <dgm:prSet/>
      <dgm:spPr/>
      <dgm:t>
        <a:bodyPr/>
        <a:lstStyle/>
        <a:p>
          <a:endParaRPr lang="en-US"/>
        </a:p>
      </dgm:t>
    </dgm:pt>
    <dgm:pt modelId="{34FCDB52-B3D3-4A5F-A508-747BFB682E1C}" type="sibTrans" cxnId="{B7BEB747-94A3-413A-907D-60761BBCC7A3}">
      <dgm:prSet/>
      <dgm:spPr/>
      <dgm:t>
        <a:bodyPr/>
        <a:lstStyle/>
        <a:p>
          <a:endParaRPr lang="en-US"/>
        </a:p>
      </dgm:t>
    </dgm:pt>
    <dgm:pt modelId="{19F84E97-99FF-4BCF-915E-268DFE8036BF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dirty="0" smtClean="0">
              <a:solidFill>
                <a:srgbClr val="4D4D4D"/>
              </a:solidFill>
            </a:rPr>
            <a:t>Some algebra, calculus and statistics</a:t>
          </a:r>
          <a:endParaRPr lang="en-US" dirty="0">
            <a:solidFill>
              <a:srgbClr val="4D4D4D"/>
            </a:solidFill>
          </a:endParaRPr>
        </a:p>
      </dgm:t>
    </dgm:pt>
    <dgm:pt modelId="{AE4D2623-4D25-4CAB-96E9-AE9B70972F42}" type="sibTrans" cxnId="{CF08DC43-B82E-42BC-BD68-4AF0A6BD9475}">
      <dgm:prSet/>
      <dgm:spPr/>
      <dgm:t>
        <a:bodyPr/>
        <a:lstStyle/>
        <a:p>
          <a:endParaRPr lang="en-US"/>
        </a:p>
      </dgm:t>
    </dgm:pt>
    <dgm:pt modelId="{2726385C-70F3-4716-9979-601A7B6A1E37}" type="parTrans" cxnId="{CF08DC43-B82E-42BC-BD68-4AF0A6BD9475}">
      <dgm:prSet/>
      <dgm:spPr/>
      <dgm:t>
        <a:bodyPr/>
        <a:lstStyle/>
        <a:p>
          <a:endParaRPr lang="en-US"/>
        </a:p>
      </dgm:t>
    </dgm:pt>
    <dgm:pt modelId="{DFF92C1C-E9A1-420B-817A-DA48709C291C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b="0" dirty="0" smtClean="0">
              <a:solidFill>
                <a:srgbClr val="4D4D4D"/>
              </a:solidFill>
            </a:rPr>
            <a:t>Familiarity with </a:t>
          </a:r>
          <a:r>
            <a:rPr lang="en-US" b="1" dirty="0" smtClean="0">
              <a:solidFill>
                <a:srgbClr val="4D4D4D"/>
              </a:solidFill>
            </a:rPr>
            <a:t>Python</a:t>
          </a:r>
          <a:r>
            <a:rPr lang="en-US" b="0" dirty="0" smtClean="0">
              <a:solidFill>
                <a:srgbClr val="4D4D4D"/>
              </a:solidFill>
            </a:rPr>
            <a:t> is required</a:t>
          </a:r>
          <a:endParaRPr lang="en-US" b="0" dirty="0">
            <a:solidFill>
              <a:srgbClr val="4D4D4D"/>
            </a:solidFill>
          </a:endParaRPr>
        </a:p>
      </dgm:t>
    </dgm:pt>
    <dgm:pt modelId="{D3460AE2-49CD-4551-B112-87B559277565}" type="parTrans" cxnId="{AD84CB39-780E-417A-B7B9-1696F6CB040E}">
      <dgm:prSet/>
      <dgm:spPr/>
      <dgm:t>
        <a:bodyPr/>
        <a:lstStyle/>
        <a:p>
          <a:endParaRPr lang="en-US"/>
        </a:p>
      </dgm:t>
    </dgm:pt>
    <dgm:pt modelId="{26C3B35F-2531-4AAC-9112-59814E8B453D}" type="sibTrans" cxnId="{AD84CB39-780E-417A-B7B9-1696F6CB040E}">
      <dgm:prSet/>
      <dgm:spPr/>
      <dgm:t>
        <a:bodyPr/>
        <a:lstStyle/>
        <a:p>
          <a:endParaRPr lang="en-US"/>
        </a:p>
      </dgm:t>
    </dgm:pt>
    <dgm:pt modelId="{B268A272-6A87-4B6B-80D9-C77CC6E4F20B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2196F3"/>
          </a:solidFill>
        </a:ln>
      </dgm:spPr>
      <dgm:t>
        <a:bodyPr/>
        <a:lstStyle/>
        <a:p>
          <a:r>
            <a:rPr lang="en-US" b="0" dirty="0" smtClean="0">
              <a:solidFill>
                <a:srgbClr val="4D4D4D"/>
              </a:solidFill>
            </a:rPr>
            <a:t>Know how to work with data</a:t>
          </a:r>
          <a:endParaRPr lang="en-US" b="0" dirty="0">
            <a:solidFill>
              <a:srgbClr val="4D4D4D"/>
            </a:solidFill>
          </a:endParaRPr>
        </a:p>
      </dgm:t>
    </dgm:pt>
    <dgm:pt modelId="{98DBBEF9-B5F6-45E6-9B81-EC24194B939A}" type="parTrans" cxnId="{1A1F3B85-1B1E-4E09-8D45-7D22BA7E1D21}">
      <dgm:prSet/>
      <dgm:spPr/>
      <dgm:t>
        <a:bodyPr/>
        <a:lstStyle/>
        <a:p>
          <a:endParaRPr lang="en-US"/>
        </a:p>
      </dgm:t>
    </dgm:pt>
    <dgm:pt modelId="{79B78443-0708-4647-A642-C9B18E8BEE6E}" type="sibTrans" cxnId="{1A1F3B85-1B1E-4E09-8D45-7D22BA7E1D21}">
      <dgm:prSet/>
      <dgm:spPr/>
      <dgm:t>
        <a:bodyPr/>
        <a:lstStyle/>
        <a:p>
          <a:endParaRPr lang="en-US"/>
        </a:p>
      </dgm:t>
    </dgm:pt>
    <dgm:pt modelId="{A94F6F06-181C-4817-9BC3-33D2328EA782}" type="pres">
      <dgm:prSet presAssocID="{AC0AAABE-4D6D-4E9E-A2B8-AF4EC3C5508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2C22F86-E298-42A0-88FF-724F1832CA80}" type="pres">
      <dgm:prSet presAssocID="{663562F9-4A81-41E8-97F0-6004C84CB7D5}" presName="composite" presStyleCnt="0"/>
      <dgm:spPr/>
    </dgm:pt>
    <dgm:pt modelId="{23FA96D9-BE65-44FB-80CE-C567EDFA8B50}" type="pres">
      <dgm:prSet presAssocID="{663562F9-4A81-41E8-97F0-6004C84CB7D5}" presName="imgShp" presStyleLbl="fgImgPlace1" presStyleIdx="0" presStyleCnt="4" custLinFactNeighborY="-332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82550">
          <a:noFill/>
        </a:ln>
      </dgm:spPr>
      <dgm:t>
        <a:bodyPr/>
        <a:lstStyle/>
        <a:p>
          <a:endParaRPr lang="en-US"/>
        </a:p>
      </dgm:t>
    </dgm:pt>
    <dgm:pt modelId="{194F00A1-EE72-42B3-83AB-E79273A07BC4}" type="pres">
      <dgm:prSet presAssocID="{663562F9-4A81-41E8-97F0-6004C84CB7D5}" presName="txShp" presStyleLbl="node1" presStyleIdx="0" presStyleCnt="4" custScaleY="118842" custLinFactNeighborY="-13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5F7CD6-C7F7-4069-AE59-BA0AB45570F8}" type="pres">
      <dgm:prSet presAssocID="{CE86A687-BCB8-40BA-B837-01EF5AD235BC}" presName="spacing" presStyleCnt="0"/>
      <dgm:spPr/>
    </dgm:pt>
    <dgm:pt modelId="{183DD34C-5C1C-456E-AEBA-BA7F370FCDD4}" type="pres">
      <dgm:prSet presAssocID="{33AD885B-9268-499D-933D-5B2928A56B51}" presName="composite" presStyleCnt="0"/>
      <dgm:spPr/>
    </dgm:pt>
    <dgm:pt modelId="{DB7A3E09-D78A-4E9F-A789-BCEF8D7E3FDA}" type="pres">
      <dgm:prSet presAssocID="{33AD885B-9268-499D-933D-5B2928A56B51}" presName="imgShp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82550">
          <a:noFill/>
        </a:ln>
      </dgm:spPr>
      <dgm:t>
        <a:bodyPr/>
        <a:lstStyle/>
        <a:p>
          <a:endParaRPr lang="en-US"/>
        </a:p>
      </dgm:t>
    </dgm:pt>
    <dgm:pt modelId="{584A7CBD-1B44-45AF-ADE4-BFA4E8EF863F}" type="pres">
      <dgm:prSet presAssocID="{33AD885B-9268-499D-933D-5B2928A56B5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D5FFBF-89B5-4DA3-9CC2-51EA100625F7}" type="pres">
      <dgm:prSet presAssocID="{B07D4A8F-EA48-4A74-A16F-84F19BB15702}" presName="spacing" presStyleCnt="0"/>
      <dgm:spPr/>
    </dgm:pt>
    <dgm:pt modelId="{096D1B1E-A385-4148-BB0F-E4824F623995}" type="pres">
      <dgm:prSet presAssocID="{1C78226C-C953-4F85-9974-C51AF902BDA8}" presName="composite" presStyleCnt="0"/>
      <dgm:spPr/>
    </dgm:pt>
    <dgm:pt modelId="{8E6A3A15-6A22-4741-8CCC-508A356F70D1}" type="pres">
      <dgm:prSet presAssocID="{1C78226C-C953-4F85-9974-C51AF902BDA8}" presName="imgShp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82550">
          <a:noFill/>
        </a:ln>
      </dgm:spPr>
      <dgm:t>
        <a:bodyPr/>
        <a:lstStyle/>
        <a:p>
          <a:endParaRPr lang="en-US"/>
        </a:p>
      </dgm:t>
    </dgm:pt>
    <dgm:pt modelId="{5FAFB281-DF08-40ED-B438-ADB58D9A3182}" type="pres">
      <dgm:prSet presAssocID="{1C78226C-C953-4F85-9974-C51AF902BDA8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6C81FA-027C-4532-8C4F-F769877C400C}" type="pres">
      <dgm:prSet presAssocID="{5F3995D8-249F-43EB-A4D0-BCD11FD9CAF7}" presName="spacing" presStyleCnt="0"/>
      <dgm:spPr/>
    </dgm:pt>
    <dgm:pt modelId="{128098D8-A953-4707-81AE-FF033F8D15B3}" type="pres">
      <dgm:prSet presAssocID="{E73FDC8E-5484-44DB-9569-017F516042FE}" presName="composite" presStyleCnt="0"/>
      <dgm:spPr/>
    </dgm:pt>
    <dgm:pt modelId="{14ED7209-9D00-43B8-A6CB-83EA74787987}" type="pres">
      <dgm:prSet presAssocID="{E73FDC8E-5484-44DB-9569-017F516042FE}" presName="imgShp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D0D337E9-E134-49B9-A1AA-A4596AD3FF7C}" type="pres">
      <dgm:prSet presAssocID="{E73FDC8E-5484-44DB-9569-017F516042FE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F1B2F96-71CA-4D9A-A575-A13616509120}" type="presOf" srcId="{E73FDC8E-5484-44DB-9569-017F516042FE}" destId="{D0D337E9-E134-49B9-A1AA-A4596AD3FF7C}" srcOrd="0" destOrd="0" presId="urn:microsoft.com/office/officeart/2005/8/layout/vList3"/>
    <dgm:cxn modelId="{3C95E632-AB90-4638-A4C4-806CCFCC153A}" type="presOf" srcId="{EF4148C6-5385-4E69-8E9F-AE7B507770B6}" destId="{584A7CBD-1B44-45AF-ADE4-BFA4E8EF863F}" srcOrd="0" destOrd="2" presId="urn:microsoft.com/office/officeart/2005/8/layout/vList3"/>
    <dgm:cxn modelId="{BF539987-7D57-44AB-B392-00BB58ED76D6}" srcId="{1C78226C-C953-4F85-9974-C51AF902BDA8}" destId="{E7D504E2-2767-47E7-B888-05B76CC67C7D}" srcOrd="0" destOrd="0" parTransId="{D96F55A6-CC2F-474B-8830-64F5356E6D48}" sibTransId="{96D0D406-D038-4393-BAA5-28B8C438E058}"/>
    <dgm:cxn modelId="{A5B9653E-8098-4418-B49C-3437353F2950}" type="presOf" srcId="{86649C5B-ABDD-471E-8693-B9FA2715B336}" destId="{194F00A1-EE72-42B3-83AB-E79273A07BC4}" srcOrd="0" destOrd="2" presId="urn:microsoft.com/office/officeart/2005/8/layout/vList3"/>
    <dgm:cxn modelId="{A4CBA13B-5CFB-4727-B1E4-E5BDAE0166F8}" type="presOf" srcId="{AD588CA0-3731-47B6-B483-FBCD4F26ADC4}" destId="{D0D337E9-E134-49B9-A1AA-A4596AD3FF7C}" srcOrd="0" destOrd="2" presId="urn:microsoft.com/office/officeart/2005/8/layout/vList3"/>
    <dgm:cxn modelId="{5D66FED3-BFBB-4E6D-80FE-9484C136CED6}" type="presOf" srcId="{B268A272-6A87-4B6B-80D9-C77CC6E4F20B}" destId="{D0D337E9-E134-49B9-A1AA-A4596AD3FF7C}" srcOrd="0" destOrd="1" presId="urn:microsoft.com/office/officeart/2005/8/layout/vList3"/>
    <dgm:cxn modelId="{9DD5E4BC-C5B2-48A8-9924-E7B5EAED164B}" srcId="{33AD885B-9268-499D-933D-5B2928A56B51}" destId="{EF4148C6-5385-4E69-8E9F-AE7B507770B6}" srcOrd="1" destOrd="0" parTransId="{3C093DC7-76D9-436C-A5BA-276D7997F657}" sibTransId="{D748EF8B-569F-4A4C-9DBE-04536248779B}"/>
    <dgm:cxn modelId="{D6952FED-F3EB-454E-8C65-4830D48FAC2A}" srcId="{E73FDC8E-5484-44DB-9569-017F516042FE}" destId="{AD588CA0-3731-47B6-B483-FBCD4F26ADC4}" srcOrd="1" destOrd="0" parTransId="{B56EAC1D-73B0-4120-92C3-154E0B9F56D8}" sibTransId="{8DE25701-A1C0-4A47-8A8D-96805B50A54D}"/>
    <dgm:cxn modelId="{1A1F3B85-1B1E-4E09-8D45-7D22BA7E1D21}" srcId="{E73FDC8E-5484-44DB-9569-017F516042FE}" destId="{B268A272-6A87-4B6B-80D9-C77CC6E4F20B}" srcOrd="0" destOrd="0" parTransId="{98DBBEF9-B5F6-45E6-9B81-EC24194B939A}" sibTransId="{79B78443-0708-4647-A642-C9B18E8BEE6E}"/>
    <dgm:cxn modelId="{B1A0CD56-B0B9-4313-9951-3CCD90D21363}" type="presOf" srcId="{DFF92C1C-E9A1-420B-817A-DA48709C291C}" destId="{194F00A1-EE72-42B3-83AB-E79273A07BC4}" srcOrd="0" destOrd="1" presId="urn:microsoft.com/office/officeart/2005/8/layout/vList3"/>
    <dgm:cxn modelId="{45ACB9A8-3D76-45DA-8D61-A3A6DAEC13DC}" type="presOf" srcId="{AC0AAABE-4D6D-4E9E-A2B8-AF4EC3C55083}" destId="{A94F6F06-181C-4817-9BC3-33D2328EA782}" srcOrd="0" destOrd="0" presId="urn:microsoft.com/office/officeart/2005/8/layout/vList3"/>
    <dgm:cxn modelId="{CF08DC43-B82E-42BC-BD68-4AF0A6BD9475}" srcId="{33AD885B-9268-499D-933D-5B2928A56B51}" destId="{19F84E97-99FF-4BCF-915E-268DFE8036BF}" srcOrd="0" destOrd="0" parTransId="{2726385C-70F3-4716-9979-601A7B6A1E37}" sibTransId="{AE4D2623-4D25-4CAB-96E9-AE9B70972F42}"/>
    <dgm:cxn modelId="{D7E41BC8-5B5B-413D-AD5C-7741BA429E18}" srcId="{AC0AAABE-4D6D-4E9E-A2B8-AF4EC3C55083}" destId="{663562F9-4A81-41E8-97F0-6004C84CB7D5}" srcOrd="0" destOrd="0" parTransId="{4EA71571-B9FD-4379-A954-7EBAC207E36C}" sibTransId="{CE86A687-BCB8-40BA-B837-01EF5AD235BC}"/>
    <dgm:cxn modelId="{0789A7AA-3F52-43A3-A1B8-EC3798D3830F}" type="presOf" srcId="{33AD885B-9268-499D-933D-5B2928A56B51}" destId="{584A7CBD-1B44-45AF-ADE4-BFA4E8EF863F}" srcOrd="0" destOrd="0" presId="urn:microsoft.com/office/officeart/2005/8/layout/vList3"/>
    <dgm:cxn modelId="{12377B9A-C9D3-4411-9235-9DD98439EC7A}" srcId="{AC0AAABE-4D6D-4E9E-A2B8-AF4EC3C55083}" destId="{1C78226C-C953-4F85-9974-C51AF902BDA8}" srcOrd="2" destOrd="0" parTransId="{06DCD261-52C3-43E7-A3C5-A1867B820CBD}" sibTransId="{5F3995D8-249F-43EB-A4D0-BCD11FD9CAF7}"/>
    <dgm:cxn modelId="{0412FDEB-84FF-4C1E-AA0B-A27EA4E39D7A}" type="presOf" srcId="{1C78226C-C953-4F85-9974-C51AF902BDA8}" destId="{5FAFB281-DF08-40ED-B438-ADB58D9A3182}" srcOrd="0" destOrd="0" presId="urn:microsoft.com/office/officeart/2005/8/layout/vList3"/>
    <dgm:cxn modelId="{7192F81E-A6C7-432C-B623-527D4EE1E696}" type="presOf" srcId="{E7D504E2-2767-47E7-B888-05B76CC67C7D}" destId="{5FAFB281-DF08-40ED-B438-ADB58D9A3182}" srcOrd="0" destOrd="1" presId="urn:microsoft.com/office/officeart/2005/8/layout/vList3"/>
    <dgm:cxn modelId="{415E0EA1-7485-460E-B098-45A6BC9EA7BA}" type="presOf" srcId="{19F84E97-99FF-4BCF-915E-268DFE8036BF}" destId="{584A7CBD-1B44-45AF-ADE4-BFA4E8EF863F}" srcOrd="0" destOrd="1" presId="urn:microsoft.com/office/officeart/2005/8/layout/vList3"/>
    <dgm:cxn modelId="{B7BEB747-94A3-413A-907D-60761BBCC7A3}" srcId="{663562F9-4A81-41E8-97F0-6004C84CB7D5}" destId="{86649C5B-ABDD-471E-8693-B9FA2715B336}" srcOrd="1" destOrd="0" parTransId="{7DB78753-6444-434B-B83E-90115A28B93F}" sibTransId="{34FCDB52-B3D3-4A5F-A508-747BFB682E1C}"/>
    <dgm:cxn modelId="{CB945856-BF92-408D-B9C9-4D500070EA66}" srcId="{AC0AAABE-4D6D-4E9E-A2B8-AF4EC3C55083}" destId="{E73FDC8E-5484-44DB-9569-017F516042FE}" srcOrd="3" destOrd="0" parTransId="{C4E58209-A76E-44CA-9B94-B931BC81B234}" sibTransId="{5116FAE0-9FCD-41D2-9C4D-5BDE39BABEB0}"/>
    <dgm:cxn modelId="{94F321E7-816C-4A7F-B762-92B4BDEE104C}" type="presOf" srcId="{663562F9-4A81-41E8-97F0-6004C84CB7D5}" destId="{194F00A1-EE72-42B3-83AB-E79273A07BC4}" srcOrd="0" destOrd="0" presId="urn:microsoft.com/office/officeart/2005/8/layout/vList3"/>
    <dgm:cxn modelId="{9DC0ED8F-AC40-4591-889B-9858307BF01D}" srcId="{AC0AAABE-4D6D-4E9E-A2B8-AF4EC3C55083}" destId="{33AD885B-9268-499D-933D-5B2928A56B51}" srcOrd="1" destOrd="0" parTransId="{D536C9D5-29F1-48EC-ACEA-36761E575470}" sibTransId="{B07D4A8F-EA48-4A74-A16F-84F19BB15702}"/>
    <dgm:cxn modelId="{AD84CB39-780E-417A-B7B9-1696F6CB040E}" srcId="{663562F9-4A81-41E8-97F0-6004C84CB7D5}" destId="{DFF92C1C-E9A1-420B-817A-DA48709C291C}" srcOrd="0" destOrd="0" parTransId="{D3460AE2-49CD-4551-B112-87B559277565}" sibTransId="{26C3B35F-2531-4AAC-9112-59814E8B453D}"/>
    <dgm:cxn modelId="{FC778F80-03AF-4836-BEF8-27DB7F7B9EAA}" type="presParOf" srcId="{A94F6F06-181C-4817-9BC3-33D2328EA782}" destId="{62C22F86-E298-42A0-88FF-724F1832CA80}" srcOrd="0" destOrd="0" presId="urn:microsoft.com/office/officeart/2005/8/layout/vList3"/>
    <dgm:cxn modelId="{4DEFF231-7868-4909-B25F-CEA718A0CBC8}" type="presParOf" srcId="{62C22F86-E298-42A0-88FF-724F1832CA80}" destId="{23FA96D9-BE65-44FB-80CE-C567EDFA8B50}" srcOrd="0" destOrd="0" presId="urn:microsoft.com/office/officeart/2005/8/layout/vList3"/>
    <dgm:cxn modelId="{AF037564-0E80-4B4B-B668-124B2305341C}" type="presParOf" srcId="{62C22F86-E298-42A0-88FF-724F1832CA80}" destId="{194F00A1-EE72-42B3-83AB-E79273A07BC4}" srcOrd="1" destOrd="0" presId="urn:microsoft.com/office/officeart/2005/8/layout/vList3"/>
    <dgm:cxn modelId="{96E211BE-9BC3-4944-B205-4C912788B0F3}" type="presParOf" srcId="{A94F6F06-181C-4817-9BC3-33D2328EA782}" destId="{7A5F7CD6-C7F7-4069-AE59-BA0AB45570F8}" srcOrd="1" destOrd="0" presId="urn:microsoft.com/office/officeart/2005/8/layout/vList3"/>
    <dgm:cxn modelId="{8C833C64-140E-44FF-A138-7DBAB8B5C765}" type="presParOf" srcId="{A94F6F06-181C-4817-9BC3-33D2328EA782}" destId="{183DD34C-5C1C-456E-AEBA-BA7F370FCDD4}" srcOrd="2" destOrd="0" presId="urn:microsoft.com/office/officeart/2005/8/layout/vList3"/>
    <dgm:cxn modelId="{01DB7527-52CE-446E-A448-B91692B53224}" type="presParOf" srcId="{183DD34C-5C1C-456E-AEBA-BA7F370FCDD4}" destId="{DB7A3E09-D78A-4E9F-A789-BCEF8D7E3FDA}" srcOrd="0" destOrd="0" presId="urn:microsoft.com/office/officeart/2005/8/layout/vList3"/>
    <dgm:cxn modelId="{F04F38F4-4036-4E40-AD85-1A014A758EA5}" type="presParOf" srcId="{183DD34C-5C1C-456E-AEBA-BA7F370FCDD4}" destId="{584A7CBD-1B44-45AF-ADE4-BFA4E8EF863F}" srcOrd="1" destOrd="0" presId="urn:microsoft.com/office/officeart/2005/8/layout/vList3"/>
    <dgm:cxn modelId="{5D6593F0-E650-451A-B518-4FE44DF0B0F8}" type="presParOf" srcId="{A94F6F06-181C-4817-9BC3-33D2328EA782}" destId="{F5D5FFBF-89B5-4DA3-9CC2-51EA100625F7}" srcOrd="3" destOrd="0" presId="urn:microsoft.com/office/officeart/2005/8/layout/vList3"/>
    <dgm:cxn modelId="{BF279CCC-F42C-44CB-84D8-2C980FE0067F}" type="presParOf" srcId="{A94F6F06-181C-4817-9BC3-33D2328EA782}" destId="{096D1B1E-A385-4148-BB0F-E4824F623995}" srcOrd="4" destOrd="0" presId="urn:microsoft.com/office/officeart/2005/8/layout/vList3"/>
    <dgm:cxn modelId="{4FA9AB82-1F7C-4D5B-A0E2-6DD2340B2DBC}" type="presParOf" srcId="{096D1B1E-A385-4148-BB0F-E4824F623995}" destId="{8E6A3A15-6A22-4741-8CCC-508A356F70D1}" srcOrd="0" destOrd="0" presId="urn:microsoft.com/office/officeart/2005/8/layout/vList3"/>
    <dgm:cxn modelId="{2A074A29-DE8E-4105-9708-34DE7B5348EB}" type="presParOf" srcId="{096D1B1E-A385-4148-BB0F-E4824F623995}" destId="{5FAFB281-DF08-40ED-B438-ADB58D9A3182}" srcOrd="1" destOrd="0" presId="urn:microsoft.com/office/officeart/2005/8/layout/vList3"/>
    <dgm:cxn modelId="{5CF61B0B-A418-4E16-A74C-6BD02AA4FC44}" type="presParOf" srcId="{A94F6F06-181C-4817-9BC3-33D2328EA782}" destId="{506C81FA-027C-4532-8C4F-F769877C400C}" srcOrd="5" destOrd="0" presId="urn:microsoft.com/office/officeart/2005/8/layout/vList3"/>
    <dgm:cxn modelId="{E42D0175-C63F-49B5-B4FB-94102DDC7E9D}" type="presParOf" srcId="{A94F6F06-181C-4817-9BC3-33D2328EA782}" destId="{128098D8-A953-4707-81AE-FF033F8D15B3}" srcOrd="6" destOrd="0" presId="urn:microsoft.com/office/officeart/2005/8/layout/vList3"/>
    <dgm:cxn modelId="{1537A0EB-1D21-49D0-B391-9505437CB34E}" type="presParOf" srcId="{128098D8-A953-4707-81AE-FF033F8D15B3}" destId="{14ED7209-9D00-43B8-A6CB-83EA74787987}" srcOrd="0" destOrd="0" presId="urn:microsoft.com/office/officeart/2005/8/layout/vList3"/>
    <dgm:cxn modelId="{93D5BC76-ED87-40F7-9882-76481E2EC6EB}" type="presParOf" srcId="{128098D8-A953-4707-81AE-FF033F8D15B3}" destId="{D0D337E9-E134-49B9-A1AA-A4596AD3FF7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F00A1-EE72-42B3-83AB-E79273A07BC4}">
      <dsp:nvSpPr>
        <dsp:cNvPr id="0" name=""/>
        <dsp:cNvSpPr/>
      </dsp:nvSpPr>
      <dsp:spPr>
        <a:xfrm rot="10800000">
          <a:off x="2094270" y="0"/>
          <a:ext cx="7204668" cy="1328943"/>
        </a:xfrm>
        <a:prstGeom prst="homePlate">
          <a:avLst/>
        </a:prstGeom>
        <a:solidFill>
          <a:schemeClr val="lt1"/>
        </a:solidFill>
        <a:ln w="38100" cap="flat" cmpd="sng" algn="ctr">
          <a:solidFill>
            <a:srgbClr val="2196F3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3115" tIns="72390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solidFill>
                <a:srgbClr val="4D4D4D"/>
              </a:solidFill>
            </a:rPr>
            <a:t>Programming </a:t>
          </a:r>
          <a:r>
            <a:rPr lang="en-US" sz="1900" kern="1200" dirty="0" smtClean="0">
              <a:solidFill>
                <a:srgbClr val="4D4D4D"/>
              </a:solidFill>
            </a:rPr>
            <a:t>Basics</a:t>
          </a:r>
          <a:endParaRPr lang="en-US" sz="1900" kern="1200" dirty="0">
            <a:solidFill>
              <a:srgbClr val="4D4D4D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0" kern="1200" dirty="0" smtClean="0">
              <a:solidFill>
                <a:srgbClr val="4D4D4D"/>
              </a:solidFill>
            </a:rPr>
            <a:t>Familiarity with </a:t>
          </a:r>
          <a:r>
            <a:rPr lang="en-US" sz="1500" b="1" kern="1200" dirty="0" smtClean="0">
              <a:solidFill>
                <a:srgbClr val="4D4D4D"/>
              </a:solidFill>
            </a:rPr>
            <a:t>Python</a:t>
          </a:r>
          <a:r>
            <a:rPr lang="en-US" sz="1500" b="0" kern="1200" dirty="0" smtClean="0">
              <a:solidFill>
                <a:srgbClr val="4D4D4D"/>
              </a:solidFill>
            </a:rPr>
            <a:t> is required</a:t>
          </a:r>
          <a:endParaRPr lang="en-US" sz="1500" b="0" kern="1200" dirty="0">
            <a:solidFill>
              <a:srgbClr val="4D4D4D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>
              <a:solidFill>
                <a:srgbClr val="4D4D4D"/>
              </a:solidFill>
            </a:rPr>
            <a:t>Software development experience is a plus</a:t>
          </a:r>
          <a:endParaRPr lang="en-US" sz="1500" kern="1200" dirty="0">
            <a:solidFill>
              <a:srgbClr val="4D4D4D"/>
            </a:solidFill>
          </a:endParaRPr>
        </a:p>
      </dsp:txBody>
      <dsp:txXfrm rot="10800000">
        <a:off x="2426506" y="0"/>
        <a:ext cx="6872432" cy="1328943"/>
      </dsp:txXfrm>
    </dsp:sp>
    <dsp:sp modelId="{23FA96D9-BE65-44FB-80CE-C567EDFA8B50}">
      <dsp:nvSpPr>
        <dsp:cNvPr id="0" name=""/>
        <dsp:cNvSpPr/>
      </dsp:nvSpPr>
      <dsp:spPr>
        <a:xfrm>
          <a:off x="1535148" y="69688"/>
          <a:ext cx="1118243" cy="111824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825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84A7CBD-1B44-45AF-ADE4-BFA4E8EF863F}">
      <dsp:nvSpPr>
        <dsp:cNvPr id="0" name=""/>
        <dsp:cNvSpPr/>
      </dsp:nvSpPr>
      <dsp:spPr>
        <a:xfrm rot="10800000">
          <a:off x="2094270" y="1664245"/>
          <a:ext cx="7204668" cy="1118243"/>
        </a:xfrm>
        <a:prstGeom prst="homePlate">
          <a:avLst/>
        </a:prstGeom>
        <a:solidFill>
          <a:schemeClr val="lt1"/>
        </a:solidFill>
        <a:ln w="38100" cap="flat" cmpd="sng" algn="ctr">
          <a:solidFill>
            <a:srgbClr val="2196F3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3115" tIns="72390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solidFill>
                <a:srgbClr val="4D4D4D"/>
              </a:solidFill>
            </a:rPr>
            <a:t>Maths and Machine Learning</a:t>
          </a:r>
          <a:endParaRPr lang="en-US" sz="1900" kern="1200" dirty="0">
            <a:solidFill>
              <a:srgbClr val="4D4D4D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>
              <a:solidFill>
                <a:srgbClr val="4D4D4D"/>
              </a:solidFill>
            </a:rPr>
            <a:t>Some algebra, calculus and statistics</a:t>
          </a:r>
          <a:endParaRPr lang="en-US" sz="1500" kern="1200" dirty="0">
            <a:solidFill>
              <a:srgbClr val="4D4D4D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>
              <a:solidFill>
                <a:srgbClr val="4D4D4D"/>
              </a:solidFill>
            </a:rPr>
            <a:t>Knowing the foundations of </a:t>
          </a:r>
          <a:r>
            <a:rPr lang="en-US" sz="1500" b="1" kern="1200" dirty="0" smtClean="0">
              <a:solidFill>
                <a:srgbClr val="4D4D4D"/>
              </a:solidFill>
            </a:rPr>
            <a:t>machine learning</a:t>
          </a:r>
          <a:r>
            <a:rPr lang="en-US" sz="1500" kern="1200" dirty="0" smtClean="0">
              <a:solidFill>
                <a:srgbClr val="4D4D4D"/>
              </a:solidFill>
            </a:rPr>
            <a:t> is required</a:t>
          </a:r>
          <a:endParaRPr lang="en-US" sz="1500" kern="1200" dirty="0">
            <a:solidFill>
              <a:srgbClr val="4D4D4D"/>
            </a:solidFill>
          </a:endParaRPr>
        </a:p>
      </dsp:txBody>
      <dsp:txXfrm rot="10800000">
        <a:off x="2373831" y="1664245"/>
        <a:ext cx="6925107" cy="1118243"/>
      </dsp:txXfrm>
    </dsp:sp>
    <dsp:sp modelId="{DB7A3E09-D78A-4E9F-A789-BCEF8D7E3FDA}">
      <dsp:nvSpPr>
        <dsp:cNvPr id="0" name=""/>
        <dsp:cNvSpPr/>
      </dsp:nvSpPr>
      <dsp:spPr>
        <a:xfrm>
          <a:off x="1535148" y="1664245"/>
          <a:ext cx="1118243" cy="111824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825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FAFB281-DF08-40ED-B438-ADB58D9A3182}">
      <dsp:nvSpPr>
        <dsp:cNvPr id="0" name=""/>
        <dsp:cNvSpPr/>
      </dsp:nvSpPr>
      <dsp:spPr>
        <a:xfrm rot="10800000">
          <a:off x="2094270" y="3116293"/>
          <a:ext cx="7204668" cy="1118243"/>
        </a:xfrm>
        <a:prstGeom prst="homePlate">
          <a:avLst/>
        </a:prstGeom>
        <a:solidFill>
          <a:schemeClr val="lt1"/>
        </a:solidFill>
        <a:ln w="38100" cap="flat" cmpd="sng" algn="ctr">
          <a:solidFill>
            <a:srgbClr val="2196F3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3115" tIns="72390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solidFill>
                <a:srgbClr val="4D4D4D"/>
              </a:solidFill>
            </a:rPr>
            <a:t>Intermediate English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>
              <a:solidFill>
                <a:srgbClr val="4D4D4D"/>
              </a:solidFill>
            </a:rPr>
            <a:t>Understand what is written on the slides</a:t>
          </a:r>
        </a:p>
      </dsp:txBody>
      <dsp:txXfrm rot="10800000">
        <a:off x="2373831" y="3116293"/>
        <a:ext cx="6925107" cy="1118243"/>
      </dsp:txXfrm>
    </dsp:sp>
    <dsp:sp modelId="{8E6A3A15-6A22-4741-8CCC-508A356F70D1}">
      <dsp:nvSpPr>
        <dsp:cNvPr id="0" name=""/>
        <dsp:cNvSpPr/>
      </dsp:nvSpPr>
      <dsp:spPr>
        <a:xfrm>
          <a:off x="1535148" y="3116293"/>
          <a:ext cx="1118243" cy="111824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825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0D337E9-E134-49B9-A1AA-A4596AD3FF7C}">
      <dsp:nvSpPr>
        <dsp:cNvPr id="0" name=""/>
        <dsp:cNvSpPr/>
      </dsp:nvSpPr>
      <dsp:spPr>
        <a:xfrm rot="10800000">
          <a:off x="2094270" y="4568341"/>
          <a:ext cx="7204668" cy="1118243"/>
        </a:xfrm>
        <a:prstGeom prst="homePlate">
          <a:avLst/>
        </a:prstGeom>
        <a:solidFill>
          <a:schemeClr val="lt1"/>
        </a:solidFill>
        <a:ln w="38100" cap="flat" cmpd="sng" algn="ctr">
          <a:solidFill>
            <a:srgbClr val="2196F3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3115" tIns="72390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solidFill>
                <a:srgbClr val="4D4D4D"/>
              </a:solidFill>
            </a:rPr>
            <a:t>Scientific Mindset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0" kern="1200" dirty="0" smtClean="0">
              <a:solidFill>
                <a:srgbClr val="4D4D4D"/>
              </a:solidFill>
            </a:rPr>
            <a:t>Know how to work with data</a:t>
          </a:r>
          <a:endParaRPr lang="en-US" sz="1500" b="0" kern="1200" dirty="0">
            <a:solidFill>
              <a:srgbClr val="4D4D4D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>
              <a:solidFill>
                <a:srgbClr val="4D4D4D"/>
              </a:solidFill>
            </a:rPr>
            <a:t>Be open to (and not afraid of) challenges</a:t>
          </a:r>
        </a:p>
      </dsp:txBody>
      <dsp:txXfrm rot="10800000">
        <a:off x="2373831" y="4568341"/>
        <a:ext cx="6925107" cy="1118243"/>
      </dsp:txXfrm>
    </dsp:sp>
    <dsp:sp modelId="{14ED7209-9D00-43B8-A6CB-83EA74787987}">
      <dsp:nvSpPr>
        <dsp:cNvPr id="0" name=""/>
        <dsp:cNvSpPr/>
      </dsp:nvSpPr>
      <dsp:spPr>
        <a:xfrm>
          <a:off x="1535148" y="4568341"/>
          <a:ext cx="1118243" cy="1118243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 userDrawn="1"/>
        </p:nvGrpSpPr>
        <p:grpSpPr>
          <a:xfrm>
            <a:off x="3810" y="-7619"/>
            <a:ext cx="12191998" cy="6880134"/>
            <a:chOff x="3810" y="-1"/>
            <a:chExt cx="12191998" cy="6858001"/>
          </a:xfrm>
        </p:grpSpPr>
        <p:sp>
          <p:nvSpPr>
            <p:cNvPr id="109" name="Freeform 108"/>
            <p:cNvSpPr/>
            <p:nvPr userDrawn="1"/>
          </p:nvSpPr>
          <p:spPr>
            <a:xfrm>
              <a:off x="1803400" y="0"/>
              <a:ext cx="10392408" cy="6858000"/>
            </a:xfrm>
            <a:custGeom>
              <a:avLst/>
              <a:gdLst>
                <a:gd name="connsiteX0" fmla="*/ 0 w 10392408"/>
                <a:gd name="connsiteY0" fmla="*/ 0 h 6858000"/>
                <a:gd name="connsiteX1" fmla="*/ 6534783 w 10392408"/>
                <a:gd name="connsiteY1" fmla="*/ 0 h 6858000"/>
                <a:gd name="connsiteX2" fmla="*/ 6658608 w 10392408"/>
                <a:gd name="connsiteY2" fmla="*/ 0 h 6858000"/>
                <a:gd name="connsiteX3" fmla="*/ 9106533 w 10392408"/>
                <a:gd name="connsiteY3" fmla="*/ 0 h 6858000"/>
                <a:gd name="connsiteX4" fmla="*/ 10392408 w 10392408"/>
                <a:gd name="connsiteY4" fmla="*/ 6858000 h 6858000"/>
                <a:gd name="connsiteX5" fmla="*/ 6658608 w 10392408"/>
                <a:gd name="connsiteY5" fmla="*/ 6858000 h 6858000"/>
                <a:gd name="connsiteX6" fmla="*/ 5248908 w 10392408"/>
                <a:gd name="connsiteY6" fmla="*/ 6858000 h 6858000"/>
                <a:gd name="connsiteX7" fmla="*/ 0 w 1039240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92408" h="6858000">
                  <a:moveTo>
                    <a:pt x="0" y="0"/>
                  </a:moveTo>
                  <a:lnTo>
                    <a:pt x="6534783" y="0"/>
                  </a:lnTo>
                  <a:lnTo>
                    <a:pt x="6658608" y="0"/>
                  </a:lnTo>
                  <a:lnTo>
                    <a:pt x="9106533" y="0"/>
                  </a:lnTo>
                  <a:lnTo>
                    <a:pt x="10392408" y="6858000"/>
                  </a:lnTo>
                  <a:lnTo>
                    <a:pt x="6658608" y="6858000"/>
                  </a:lnTo>
                  <a:lnTo>
                    <a:pt x="524890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5" name="Freeform 104"/>
            <p:cNvSpPr/>
            <p:nvPr userDrawn="1"/>
          </p:nvSpPr>
          <p:spPr>
            <a:xfrm>
              <a:off x="1943102" y="-1"/>
              <a:ext cx="9842498" cy="6858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Freeform 89"/>
            <p:cNvSpPr/>
            <p:nvPr userDrawn="1"/>
          </p:nvSpPr>
          <p:spPr>
            <a:xfrm rot="10800000">
              <a:off x="3810" y="-1"/>
              <a:ext cx="1939290" cy="6858000"/>
            </a:xfrm>
            <a:custGeom>
              <a:avLst/>
              <a:gdLst>
                <a:gd name="connsiteX0" fmla="*/ 1939290 w 1939290"/>
                <a:gd name="connsiteY0" fmla="*/ 6858000 h 6858000"/>
                <a:gd name="connsiteX1" fmla="*/ 0 w 1939290"/>
                <a:gd name="connsiteY1" fmla="*/ 6858000 h 6858000"/>
                <a:gd name="connsiteX2" fmla="*/ 0 w 1939290"/>
                <a:gd name="connsiteY2" fmla="*/ 0 h 6858000"/>
                <a:gd name="connsiteX3" fmla="*/ 653415 w 193929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290" h="6858000">
                  <a:moveTo>
                    <a:pt x="193929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5341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8" name="Freeform 87"/>
            <p:cNvSpPr/>
            <p:nvPr userDrawn="1"/>
          </p:nvSpPr>
          <p:spPr>
            <a:xfrm rot="10800000">
              <a:off x="419100" y="-1"/>
              <a:ext cx="1524000" cy="6858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2960" y="137160"/>
            <a:ext cx="9688467" cy="1988820"/>
          </a:xfrm>
        </p:spPr>
        <p:txBody>
          <a:bodyPr anchor="b">
            <a:normAutofit/>
          </a:bodyPr>
          <a:lstStyle>
            <a:lvl1pPr algn="r">
              <a:defRPr sz="52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97280" y="2153510"/>
            <a:ext cx="9414147" cy="1390311"/>
          </a:xfrm>
        </p:spPr>
        <p:txBody>
          <a:bodyPr>
            <a:normAutofit/>
          </a:bodyPr>
          <a:lstStyle>
            <a:lvl1pPr marL="0" indent="0" algn="r">
              <a:buNone/>
              <a:defRPr sz="3200" b="0" i="0" strike="noStrike" baseline="0">
                <a:solidFill>
                  <a:srgbClr val="2196F3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Main topics</a:t>
            </a:r>
            <a:endParaRPr lang="bg-BG" dirty="0"/>
          </a:p>
        </p:txBody>
      </p:sp>
      <p:sp>
        <p:nvSpPr>
          <p:cNvPr id="113" name="Text Placeholder 112"/>
          <p:cNvSpPr>
            <a:spLocks noGrp="1"/>
          </p:cNvSpPr>
          <p:nvPr>
            <p:ph type="body" sz="quarter" idx="10" hasCustomPrompt="1"/>
          </p:nvPr>
        </p:nvSpPr>
        <p:spPr>
          <a:xfrm>
            <a:off x="1803399" y="5339499"/>
            <a:ext cx="4281486" cy="489744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4D4D4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 smtClean="0"/>
              <a:t>Name</a:t>
            </a:r>
            <a:endParaRPr lang="bg-BG" dirty="0"/>
          </a:p>
        </p:txBody>
      </p:sp>
      <p:sp>
        <p:nvSpPr>
          <p:cNvPr id="114" name="Text Placeholder 112"/>
          <p:cNvSpPr>
            <a:spLocks noGrp="1"/>
          </p:cNvSpPr>
          <p:nvPr>
            <p:ph type="body" sz="quarter" idx="11" hasCustomPrompt="1"/>
          </p:nvPr>
        </p:nvSpPr>
        <p:spPr>
          <a:xfrm>
            <a:off x="1803399" y="5829300"/>
            <a:ext cx="4281487" cy="3683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>
                    <a:lumMod val="65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bg-BG" dirty="0"/>
          </a:p>
        </p:txBody>
      </p:sp>
      <p:sp>
        <p:nvSpPr>
          <p:cNvPr id="115" name="Text Placeholder 112"/>
          <p:cNvSpPr>
            <a:spLocks noGrp="1"/>
          </p:cNvSpPr>
          <p:nvPr>
            <p:ph type="body" sz="quarter" idx="12" hasCustomPrompt="1"/>
          </p:nvPr>
        </p:nvSpPr>
        <p:spPr>
          <a:xfrm>
            <a:off x="1803398" y="6221072"/>
            <a:ext cx="4281487" cy="44642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2196F3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Email</a:t>
            </a:r>
            <a:endParaRPr lang="bg-BG" dirty="0"/>
          </a:p>
        </p:txBody>
      </p:sp>
      <p:sp>
        <p:nvSpPr>
          <p:cNvPr id="120" name="Picture Placeholder 119"/>
          <p:cNvSpPr>
            <a:spLocks noGrp="1"/>
          </p:cNvSpPr>
          <p:nvPr>
            <p:ph type="pic" sz="quarter" idx="13"/>
          </p:nvPr>
        </p:nvSpPr>
        <p:spPr>
          <a:xfrm>
            <a:off x="8055882" y="4202112"/>
            <a:ext cx="2466975" cy="2465388"/>
          </a:xfrm>
        </p:spPr>
        <p:txBody>
          <a:bodyPr/>
          <a:lstStyle>
            <a:lvl1pPr marL="0" indent="0">
              <a:buNone/>
              <a:defRPr>
                <a:latin typeface="+mn-lt"/>
                <a:cs typeface="Calibri" panose="020F0502020204030204" pitchFamily="34" charset="0"/>
              </a:defRPr>
            </a:lvl1pPr>
          </a:lstStyle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7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350" y="0"/>
            <a:ext cx="12192000" cy="6858000"/>
            <a:chOff x="-6350" y="0"/>
            <a:chExt cx="12192000" cy="6858000"/>
          </a:xfrm>
        </p:grpSpPr>
        <p:sp>
          <p:nvSpPr>
            <p:cNvPr id="13" name="Freeform 12"/>
            <p:cNvSpPr/>
            <p:nvPr userDrawn="1"/>
          </p:nvSpPr>
          <p:spPr>
            <a:xfrm>
              <a:off x="-635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8334375 w 12192000"/>
                <a:gd name="connsiteY1" fmla="*/ 0 h 6858000"/>
                <a:gd name="connsiteX2" fmla="*/ 8458200 w 12192000"/>
                <a:gd name="connsiteY2" fmla="*/ 0 h 6858000"/>
                <a:gd name="connsiteX3" fmla="*/ 10906125 w 12192000"/>
                <a:gd name="connsiteY3" fmla="*/ 0 h 6858000"/>
                <a:gd name="connsiteX4" fmla="*/ 12192000 w 12192000"/>
                <a:gd name="connsiteY4" fmla="*/ 6858000 h 6858000"/>
                <a:gd name="connsiteX5" fmla="*/ 8458200 w 12192000"/>
                <a:gd name="connsiteY5" fmla="*/ 6858000 h 6858000"/>
                <a:gd name="connsiteX6" fmla="*/ 70485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8334375" y="0"/>
                  </a:lnTo>
                  <a:lnTo>
                    <a:pt x="8458200" y="0"/>
                  </a:lnTo>
                  <a:lnTo>
                    <a:pt x="10906125" y="0"/>
                  </a:lnTo>
                  <a:lnTo>
                    <a:pt x="12192000" y="6858000"/>
                  </a:lnTo>
                  <a:lnTo>
                    <a:pt x="8458200" y="6858000"/>
                  </a:lnTo>
                  <a:lnTo>
                    <a:pt x="7048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Freeform 8"/>
            <p:cNvSpPr/>
            <p:nvPr userDrawn="1"/>
          </p:nvSpPr>
          <p:spPr>
            <a:xfrm>
              <a:off x="0" y="0"/>
              <a:ext cx="11969750" cy="6858000"/>
            </a:xfrm>
            <a:custGeom>
              <a:avLst/>
              <a:gdLst>
                <a:gd name="connsiteX0" fmla="*/ 0 w 11969750"/>
                <a:gd name="connsiteY0" fmla="*/ 0 h 6858000"/>
                <a:gd name="connsiteX1" fmla="*/ 8112125 w 11969750"/>
                <a:gd name="connsiteY1" fmla="*/ 0 h 6858000"/>
                <a:gd name="connsiteX2" fmla="*/ 8235950 w 11969750"/>
                <a:gd name="connsiteY2" fmla="*/ 0 h 6858000"/>
                <a:gd name="connsiteX3" fmla="*/ 10683875 w 11969750"/>
                <a:gd name="connsiteY3" fmla="*/ 0 h 6858000"/>
                <a:gd name="connsiteX4" fmla="*/ 11969750 w 11969750"/>
                <a:gd name="connsiteY4" fmla="*/ 6858000 h 6858000"/>
                <a:gd name="connsiteX5" fmla="*/ 8235950 w 11969750"/>
                <a:gd name="connsiteY5" fmla="*/ 6858000 h 6858000"/>
                <a:gd name="connsiteX6" fmla="*/ 6826250 w 11969750"/>
                <a:gd name="connsiteY6" fmla="*/ 6858000 h 6858000"/>
                <a:gd name="connsiteX7" fmla="*/ 0 w 1196975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50" h="6858000">
                  <a:moveTo>
                    <a:pt x="0" y="0"/>
                  </a:moveTo>
                  <a:lnTo>
                    <a:pt x="8112125" y="0"/>
                  </a:lnTo>
                  <a:lnTo>
                    <a:pt x="8235950" y="0"/>
                  </a:lnTo>
                  <a:lnTo>
                    <a:pt x="10683875" y="0"/>
                  </a:lnTo>
                  <a:lnTo>
                    <a:pt x="11969750" y="6858000"/>
                  </a:lnTo>
                  <a:lnTo>
                    <a:pt x="8235950" y="6858000"/>
                  </a:lnTo>
                  <a:lnTo>
                    <a:pt x="682625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18212" y="0"/>
            <a:ext cx="11720942" cy="831273"/>
          </a:xfrm>
        </p:spPr>
        <p:txBody>
          <a:bodyPr>
            <a:normAutofit/>
          </a:bodyPr>
          <a:lstStyle>
            <a:lvl1pPr algn="l">
              <a:defRPr sz="4000" baseline="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Slide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52055"/>
            <a:ext cx="11720941" cy="586942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3000">
                <a:solidFill>
                  <a:srgbClr val="4D4D4D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600">
                <a:solidFill>
                  <a:srgbClr val="4D4D4D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2200">
                <a:solidFill>
                  <a:srgbClr val="4D4D4D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4D4D4D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443853" y="6424612"/>
            <a:ext cx="422564" cy="365125"/>
          </a:xfrm>
        </p:spPr>
        <p:txBody>
          <a:bodyPr/>
          <a:lstStyle/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27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572770" y="0"/>
            <a:ext cx="11619230" cy="6858000"/>
            <a:chOff x="572770" y="0"/>
            <a:chExt cx="11619230" cy="6858000"/>
          </a:xfrm>
        </p:grpSpPr>
        <p:sp>
          <p:nvSpPr>
            <p:cNvPr id="19" name="Freeform 18"/>
            <p:cNvSpPr/>
            <p:nvPr userDrawn="1"/>
          </p:nvSpPr>
          <p:spPr>
            <a:xfrm rot="10800000">
              <a:off x="572770" y="0"/>
              <a:ext cx="11619230" cy="6858000"/>
            </a:xfrm>
            <a:custGeom>
              <a:avLst/>
              <a:gdLst>
                <a:gd name="connsiteX0" fmla="*/ 11619230 w 11619230"/>
                <a:gd name="connsiteY0" fmla="*/ 6858000 h 6858000"/>
                <a:gd name="connsiteX1" fmla="*/ 7885430 w 11619230"/>
                <a:gd name="connsiteY1" fmla="*/ 6858000 h 6858000"/>
                <a:gd name="connsiteX2" fmla="*/ 6475730 w 11619230"/>
                <a:gd name="connsiteY2" fmla="*/ 6858000 h 6858000"/>
                <a:gd name="connsiteX3" fmla="*/ 0 w 11619230"/>
                <a:gd name="connsiteY3" fmla="*/ 6858000 h 6858000"/>
                <a:gd name="connsiteX4" fmla="*/ 0 w 11619230"/>
                <a:gd name="connsiteY4" fmla="*/ 0 h 6858000"/>
                <a:gd name="connsiteX5" fmla="*/ 7761605 w 11619230"/>
                <a:gd name="connsiteY5" fmla="*/ 0 h 6858000"/>
                <a:gd name="connsiteX6" fmla="*/ 7885430 w 11619230"/>
                <a:gd name="connsiteY6" fmla="*/ 0 h 6858000"/>
                <a:gd name="connsiteX7" fmla="*/ 10333355 w 1161923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9230" h="6858000">
                  <a:moveTo>
                    <a:pt x="11619230" y="6858000"/>
                  </a:moveTo>
                  <a:lnTo>
                    <a:pt x="7885430" y="6858000"/>
                  </a:lnTo>
                  <a:lnTo>
                    <a:pt x="647573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761605" y="0"/>
                  </a:lnTo>
                  <a:lnTo>
                    <a:pt x="7885430" y="0"/>
                  </a:lnTo>
                  <a:lnTo>
                    <a:pt x="1033335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Freeform 16"/>
            <p:cNvSpPr/>
            <p:nvPr userDrawn="1"/>
          </p:nvSpPr>
          <p:spPr>
            <a:xfrm rot="10800000">
              <a:off x="988060" y="0"/>
              <a:ext cx="11203940" cy="6858000"/>
            </a:xfrm>
            <a:custGeom>
              <a:avLst/>
              <a:gdLst>
                <a:gd name="connsiteX0" fmla="*/ 11203940 w 11203940"/>
                <a:gd name="connsiteY0" fmla="*/ 6858000 h 6858000"/>
                <a:gd name="connsiteX1" fmla="*/ 7470140 w 11203940"/>
                <a:gd name="connsiteY1" fmla="*/ 6858000 h 6858000"/>
                <a:gd name="connsiteX2" fmla="*/ 6060440 w 11203940"/>
                <a:gd name="connsiteY2" fmla="*/ 6858000 h 6858000"/>
                <a:gd name="connsiteX3" fmla="*/ 0 w 11203940"/>
                <a:gd name="connsiteY3" fmla="*/ 6858000 h 6858000"/>
                <a:gd name="connsiteX4" fmla="*/ 0 w 11203940"/>
                <a:gd name="connsiteY4" fmla="*/ 0 h 6858000"/>
                <a:gd name="connsiteX5" fmla="*/ 7346315 w 11203940"/>
                <a:gd name="connsiteY5" fmla="*/ 0 h 6858000"/>
                <a:gd name="connsiteX6" fmla="*/ 7470140 w 11203940"/>
                <a:gd name="connsiteY6" fmla="*/ 0 h 6858000"/>
                <a:gd name="connsiteX7" fmla="*/ 9918065 w 1120394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3940" h="6858000">
                  <a:moveTo>
                    <a:pt x="11203940" y="6858000"/>
                  </a:moveTo>
                  <a:lnTo>
                    <a:pt x="7470140" y="6858000"/>
                  </a:lnTo>
                  <a:lnTo>
                    <a:pt x="606044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346315" y="0"/>
                  </a:lnTo>
                  <a:lnTo>
                    <a:pt x="7470140" y="0"/>
                  </a:lnTo>
                  <a:lnTo>
                    <a:pt x="99180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930400" y="1709738"/>
            <a:ext cx="9906000" cy="2852737"/>
          </a:xfrm>
        </p:spPr>
        <p:txBody>
          <a:bodyPr anchor="b"/>
          <a:lstStyle>
            <a:lvl1pPr>
              <a:defRPr sz="60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Section Title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324100" y="4589463"/>
            <a:ext cx="9512300" cy="1500187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D4D4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401070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1" y="3812"/>
            <a:ext cx="12195811" cy="6854190"/>
            <a:chOff x="-1" y="3812"/>
            <a:chExt cx="12195811" cy="6854190"/>
          </a:xfrm>
        </p:grpSpPr>
        <p:sp>
          <p:nvSpPr>
            <p:cNvPr id="17" name="Freeform 16"/>
            <p:cNvSpPr/>
            <p:nvPr userDrawn="1"/>
          </p:nvSpPr>
          <p:spPr>
            <a:xfrm rot="16200000">
              <a:off x="3385185" y="-337756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6" name="Freeform 15"/>
            <p:cNvSpPr/>
            <p:nvPr userDrawn="1"/>
          </p:nvSpPr>
          <p:spPr>
            <a:xfrm rot="5400000">
              <a:off x="3381375" y="-195262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1" name="Freeform 10"/>
            <p:cNvSpPr/>
            <p:nvPr userDrawn="1"/>
          </p:nvSpPr>
          <p:spPr>
            <a:xfrm rot="5400000">
              <a:off x="3327799" y="-2236944"/>
              <a:ext cx="5536405" cy="12192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Freeform 12"/>
            <p:cNvSpPr/>
            <p:nvPr userDrawn="1"/>
          </p:nvSpPr>
          <p:spPr>
            <a:xfrm rot="16200000">
              <a:off x="5667377" y="-5433772"/>
              <a:ext cx="857250" cy="12192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" name="TextBox 2"/>
          <p:cNvSpPr txBox="1"/>
          <p:nvPr userDrawn="1"/>
        </p:nvSpPr>
        <p:spPr>
          <a:xfrm rot="21411406">
            <a:off x="0" y="266319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rgbClr val="2196F3"/>
                </a:solidFill>
                <a:latin typeface="+mj-lt"/>
              </a:rPr>
              <a:t>Questions?</a:t>
            </a:r>
            <a:endParaRPr lang="bg-BG" sz="9600" dirty="0">
              <a:solidFill>
                <a:srgbClr val="2196F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90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26A4-A17A-4698-BE1B-BA61FFEA96A2}" type="datetimeFigureOut">
              <a:rPr lang="bg-BG" smtClean="0"/>
              <a:t>5.12.2020 г.</a:t>
            </a:fld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6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96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ynjb7iv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groups/DeepLearningDecember2020/" TargetMode="External"/><Relationship Id="rId2" Type="http://schemas.openxmlformats.org/officeDocument/2006/relationships/hyperlink" Target="https://softuni.bg/trainings/2781/deep-learning-december-2020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x.org/" TargetMode="External"/><Relationship Id="rId13" Type="http://schemas.openxmlformats.org/officeDocument/2006/relationships/hyperlink" Target="https://research.fb.com/category/facebook-ai-research/" TargetMode="External"/><Relationship Id="rId18" Type="http://schemas.openxmlformats.org/officeDocument/2006/relationships/hyperlink" Target="https://www.youtube.com/channel/UCvjgXvBlbQiydffZU7m1_aw" TargetMode="External"/><Relationship Id="rId26" Type="http://schemas.openxmlformats.org/officeDocument/2006/relationships/hyperlink" Target="https://www.youtube.com/user/numberphile" TargetMode="External"/><Relationship Id="rId3" Type="http://schemas.openxmlformats.org/officeDocument/2006/relationships/hyperlink" Target="https://www.deeplearningbook.org/" TargetMode="External"/><Relationship Id="rId21" Type="http://schemas.openxmlformats.org/officeDocument/2006/relationships/hyperlink" Target="https://www.youtube.com/user/Vsauce" TargetMode="External"/><Relationship Id="rId7" Type="http://schemas.openxmlformats.org/officeDocument/2006/relationships/hyperlink" Target="https://www.coursera.org/" TargetMode="External"/><Relationship Id="rId12" Type="http://schemas.openxmlformats.org/officeDocument/2006/relationships/hyperlink" Target="https://ai.google/" TargetMode="External"/><Relationship Id="rId17" Type="http://schemas.openxmlformats.org/officeDocument/2006/relationships/hyperlink" Target="https://www.youtube.com/channel/UCO1cgjhGzsSYb1rsB4bFe4Q" TargetMode="External"/><Relationship Id="rId25" Type="http://schemas.openxmlformats.org/officeDocument/2006/relationships/hyperlink" Target="https://www.youtube.com/channel/UCs4aHmggTfFrpkPcWSaBN9g/videos" TargetMode="External"/><Relationship Id="rId2" Type="http://schemas.openxmlformats.org/officeDocument/2006/relationships/hyperlink" Target="https://www.amazon.com/How-Not-Be-Wrong-Mathematical/dp/0143127535" TargetMode="External"/><Relationship Id="rId16" Type="http://schemas.openxmlformats.org/officeDocument/2006/relationships/hyperlink" Target="https://machinelearning.apple.com/" TargetMode="External"/><Relationship Id="rId20" Type="http://schemas.openxmlformats.org/officeDocument/2006/relationships/hyperlink" Target="https://www.youtube.com/user/1veritasium" TargetMode="External"/><Relationship Id="rId29" Type="http://schemas.openxmlformats.org/officeDocument/2006/relationships/hyperlink" Target="https://www.youtube.com/channel/UCYO_jab_esuFRV4b17AJtA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exchange.com/" TargetMode="External"/><Relationship Id="rId11" Type="http://schemas.openxmlformats.org/officeDocument/2006/relationships/hyperlink" Target="https://www.microsoft.com/en-us/ai" TargetMode="External"/><Relationship Id="rId24" Type="http://schemas.openxmlformats.org/officeDocument/2006/relationships/hyperlink" Target="https://www.youtube.com/user/MindYourDecisions" TargetMode="External"/><Relationship Id="rId5" Type="http://schemas.openxmlformats.org/officeDocument/2006/relationships/hyperlink" Target="https://www.quora.com/" TargetMode="External"/><Relationship Id="rId15" Type="http://schemas.openxmlformats.org/officeDocument/2006/relationships/hyperlink" Target="https://www.research.ibm.com/artificial-intelligence/" TargetMode="External"/><Relationship Id="rId23" Type="http://schemas.openxmlformats.org/officeDocument/2006/relationships/hyperlink" Target="https://www.youtube.com/user/crashcourse" TargetMode="External"/><Relationship Id="rId28" Type="http://schemas.openxmlformats.org/officeDocument/2006/relationships/hyperlink" Target="https://www.youtube.com/user/Vihart" TargetMode="External"/><Relationship Id="rId10" Type="http://schemas.openxmlformats.org/officeDocument/2006/relationships/hyperlink" Target="http://oli.stanford.edu/" TargetMode="External"/><Relationship Id="rId19" Type="http://schemas.openxmlformats.org/officeDocument/2006/relationships/hyperlink" Target="https://www.youtube.com/user/AsapSCIENCE" TargetMode="External"/><Relationship Id="rId31" Type="http://schemas.openxmlformats.org/officeDocument/2006/relationships/hyperlink" Target="https://www.youtube.com/channel/UC1_uAIS3r8Vu6JjXWvastJg" TargetMode="External"/><Relationship Id="rId4" Type="http://schemas.openxmlformats.org/officeDocument/2006/relationships/hyperlink" Target="https://www.kaggle.com/" TargetMode="External"/><Relationship Id="rId9" Type="http://schemas.openxmlformats.org/officeDocument/2006/relationships/hyperlink" Target="https://ocw.mit.edu/index.htm" TargetMode="External"/><Relationship Id="rId14" Type="http://schemas.openxmlformats.org/officeDocument/2006/relationships/hyperlink" Target="https://aws.amazon.com/machine-learning/" TargetMode="External"/><Relationship Id="rId22" Type="http://schemas.openxmlformats.org/officeDocument/2006/relationships/hyperlink" Target="https://www.youtube.com/channel/UCsooa4yRKGN_zEE8iknghZA" TargetMode="External"/><Relationship Id="rId27" Type="http://schemas.openxmlformats.org/officeDocument/2006/relationships/hyperlink" Target="https://www.youtube.com/user/Computerphile" TargetMode="External"/><Relationship Id="rId30" Type="http://schemas.openxmlformats.org/officeDocument/2006/relationships/hyperlink" Target="https://www.youtube.com/user/blackpenredpen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Course Introduction</a:t>
            </a:r>
            <a:endParaRPr lang="bg-B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(and how) are we going to learn?</a:t>
            </a:r>
            <a:endParaRPr lang="bg-B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Yordan Darakchiev</a:t>
            </a:r>
            <a:endParaRPr lang="bg-BG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Technical Trainer</a:t>
            </a:r>
            <a:endParaRPr lang="bg-B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iordan93@gmail.com</a:t>
            </a:r>
            <a:endParaRPr lang="bg-BG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130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sli.do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#DeepLearning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9939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4D4D4D"/>
                </a:solidFill>
              </a:rPr>
              <a:t>Course objectives</a:t>
            </a:r>
          </a:p>
          <a:p>
            <a:r>
              <a:rPr lang="en-US" dirty="0" smtClean="0"/>
              <a:t>Prerequisites</a:t>
            </a:r>
          </a:p>
          <a:p>
            <a:r>
              <a:rPr lang="en-US" dirty="0" smtClean="0">
                <a:solidFill>
                  <a:srgbClr val="4D4D4D"/>
                </a:solidFill>
              </a:rPr>
              <a:t>Curriculum</a:t>
            </a:r>
          </a:p>
          <a:p>
            <a:r>
              <a:rPr lang="en-US" dirty="0" smtClean="0"/>
              <a:t>Course </a:t>
            </a:r>
            <a:r>
              <a:rPr lang="en-US" dirty="0" smtClean="0">
                <a:solidFill>
                  <a:srgbClr val="4D4D4D"/>
                </a:solidFill>
              </a:rPr>
              <a:t>schedule</a:t>
            </a:r>
          </a:p>
          <a:p>
            <a:r>
              <a:rPr lang="en-US" dirty="0" smtClean="0"/>
              <a:t>Trainer</a:t>
            </a:r>
          </a:p>
          <a:p>
            <a:r>
              <a:rPr lang="en-US" dirty="0" smtClean="0">
                <a:solidFill>
                  <a:srgbClr val="4D4D4D"/>
                </a:solidFill>
              </a:rPr>
              <a:t>Lecture format</a:t>
            </a:r>
          </a:p>
          <a:p>
            <a:r>
              <a:rPr lang="en-US" dirty="0" smtClean="0"/>
              <a:t>Final exam</a:t>
            </a:r>
          </a:p>
          <a:p>
            <a:r>
              <a:rPr lang="en-US" dirty="0" smtClean="0">
                <a:solidFill>
                  <a:srgbClr val="4D4D4D"/>
                </a:solidFill>
              </a:rPr>
              <a:t>Some learning resources</a:t>
            </a:r>
            <a:endParaRPr lang="bg-BG" dirty="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42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Course Objectives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Achieving state-of-the art results</a:t>
            </a:r>
            <a:br>
              <a:rPr lang="en-US" dirty="0" smtClean="0"/>
            </a:br>
            <a:r>
              <a:rPr lang="en-US" dirty="0" smtClean="0"/>
              <a:t>by learning like a human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9109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Objectives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 how neural networks are used in the real world</a:t>
            </a:r>
          </a:p>
          <a:p>
            <a:r>
              <a:rPr lang="en-US" dirty="0" smtClean="0"/>
              <a:t>Get insights on structuring a deep learning algorithm</a:t>
            </a:r>
          </a:p>
          <a:p>
            <a:pPr lvl="1"/>
            <a:r>
              <a:rPr lang="en-US" dirty="0" smtClean="0"/>
              <a:t>Architecture</a:t>
            </a:r>
          </a:p>
          <a:p>
            <a:pPr lvl="1"/>
            <a:r>
              <a:rPr lang="en-US" dirty="0" smtClean="0"/>
              <a:t>Hyperparameters</a:t>
            </a:r>
          </a:p>
          <a:p>
            <a:pPr lvl="1"/>
            <a:r>
              <a:rPr lang="en-US" dirty="0" smtClean="0"/>
              <a:t>Troubleshooting and debugging</a:t>
            </a:r>
          </a:p>
          <a:p>
            <a:r>
              <a:rPr lang="en-US" dirty="0" smtClean="0"/>
              <a:t>Learn how to manage a deep learning project</a:t>
            </a:r>
          </a:p>
          <a:p>
            <a:pPr lvl="1"/>
            <a:r>
              <a:rPr lang="en-US" dirty="0" smtClean="0"/>
              <a:t>E.g. utilizing big data, error analysis, project roadmap</a:t>
            </a:r>
          </a:p>
          <a:p>
            <a:r>
              <a:rPr lang="en-US" dirty="0" smtClean="0"/>
              <a:t>Learn various concepts related to deep learning tasks</a:t>
            </a:r>
          </a:p>
          <a:p>
            <a:pPr lvl="1"/>
            <a:r>
              <a:rPr lang="en-US" dirty="0" smtClean="0"/>
              <a:t>E.g. images, text, spatial data, audio, playing games, generation</a:t>
            </a:r>
          </a:p>
          <a:p>
            <a:r>
              <a:rPr lang="en-US" dirty="0" smtClean="0"/>
              <a:t>Explore and use popular architectures</a:t>
            </a:r>
          </a:p>
          <a:p>
            <a:r>
              <a:rPr lang="en-US" dirty="0" smtClean="0"/>
              <a:t>Do at least one </a:t>
            </a:r>
            <a:r>
              <a:rPr lang="en-US" dirty="0" smtClean="0">
                <a:solidFill>
                  <a:srgbClr val="2196F3"/>
                </a:solidFill>
              </a:rPr>
              <a:t>complete project</a:t>
            </a:r>
          </a:p>
        </p:txBody>
      </p:sp>
    </p:spTree>
    <p:extLst>
      <p:ext uri="{BB962C8B-B14F-4D97-AF65-F5344CB8AC3E}">
        <p14:creationId xmlns:p14="http://schemas.microsoft.com/office/powerpoint/2010/main" val="87959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1969750" cy="831273"/>
          </a:xfrm>
        </p:spPr>
        <p:txBody>
          <a:bodyPr/>
          <a:lstStyle/>
          <a:p>
            <a:r>
              <a:rPr lang="en-US" dirty="0"/>
              <a:t>Prerequisites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6</a:t>
            </a:fld>
            <a:endParaRPr lang="bg-BG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991339084"/>
              </p:ext>
            </p:extLst>
          </p:nvPr>
        </p:nvGraphicFramePr>
        <p:xfrm>
          <a:off x="138713" y="881919"/>
          <a:ext cx="10834088" cy="5688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688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FA96D9-BE65-44FB-80CE-C567EDFA8B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4F00A1-EE72-42B3-83AB-E79273A07B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7A3E09-D78A-4E9F-A789-BCEF8D7E3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4A7CBD-1B44-45AF-ADE4-BFA4E8EF86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E6A3A15-6A22-4741-8CCC-508A356F70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AFB281-DF08-40ED-B438-ADB58D9A31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ED7209-9D00-43B8-A6CB-83EA747879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D337E9-E134-49B9-A1AA-A4596AD3FF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Course Format Details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Curriculum, schedule, trainer, </a:t>
            </a:r>
            <a:br>
              <a:rPr lang="en-US" dirty="0" smtClean="0"/>
            </a:br>
            <a:r>
              <a:rPr lang="en-US" dirty="0" smtClean="0"/>
              <a:t>lecture format, exam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1501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Curriculum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deep learning. Basic models</a:t>
            </a:r>
          </a:p>
          <a:p>
            <a:r>
              <a:rPr lang="en-US" dirty="0" smtClean="0"/>
              <a:t>Training and improving neural networks</a:t>
            </a:r>
          </a:p>
          <a:p>
            <a:r>
              <a:rPr lang="en-US" dirty="0" smtClean="0"/>
              <a:t>Image-related neural networks</a:t>
            </a:r>
          </a:p>
          <a:p>
            <a:r>
              <a:rPr lang="en-US" dirty="0" smtClean="0"/>
              <a:t>Natural language processing</a:t>
            </a:r>
          </a:p>
          <a:p>
            <a:r>
              <a:rPr lang="en-US" dirty="0" smtClean="0"/>
              <a:t>Neural network architectures</a:t>
            </a:r>
          </a:p>
          <a:p>
            <a:r>
              <a:rPr lang="en-US" dirty="0" smtClean="0"/>
              <a:t>Generative models</a:t>
            </a:r>
          </a:p>
          <a:p>
            <a:r>
              <a:rPr lang="en-US" dirty="0" smtClean="0"/>
              <a:t>Reinforcement learning</a:t>
            </a:r>
          </a:p>
          <a:p>
            <a:r>
              <a:rPr lang="en-US" dirty="0"/>
              <a:t>Exam preparation: end-to-end </a:t>
            </a:r>
            <a:r>
              <a:rPr lang="en-US" dirty="0" smtClean="0"/>
              <a:t>project</a:t>
            </a:r>
          </a:p>
          <a:p>
            <a:r>
              <a:rPr lang="en-US" dirty="0" smtClean="0"/>
              <a:t>Course / module summary: Q &amp; A</a:t>
            </a:r>
          </a:p>
        </p:txBody>
      </p:sp>
    </p:spTree>
    <p:extLst>
      <p:ext uri="{BB962C8B-B14F-4D97-AF65-F5344CB8AC3E}">
        <p14:creationId xmlns:p14="http://schemas.microsoft.com/office/powerpoint/2010/main" val="306256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Schedule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Lessons</a:t>
            </a:r>
          </a:p>
          <a:p>
            <a:pPr lvl="1"/>
            <a:r>
              <a:rPr lang="en-US" dirty="0" smtClean="0"/>
              <a:t>9 lectures x ~ 3 hours each on-site</a:t>
            </a:r>
          </a:p>
          <a:p>
            <a:r>
              <a:rPr lang="en-US" dirty="0" smtClean="0"/>
              <a:t>Homework: 0+ hours</a:t>
            </a:r>
          </a:p>
          <a:p>
            <a:pPr lvl="1"/>
            <a:r>
              <a:rPr lang="en-US" dirty="0" smtClean="0"/>
              <a:t>You're on your own!</a:t>
            </a:r>
          </a:p>
          <a:p>
            <a:pPr lvl="1"/>
            <a:r>
              <a:rPr lang="en-US" dirty="0" smtClean="0"/>
              <a:t>Try reading papers </a:t>
            </a:r>
          </a:p>
          <a:p>
            <a:pPr lvl="2"/>
            <a:r>
              <a:rPr lang="en-US" dirty="0" smtClean="0"/>
              <a:t>Even scientific articles</a:t>
            </a:r>
          </a:p>
          <a:p>
            <a:pPr lvl="1"/>
            <a:r>
              <a:rPr lang="en-US" dirty="0" smtClean="0"/>
              <a:t>Try out different possibilities</a:t>
            </a:r>
          </a:p>
          <a:p>
            <a:pPr lvl="2"/>
            <a:r>
              <a:rPr lang="en-US" dirty="0" smtClean="0"/>
              <a:t>Architectures, models, model compositions, loss functions, etc.</a:t>
            </a:r>
          </a:p>
          <a:p>
            <a:r>
              <a:rPr lang="en-US" dirty="0" smtClean="0"/>
              <a:t>Extracurricular activities: 0+ hours</a:t>
            </a:r>
          </a:p>
          <a:p>
            <a:r>
              <a:rPr lang="en-US" dirty="0" smtClean="0"/>
              <a:t>Practical exam</a:t>
            </a:r>
          </a:p>
          <a:p>
            <a:pPr lvl="1"/>
            <a:r>
              <a:rPr lang="en-US" dirty="0" smtClean="0"/>
              <a:t>Preparation at home – 10+ hours</a:t>
            </a:r>
          </a:p>
          <a:p>
            <a:pPr lvl="1"/>
            <a:r>
              <a:rPr lang="en-US" dirty="0" smtClean="0"/>
              <a:t>On-site defense: 10-15 minutes</a:t>
            </a:r>
          </a:p>
        </p:txBody>
      </p:sp>
    </p:spTree>
    <p:extLst>
      <p:ext uri="{BB962C8B-B14F-4D97-AF65-F5344CB8AC3E}">
        <p14:creationId xmlns:p14="http://schemas.microsoft.com/office/powerpoint/2010/main" val="88297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Exam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Quiz (theoretical exam)</a:t>
            </a:r>
          </a:p>
          <a:p>
            <a:pPr lvl="1"/>
            <a:r>
              <a:rPr lang="en-US" dirty="0"/>
              <a:t>10 questions for 30 </a:t>
            </a:r>
            <a:r>
              <a:rPr lang="en-US" dirty="0" smtClean="0"/>
              <a:t>minutes</a:t>
            </a:r>
          </a:p>
          <a:p>
            <a:r>
              <a:rPr lang="en-US" dirty="0" smtClean="0"/>
              <a:t>Practical project</a:t>
            </a:r>
          </a:p>
          <a:p>
            <a:pPr lvl="1"/>
            <a:r>
              <a:rPr lang="en-US" dirty="0" smtClean="0"/>
              <a:t>Work on your own</a:t>
            </a:r>
          </a:p>
          <a:p>
            <a:pPr lvl="2"/>
            <a:r>
              <a:rPr lang="en-US" dirty="0" smtClean="0"/>
              <a:t>No teams allowed</a:t>
            </a:r>
          </a:p>
          <a:p>
            <a:pPr lvl="1"/>
            <a:r>
              <a:rPr lang="en-US" dirty="0" smtClean="0"/>
              <a:t>Present your results (documentation, code, models,</a:t>
            </a:r>
            <a:br>
              <a:rPr lang="en-US" dirty="0" smtClean="0"/>
            </a:br>
            <a:r>
              <a:rPr lang="en-US" dirty="0" smtClean="0"/>
              <a:t>Web services, etc.) in a </a:t>
            </a:r>
            <a:r>
              <a:rPr lang="en-US" dirty="0" smtClean="0">
                <a:solidFill>
                  <a:srgbClr val="2196F3"/>
                </a:solidFill>
              </a:rPr>
              <a:t>limited </a:t>
            </a:r>
            <a:r>
              <a:rPr lang="en-US" dirty="0" smtClean="0"/>
              <a:t>amount of time</a:t>
            </a:r>
          </a:p>
          <a:p>
            <a:r>
              <a:rPr lang="en-US" dirty="0" smtClean="0"/>
              <a:t>Work on a given assignment</a:t>
            </a:r>
          </a:p>
          <a:p>
            <a:pPr lvl="1"/>
            <a:r>
              <a:rPr lang="en-US" dirty="0" smtClean="0"/>
              <a:t>Perform research</a:t>
            </a:r>
          </a:p>
          <a:p>
            <a:pPr lvl="2"/>
            <a:r>
              <a:rPr lang="en-US" dirty="0"/>
              <a:t>S</a:t>
            </a:r>
            <a:r>
              <a:rPr lang="en-US" dirty="0" smtClean="0"/>
              <a:t>cientific papers, community forums, etc.</a:t>
            </a:r>
          </a:p>
          <a:p>
            <a:pPr lvl="1"/>
            <a:r>
              <a:rPr lang="en-US" dirty="0" smtClean="0"/>
              <a:t>Analyze the data</a:t>
            </a:r>
          </a:p>
          <a:p>
            <a:pPr lvl="1"/>
            <a:r>
              <a:rPr lang="en-US" dirty="0" smtClean="0"/>
              <a:t>Choose or create an architecture</a:t>
            </a:r>
            <a:endParaRPr lang="en-US" dirty="0"/>
          </a:p>
          <a:p>
            <a:pPr lvl="2"/>
            <a:r>
              <a:rPr lang="en-US" dirty="0" smtClean="0"/>
              <a:t>Perform several iterations of modelling</a:t>
            </a:r>
          </a:p>
          <a:p>
            <a:pPr lvl="2"/>
            <a:r>
              <a:rPr lang="en-US" dirty="0" smtClean="0"/>
              <a:t>Document all your findings</a:t>
            </a:r>
          </a:p>
          <a:p>
            <a:pPr lvl="1"/>
            <a:r>
              <a:rPr lang="en-US" dirty="0" smtClean="0"/>
              <a:t>Communicate the results</a:t>
            </a:r>
          </a:p>
          <a:p>
            <a:pPr lvl="1"/>
            <a:r>
              <a:rPr lang="en-US" dirty="0" smtClean="0"/>
              <a:t>Optionally… do whatever you like :D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8689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Scheme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Quiz: 20%</a:t>
            </a:r>
          </a:p>
          <a:p>
            <a:r>
              <a:rPr lang="en-US" dirty="0" smtClean="0"/>
              <a:t>Final exam: 80%</a:t>
            </a:r>
          </a:p>
          <a:p>
            <a:pPr lvl="1"/>
            <a:r>
              <a:rPr lang="en-US" dirty="0" smtClean="0"/>
              <a:t>Develop at your own pace</a:t>
            </a:r>
          </a:p>
          <a:p>
            <a:pPr lvl="1"/>
            <a:r>
              <a:rPr lang="en-US" dirty="0" smtClean="0"/>
              <a:t>Upload deadline: 19 February 2021, 12:00:00 GMT+2</a:t>
            </a:r>
          </a:p>
          <a:p>
            <a:pPr lvl="1"/>
            <a:r>
              <a:rPr lang="en-US" dirty="0" smtClean="0"/>
              <a:t>On-site defense: 21 February 2021, 09:00:00 GMT+2</a:t>
            </a:r>
            <a:endParaRPr lang="en-US" dirty="0"/>
          </a:p>
          <a:p>
            <a:pPr lvl="1"/>
            <a:r>
              <a:rPr lang="en-US" dirty="0" smtClean="0"/>
              <a:t>Retake: 28 February 2021, 09:00:00 GMT+2</a:t>
            </a:r>
          </a:p>
          <a:p>
            <a:r>
              <a:rPr lang="en-US" dirty="0" smtClean="0"/>
              <a:t>Forum / Facebook group activity</a:t>
            </a:r>
          </a:p>
          <a:p>
            <a:pPr lvl="1"/>
            <a:r>
              <a:rPr lang="en-US" dirty="0" smtClean="0"/>
              <a:t>Bonus up to 20%</a:t>
            </a:r>
          </a:p>
        </p:txBody>
      </p:sp>
    </p:spTree>
    <p:extLst>
      <p:ext uri="{BB962C8B-B14F-4D97-AF65-F5344CB8AC3E}">
        <p14:creationId xmlns:p14="http://schemas.microsoft.com/office/powerpoint/2010/main" val="355086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and Course Certificates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All students will be graded on a scale from 2,00 to 6,00</a:t>
                </a:r>
              </a:p>
              <a:p>
                <a:pPr lvl="1"/>
                <a:r>
                  <a:rPr lang="en-US" dirty="0" smtClean="0"/>
                  <a:t>The same way the standard grading in Bulgaria works</a:t>
                </a:r>
              </a:p>
              <a:p>
                <a:r>
                  <a:rPr lang="en-US" dirty="0" smtClean="0"/>
                  <a:t>Everyone who scores ≥ 5,00 (total) on the course</a:t>
                </a:r>
                <a:br>
                  <a:rPr lang="en-US" dirty="0" smtClean="0"/>
                </a:br>
                <a:r>
                  <a:rPr lang="en-US" dirty="0" smtClean="0"/>
                  <a:t>will get a 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certificate</a:t>
                </a:r>
                <a:r>
                  <a:rPr lang="en-US" dirty="0" smtClean="0"/>
                  <a:t> from SoftUni</a:t>
                </a:r>
              </a:p>
              <a:p>
                <a:pPr lvl="1"/>
                <a:r>
                  <a:rPr lang="en-US" dirty="0" smtClean="0"/>
                  <a:t>Starting point for a </a:t>
                </a:r>
                <a:r>
                  <a:rPr lang="en-US" b="1" dirty="0" smtClean="0"/>
                  <a:t>new career </a:t>
                </a:r>
                <a:br>
                  <a:rPr lang="en-US" b="1" dirty="0" smtClean="0"/>
                </a:br>
                <a:r>
                  <a:rPr lang="en-US" dirty="0" smtClean="0"/>
                  <a:t>or </a:t>
                </a:r>
                <a:r>
                  <a:rPr lang="en-US" b="1" dirty="0" smtClean="0"/>
                  <a:t>continuing education</a:t>
                </a:r>
                <a:r>
                  <a:rPr lang="en-US" dirty="0" smtClean="0"/>
                  <a:t> in your current field</a:t>
                </a:r>
              </a:p>
              <a:p>
                <a:pPr lvl="1"/>
                <a:r>
                  <a:rPr lang="en-US" b="1" dirty="0">
                    <a:solidFill>
                      <a:srgbClr val="2196F3"/>
                    </a:solidFill>
                  </a:rPr>
                  <a:t>Career assistance</a:t>
                </a:r>
              </a:p>
              <a:p>
                <a:pPr lvl="2"/>
                <a:r>
                  <a:rPr lang="en-US" dirty="0"/>
                  <a:t>The SoftUni career center will help you find </a:t>
                </a:r>
                <a:r>
                  <a:rPr lang="en-US" dirty="0" smtClean="0"/>
                  <a:t>work</a:t>
                </a:r>
                <a:endParaRPr lang="en-US" dirty="0"/>
              </a:p>
              <a:p>
                <a:pPr lvl="1"/>
                <a:r>
                  <a:rPr lang="en-US" dirty="0" smtClean="0"/>
                  <a:t>Official and recognizable</a:t>
                </a:r>
              </a:p>
              <a:p>
                <a:pPr lvl="2"/>
                <a:r>
                  <a:rPr lang="en-US" dirty="0"/>
                  <a:t>E</a:t>
                </a:r>
                <a:r>
                  <a:rPr lang="en-US" dirty="0" smtClean="0"/>
                  <a:t>mployers value certificates</a:t>
                </a:r>
              </a:p>
              <a:p>
                <a:pPr lvl="1"/>
                <a:r>
                  <a:rPr lang="en-US" dirty="0" smtClean="0"/>
                  <a:t>Proof of hard work :)</a:t>
                </a:r>
              </a:p>
              <a:p>
                <a:pPr lvl="2"/>
                <a:r>
                  <a:rPr lang="en-US" dirty="0" smtClean="0"/>
                  <a:t>Shareable and verifiable</a:t>
                </a:r>
              </a:p>
              <a:p>
                <a:r>
                  <a:rPr lang="en-US" dirty="0" smtClean="0"/>
                  <a:t>Everyone who scores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 smtClean="0"/>
                  <a:t> 3,00 (total;</a:t>
                </a:r>
                <a:br>
                  <a:rPr lang="en-US" dirty="0" smtClean="0"/>
                </a:br>
                <a:r>
                  <a:rPr lang="en-US" dirty="0" smtClean="0"/>
                  <a:t>theory + practice) can get a MoES certificate</a:t>
                </a:r>
                <a:br>
                  <a:rPr lang="en-US" dirty="0" smtClean="0"/>
                </a:br>
                <a:r>
                  <a:rPr lang="en-US" dirty="0" smtClean="0"/>
                  <a:t>as well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804" b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234" y="2269375"/>
            <a:ext cx="1737869" cy="24649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488" y="4734312"/>
            <a:ext cx="2428181" cy="196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0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" y="1517807"/>
            <a:ext cx="7506391" cy="5024309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63533" y="1771713"/>
            <a:ext cx="6916189" cy="475985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Programmer</a:t>
            </a:r>
            <a:endParaRPr lang="en-US" sz="2800" dirty="0"/>
          </a:p>
          <a:p>
            <a:pPr lvl="1"/>
            <a:r>
              <a:rPr lang="en-US" sz="2400" dirty="0"/>
              <a:t>.NET </a:t>
            </a:r>
            <a:r>
              <a:rPr lang="en-US" sz="2400" dirty="0" smtClean="0"/>
              <a:t>/ full-stack Web developer</a:t>
            </a:r>
          </a:p>
          <a:p>
            <a:r>
              <a:rPr lang="en-US" sz="2800" dirty="0" smtClean="0"/>
              <a:t>Machine learning engineer</a:t>
            </a:r>
          </a:p>
          <a:p>
            <a:pPr lvl="1"/>
            <a:r>
              <a:rPr lang="en-US" sz="2400" dirty="0" smtClean="0"/>
              <a:t>Multiple projects, mainly image processing</a:t>
            </a:r>
            <a:endParaRPr lang="en-US" sz="2400" dirty="0"/>
          </a:p>
          <a:p>
            <a:r>
              <a:rPr lang="en-US" sz="2800" dirty="0" smtClean="0"/>
              <a:t>Trainer</a:t>
            </a:r>
            <a:endParaRPr lang="en-US" sz="2800" dirty="0"/>
          </a:p>
          <a:p>
            <a:pPr lvl="1"/>
            <a:r>
              <a:rPr lang="en-US" sz="2400" dirty="0"/>
              <a:t>Various programming courses </a:t>
            </a:r>
          </a:p>
          <a:p>
            <a:pPr lvl="1"/>
            <a:r>
              <a:rPr lang="en-US" sz="2400" dirty="0" smtClean="0"/>
              <a:t>Scientific </a:t>
            </a:r>
            <a:r>
              <a:rPr lang="en-US" sz="2400" dirty="0"/>
              <a:t>(and popular) lectures</a:t>
            </a:r>
          </a:p>
          <a:p>
            <a:r>
              <a:rPr lang="en-US" sz="2800" dirty="0"/>
              <a:t>Scientist / Enthusiast</a:t>
            </a:r>
          </a:p>
          <a:p>
            <a:pPr lvl="1"/>
            <a:r>
              <a:rPr lang="en-US" sz="2400" dirty="0" smtClean="0"/>
              <a:t>BSc (July </a:t>
            </a:r>
            <a:r>
              <a:rPr lang="en-US" sz="2400" dirty="0"/>
              <a:t>2016</a:t>
            </a:r>
            <a:r>
              <a:rPr lang="en-US" sz="2400" dirty="0" smtClean="0"/>
              <a:t>), MSc </a:t>
            </a:r>
            <a:r>
              <a:rPr lang="en-US" sz="2400" dirty="0"/>
              <a:t>(February </a:t>
            </a:r>
            <a:r>
              <a:rPr lang="en-US" sz="2400" dirty="0" smtClean="0"/>
              <a:t>2018)</a:t>
            </a:r>
            <a:br>
              <a:rPr lang="en-US" sz="2400" dirty="0" smtClean="0"/>
            </a:br>
            <a:r>
              <a:rPr lang="en-US" sz="2400" dirty="0" smtClean="0"/>
              <a:t>in Astrophysics</a:t>
            </a:r>
          </a:p>
          <a:p>
            <a:pPr lvl="1"/>
            <a:r>
              <a:rPr lang="en-US" sz="2400" dirty="0" smtClean="0"/>
              <a:t>Currently pursuing a PhD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56" y="65255"/>
            <a:ext cx="7955280" cy="13400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56" y="325636"/>
            <a:ext cx="855740" cy="636894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920" y="1462617"/>
            <a:ext cx="2269377" cy="5134688"/>
          </a:xfrm>
          <a:prstGeom prst="rect">
            <a:avLst/>
          </a:prstGeom>
        </p:spPr>
      </p:pic>
      <p:sp>
        <p:nvSpPr>
          <p:cNvPr id="16" name="Content Placeholder 4"/>
          <p:cNvSpPr txBox="1">
            <a:spLocks/>
          </p:cNvSpPr>
          <p:nvPr/>
        </p:nvSpPr>
        <p:spPr>
          <a:xfrm>
            <a:off x="8693801" y="1876541"/>
            <a:ext cx="2162619" cy="4141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0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Machine</a:t>
            </a:r>
            <a:br>
              <a:rPr lang="en-US" sz="2400" dirty="0" smtClean="0"/>
            </a:br>
            <a:r>
              <a:rPr lang="en-US" sz="2400" dirty="0" smtClean="0"/>
              <a:t>learning</a:t>
            </a:r>
          </a:p>
          <a:p>
            <a:r>
              <a:rPr lang="en-US" sz="2400" dirty="0" smtClean="0"/>
              <a:t>Research</a:t>
            </a:r>
          </a:p>
          <a:p>
            <a:r>
              <a:rPr lang="en-US" sz="2400" dirty="0" smtClean="0"/>
              <a:t>Teaching</a:t>
            </a:r>
          </a:p>
          <a:p>
            <a:r>
              <a:rPr lang="en-US" sz="2400" dirty="0" smtClean="0"/>
              <a:t>Software</a:t>
            </a:r>
            <a:br>
              <a:rPr lang="en-US" sz="2400" dirty="0" smtClean="0"/>
            </a:br>
            <a:r>
              <a:rPr lang="en-US" sz="2400" dirty="0" smtClean="0"/>
              <a:t>engineering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Python</a:t>
            </a:r>
          </a:p>
          <a:p>
            <a:r>
              <a:rPr lang="en-US" sz="2400" dirty="0" smtClean="0"/>
              <a:t>C#</a:t>
            </a:r>
          </a:p>
          <a:p>
            <a:r>
              <a:rPr lang="en-US" sz="2400" dirty="0" smtClean="0"/>
              <a:t>JavaScript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941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Learning Resources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Learn more </a:t>
            </a:r>
            <a:br>
              <a:rPr lang="en-US" dirty="0" smtClean="0"/>
            </a:br>
            <a:r>
              <a:rPr lang="en-US" dirty="0" smtClean="0"/>
              <a:t>and share your knowledge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3223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SoftUni Course Pages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Official Web page of this course</a:t>
            </a:r>
          </a:p>
          <a:p>
            <a:pPr lvl="1"/>
            <a:r>
              <a:rPr lang="en-US" sz="2500" dirty="0">
                <a:hlinkClick r:id="rId2"/>
              </a:rPr>
              <a:t>https://</a:t>
            </a:r>
            <a:r>
              <a:rPr lang="en-US" sz="2500" dirty="0" smtClean="0">
                <a:hlinkClick r:id="rId2"/>
              </a:rPr>
              <a:t>softuni.bg/trainings/2781/deep-learning-december-2020</a:t>
            </a:r>
            <a:endParaRPr lang="en-US" sz="2500" dirty="0" smtClean="0"/>
          </a:p>
          <a:p>
            <a:r>
              <a:rPr lang="en-US" dirty="0" smtClean="0"/>
              <a:t>Forum category</a:t>
            </a:r>
          </a:p>
          <a:p>
            <a:pPr lvl="1"/>
            <a:r>
              <a:rPr lang="en-US" dirty="0" smtClean="0"/>
              <a:t>Open </a:t>
            </a:r>
            <a:r>
              <a:rPr lang="en-US" dirty="0" smtClean="0"/>
              <a:t>courses &gt; Deep Learning</a:t>
            </a:r>
          </a:p>
          <a:p>
            <a:pPr lvl="1"/>
            <a:r>
              <a:rPr lang="en-US" dirty="0" smtClean="0"/>
              <a:t>Ask and answer questions</a:t>
            </a:r>
          </a:p>
          <a:p>
            <a:pPr lvl="2"/>
            <a:r>
              <a:rPr lang="en-US" dirty="0" smtClean="0"/>
              <a:t>I will try to answer your questions as well</a:t>
            </a:r>
          </a:p>
          <a:p>
            <a:pPr lvl="1"/>
            <a:r>
              <a:rPr lang="en-US" dirty="0" smtClean="0"/>
              <a:t>Post what you've learned</a:t>
            </a:r>
          </a:p>
          <a:p>
            <a:pPr lvl="2"/>
            <a:r>
              <a:rPr lang="en-US" dirty="0" smtClean="0"/>
              <a:t>Links to resources, code snippets, ideas, tips and tricks</a:t>
            </a:r>
          </a:p>
          <a:p>
            <a:pPr lvl="1"/>
            <a:r>
              <a:rPr lang="en-US" dirty="0" smtClean="0"/>
              <a:t>Share your problems (homework or not) and help solve them</a:t>
            </a:r>
          </a:p>
          <a:p>
            <a:pPr lvl="1"/>
            <a:r>
              <a:rPr lang="en-US" dirty="0" smtClean="0">
                <a:solidFill>
                  <a:srgbClr val="2196F3"/>
                </a:solidFill>
              </a:rPr>
              <a:t>Create and maintain a community</a:t>
            </a:r>
          </a:p>
          <a:p>
            <a:pPr lvl="2"/>
            <a:r>
              <a:rPr lang="en-US" dirty="0" smtClean="0"/>
              <a:t>A </a:t>
            </a:r>
            <a:r>
              <a:rPr lang="en-US" b="1" dirty="0" smtClean="0"/>
              <a:t>critical part</a:t>
            </a:r>
            <a:r>
              <a:rPr lang="en-US" dirty="0" smtClean="0"/>
              <a:t> of software development and science</a:t>
            </a:r>
          </a:p>
          <a:p>
            <a:r>
              <a:rPr lang="en-US" dirty="0" smtClean="0"/>
              <a:t>Facebook group</a:t>
            </a:r>
          </a:p>
          <a:p>
            <a:pPr lvl="1"/>
            <a:r>
              <a:rPr lang="en-US" dirty="0">
                <a:hlinkClick r:id="rId3"/>
              </a:rPr>
              <a:t>https://www.facebook.com/groups/DeepLearningDecember2020</a:t>
            </a:r>
            <a:r>
              <a:rPr lang="en-US" dirty="0" smtClean="0">
                <a:hlinkClick r:id="rId3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48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Online Resources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Books</a:t>
            </a:r>
          </a:p>
          <a:p>
            <a:pPr lvl="1"/>
            <a:r>
              <a:rPr lang="en-US" dirty="0" smtClean="0">
                <a:hlinkClick r:id="rId2"/>
              </a:rPr>
              <a:t>"How not to be wrong"</a:t>
            </a:r>
            <a:r>
              <a:rPr lang="en-US" dirty="0" smtClean="0"/>
              <a:t> – Jordan Ellenberg</a:t>
            </a:r>
          </a:p>
          <a:p>
            <a:pPr lvl="1"/>
            <a:r>
              <a:rPr lang="en-US" dirty="0" smtClean="0">
                <a:hlinkClick r:id="rId3"/>
              </a:rPr>
              <a:t>Deep Learning</a:t>
            </a:r>
            <a:r>
              <a:rPr lang="en-US" dirty="0" smtClean="0"/>
              <a:t> – Ian Goodfellow</a:t>
            </a:r>
          </a:p>
          <a:p>
            <a:pPr lvl="1"/>
            <a:r>
              <a:rPr lang="en-US" dirty="0" smtClean="0"/>
              <a:t>… and anything else you can find</a:t>
            </a:r>
          </a:p>
          <a:p>
            <a:r>
              <a:rPr lang="en-US" dirty="0" smtClean="0"/>
              <a:t>Websites</a:t>
            </a:r>
          </a:p>
          <a:p>
            <a:pPr lvl="1"/>
            <a:r>
              <a:rPr lang="en-US" dirty="0" smtClean="0"/>
              <a:t>Communities: </a:t>
            </a:r>
            <a:r>
              <a:rPr lang="en-US" dirty="0" smtClean="0">
                <a:hlinkClick r:id="rId4"/>
              </a:rPr>
              <a:t>Kaggle</a:t>
            </a:r>
            <a:r>
              <a:rPr lang="en-US" dirty="0" smtClean="0"/>
              <a:t>, </a:t>
            </a:r>
            <a:r>
              <a:rPr lang="en-US" dirty="0" smtClean="0">
                <a:hlinkClick r:id="rId5"/>
              </a:rPr>
              <a:t>Quora</a:t>
            </a:r>
            <a:r>
              <a:rPr lang="en-US" dirty="0" smtClean="0"/>
              <a:t>, </a:t>
            </a:r>
            <a:r>
              <a:rPr lang="en-US" dirty="0" smtClean="0">
                <a:hlinkClick r:id="rId6"/>
              </a:rPr>
              <a:t>Stack Exchange</a:t>
            </a:r>
            <a:endParaRPr lang="en-US" dirty="0" smtClean="0"/>
          </a:p>
          <a:p>
            <a:pPr lvl="1"/>
            <a:r>
              <a:rPr lang="en-US" dirty="0" smtClean="0"/>
              <a:t>Online courses: </a:t>
            </a:r>
            <a:r>
              <a:rPr lang="en-US" dirty="0" smtClean="0">
                <a:hlinkClick r:id="rId7"/>
              </a:rPr>
              <a:t>Coursera</a:t>
            </a:r>
            <a:r>
              <a:rPr lang="en-US" dirty="0" smtClean="0"/>
              <a:t>, </a:t>
            </a:r>
            <a:r>
              <a:rPr lang="en-US" dirty="0" smtClean="0">
                <a:hlinkClick r:id="rId8"/>
              </a:rPr>
              <a:t>edX</a:t>
            </a:r>
            <a:r>
              <a:rPr lang="en-US" dirty="0" smtClean="0"/>
              <a:t>, </a:t>
            </a:r>
            <a:r>
              <a:rPr lang="en-US" dirty="0" smtClean="0">
                <a:hlinkClick r:id="rId9"/>
              </a:rPr>
              <a:t>MIT OCW</a:t>
            </a:r>
            <a:r>
              <a:rPr lang="en-US" dirty="0" smtClean="0"/>
              <a:t>, </a:t>
            </a:r>
            <a:r>
              <a:rPr lang="en-US" dirty="0" smtClean="0">
                <a:hlinkClick r:id="rId10"/>
              </a:rPr>
              <a:t>Stanford</a:t>
            </a:r>
            <a:r>
              <a:rPr lang="en-US" dirty="0" smtClean="0"/>
              <a:t>, etc.</a:t>
            </a:r>
          </a:p>
          <a:p>
            <a:pPr lvl="1"/>
            <a:r>
              <a:rPr lang="en-US" dirty="0" smtClean="0"/>
              <a:t>"Big players": </a:t>
            </a:r>
            <a:r>
              <a:rPr lang="en-US" dirty="0" smtClean="0">
                <a:hlinkClick r:id="rId11"/>
              </a:rPr>
              <a:t>Microsoft</a:t>
            </a:r>
            <a:r>
              <a:rPr lang="en-US" dirty="0" smtClean="0"/>
              <a:t>, </a:t>
            </a:r>
            <a:r>
              <a:rPr lang="en-US" dirty="0" smtClean="0">
                <a:hlinkClick r:id="rId12"/>
              </a:rPr>
              <a:t>Google</a:t>
            </a:r>
            <a:r>
              <a:rPr lang="en-US" dirty="0" smtClean="0"/>
              <a:t>, </a:t>
            </a:r>
            <a:r>
              <a:rPr lang="en-US" dirty="0" smtClean="0">
                <a:hlinkClick r:id="rId13"/>
              </a:rPr>
              <a:t>Facebook</a:t>
            </a:r>
            <a:r>
              <a:rPr lang="en-US" dirty="0" smtClean="0"/>
              <a:t>, </a:t>
            </a:r>
            <a:r>
              <a:rPr lang="en-US" dirty="0" smtClean="0">
                <a:hlinkClick r:id="rId14"/>
              </a:rPr>
              <a:t>Amazon</a:t>
            </a:r>
            <a:r>
              <a:rPr lang="en-US" dirty="0" smtClean="0"/>
              <a:t>, </a:t>
            </a:r>
            <a:r>
              <a:rPr lang="en-US" dirty="0" smtClean="0">
                <a:hlinkClick r:id="rId15"/>
              </a:rPr>
              <a:t>IBM</a:t>
            </a:r>
            <a:r>
              <a:rPr lang="en-US" dirty="0" smtClean="0"/>
              <a:t>, </a:t>
            </a:r>
            <a:r>
              <a:rPr lang="en-US" dirty="0" smtClean="0">
                <a:hlinkClick r:id="rId16"/>
              </a:rPr>
              <a:t>Apple</a:t>
            </a:r>
            <a:r>
              <a:rPr lang="en-US" dirty="0" smtClean="0"/>
              <a:t>, etc.</a:t>
            </a:r>
          </a:p>
          <a:p>
            <a:r>
              <a:rPr lang="en-US" dirty="0" smtClean="0"/>
              <a:t>YouTube</a:t>
            </a:r>
          </a:p>
          <a:p>
            <a:pPr lvl="1"/>
            <a:r>
              <a:rPr lang="en-US" dirty="0" smtClean="0">
                <a:hlinkClick r:id="rId17"/>
              </a:rPr>
              <a:t>FunFunFunction</a:t>
            </a:r>
            <a:r>
              <a:rPr lang="en-US" dirty="0" smtClean="0"/>
              <a:t>, </a:t>
            </a:r>
            <a:r>
              <a:rPr lang="en-US" dirty="0" smtClean="0">
                <a:hlinkClick r:id="rId18"/>
              </a:rPr>
              <a:t>Daniel Shiffman</a:t>
            </a:r>
            <a:r>
              <a:rPr lang="en-US" dirty="0" smtClean="0"/>
              <a:t>, </a:t>
            </a:r>
            <a:r>
              <a:rPr lang="en-US" dirty="0" smtClean="0">
                <a:hlinkClick r:id="rId19"/>
              </a:rPr>
              <a:t>AsapSCIENCE</a:t>
            </a:r>
            <a:r>
              <a:rPr lang="en-US" dirty="0" smtClean="0"/>
              <a:t>, </a:t>
            </a:r>
            <a:r>
              <a:rPr lang="en-US" dirty="0" smtClean="0">
                <a:hlinkClick r:id="rId20"/>
              </a:rPr>
              <a:t>Veritasium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>
                <a:hlinkClick r:id="rId21"/>
              </a:rPr>
              <a:t>Vsauce</a:t>
            </a:r>
            <a:r>
              <a:rPr lang="en-US" dirty="0"/>
              <a:t>, </a:t>
            </a:r>
            <a:r>
              <a:rPr lang="en-US" dirty="0" smtClean="0">
                <a:hlinkClick r:id="rId22"/>
              </a:rPr>
              <a:t>TedEd</a:t>
            </a:r>
            <a:r>
              <a:rPr lang="en-US" dirty="0" smtClean="0"/>
              <a:t>, </a:t>
            </a:r>
            <a:r>
              <a:rPr lang="en-US" dirty="0" smtClean="0">
                <a:hlinkClick r:id="rId23"/>
              </a:rPr>
              <a:t>CrashCourse</a:t>
            </a:r>
            <a:r>
              <a:rPr lang="en-US" dirty="0" smtClean="0"/>
              <a:t>, </a:t>
            </a:r>
            <a:r>
              <a:rPr lang="en-US" dirty="0" smtClean="0">
                <a:hlinkClick r:id="rId24"/>
              </a:rPr>
              <a:t>Mind Your Decisions</a:t>
            </a:r>
            <a:r>
              <a:rPr lang="en-US" dirty="0" smtClean="0"/>
              <a:t>, </a:t>
            </a:r>
            <a:r>
              <a:rPr lang="en-US" dirty="0" smtClean="0">
                <a:hlinkClick r:id="rId25"/>
              </a:rPr>
              <a:t>Infinite Series</a:t>
            </a:r>
            <a:r>
              <a:rPr lang="en-US" dirty="0" smtClean="0"/>
              <a:t>, </a:t>
            </a:r>
            <a:r>
              <a:rPr lang="en-US" dirty="0" smtClean="0">
                <a:hlinkClick r:id="rId26"/>
              </a:rPr>
              <a:t>Numberphile</a:t>
            </a:r>
            <a:r>
              <a:rPr lang="en-US" dirty="0" smtClean="0"/>
              <a:t>, </a:t>
            </a:r>
            <a:r>
              <a:rPr lang="en-US" dirty="0" smtClean="0">
                <a:hlinkClick r:id="rId27"/>
              </a:rPr>
              <a:t>Computerphile</a:t>
            </a:r>
            <a:r>
              <a:rPr lang="en-US" dirty="0" smtClean="0"/>
              <a:t>, </a:t>
            </a:r>
            <a:r>
              <a:rPr lang="en-US" dirty="0" smtClean="0">
                <a:hlinkClick r:id="rId28"/>
              </a:rPr>
              <a:t>Vi Hart</a:t>
            </a:r>
            <a:r>
              <a:rPr lang="en-US" dirty="0" smtClean="0"/>
              <a:t>, </a:t>
            </a:r>
            <a:r>
              <a:rPr lang="en-US" dirty="0" smtClean="0">
                <a:hlinkClick r:id="rId29"/>
              </a:rPr>
              <a:t>3Blue1Brown</a:t>
            </a:r>
            <a:r>
              <a:rPr lang="en-US" dirty="0" smtClean="0"/>
              <a:t>,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hlinkClick r:id="rId30"/>
              </a:rPr>
              <a:t>blackpenredpen</a:t>
            </a:r>
            <a:r>
              <a:rPr lang="en-US" dirty="0" smtClean="0"/>
              <a:t>, </a:t>
            </a:r>
            <a:r>
              <a:rPr lang="en-US" dirty="0" smtClean="0">
                <a:hlinkClick r:id="rId31"/>
              </a:rPr>
              <a:t>Mathologer</a:t>
            </a:r>
            <a:r>
              <a:rPr lang="en-US" dirty="0" smtClean="0"/>
              <a:t>, and many more</a:t>
            </a:r>
          </a:p>
        </p:txBody>
      </p:sp>
    </p:spTree>
    <p:extLst>
      <p:ext uri="{BB962C8B-B14F-4D97-AF65-F5344CB8AC3E}">
        <p14:creationId xmlns:p14="http://schemas.microsoft.com/office/powerpoint/2010/main" val="149944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2D89"/>
      </a:hlink>
      <a:folHlink>
        <a:srgbClr val="002060"/>
      </a:folHlink>
    </a:clrScheme>
    <a:fontScheme name="Modern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609</Words>
  <Application>Microsoft Office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 Math</vt:lpstr>
      <vt:lpstr>Lato</vt:lpstr>
      <vt:lpstr>Montserrat Medium</vt:lpstr>
      <vt:lpstr>Open Sans</vt:lpstr>
      <vt:lpstr>Wingdings</vt:lpstr>
      <vt:lpstr>Office Theme</vt:lpstr>
      <vt:lpstr>Course Introduction</vt:lpstr>
      <vt:lpstr>sli.do #DeepLearning</vt:lpstr>
      <vt:lpstr>Table of Contents</vt:lpstr>
      <vt:lpstr>Course Objectives</vt:lpstr>
      <vt:lpstr>Course Objectives</vt:lpstr>
      <vt:lpstr>Prerequisites</vt:lpstr>
      <vt:lpstr>Course Format Details</vt:lpstr>
      <vt:lpstr>Curriculum</vt:lpstr>
      <vt:lpstr>Course Schedule</vt:lpstr>
      <vt:lpstr>Final Exam</vt:lpstr>
      <vt:lpstr>Grading Scheme</vt:lpstr>
      <vt:lpstr>Grading and Course Certificates</vt:lpstr>
      <vt:lpstr>PowerPoint Presentation</vt:lpstr>
      <vt:lpstr>Learning Resources</vt:lpstr>
      <vt:lpstr>SoftUni Course Pages</vt:lpstr>
      <vt:lpstr>Online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 Darakchiev</dc:creator>
  <cp:lastModifiedBy>Yordan Darakchiev</cp:lastModifiedBy>
  <cp:revision>79</cp:revision>
  <dcterms:created xsi:type="dcterms:W3CDTF">2017-09-11T12:40:37Z</dcterms:created>
  <dcterms:modified xsi:type="dcterms:W3CDTF">2020-12-05T09:53:33Z</dcterms:modified>
</cp:coreProperties>
</file>