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262" r:id="rId4"/>
    <p:sldId id="263" r:id="rId5"/>
    <p:sldId id="279" r:id="rId6"/>
    <p:sldId id="287" r:id="rId7"/>
    <p:sldId id="288" r:id="rId8"/>
    <p:sldId id="302" r:id="rId9"/>
    <p:sldId id="291" r:id="rId10"/>
    <p:sldId id="292" r:id="rId11"/>
    <p:sldId id="293" r:id="rId12"/>
    <p:sldId id="303" r:id="rId13"/>
    <p:sldId id="296" r:id="rId14"/>
    <p:sldId id="298" r:id="rId15"/>
    <p:sldId id="300" r:id="rId16"/>
    <p:sldId id="286" r:id="rId17"/>
    <p:sldId id="261" r:id="rId1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6F3"/>
    <a:srgbClr val="4D4D4D"/>
    <a:srgbClr val="8BC34A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 userDrawn="1"/>
        </p:nvGrpSpPr>
        <p:grpSpPr>
          <a:xfrm>
            <a:off x="3810" y="-7619"/>
            <a:ext cx="12191998" cy="6880134"/>
            <a:chOff x="3810" y="-1"/>
            <a:chExt cx="12191998" cy="6858001"/>
          </a:xfrm>
        </p:grpSpPr>
        <p:sp>
          <p:nvSpPr>
            <p:cNvPr id="109" name="Freeform 108"/>
            <p:cNvSpPr/>
            <p:nvPr userDrawn="1"/>
          </p:nvSpPr>
          <p:spPr>
            <a:xfrm>
              <a:off x="1803400" y="0"/>
              <a:ext cx="10392408" cy="6858000"/>
            </a:xfrm>
            <a:custGeom>
              <a:avLst/>
              <a:gdLst>
                <a:gd name="connsiteX0" fmla="*/ 0 w 10392408"/>
                <a:gd name="connsiteY0" fmla="*/ 0 h 6858000"/>
                <a:gd name="connsiteX1" fmla="*/ 6534783 w 10392408"/>
                <a:gd name="connsiteY1" fmla="*/ 0 h 6858000"/>
                <a:gd name="connsiteX2" fmla="*/ 6658608 w 10392408"/>
                <a:gd name="connsiteY2" fmla="*/ 0 h 6858000"/>
                <a:gd name="connsiteX3" fmla="*/ 9106533 w 10392408"/>
                <a:gd name="connsiteY3" fmla="*/ 0 h 6858000"/>
                <a:gd name="connsiteX4" fmla="*/ 10392408 w 10392408"/>
                <a:gd name="connsiteY4" fmla="*/ 6858000 h 6858000"/>
                <a:gd name="connsiteX5" fmla="*/ 6658608 w 10392408"/>
                <a:gd name="connsiteY5" fmla="*/ 6858000 h 6858000"/>
                <a:gd name="connsiteX6" fmla="*/ 5248908 w 10392408"/>
                <a:gd name="connsiteY6" fmla="*/ 6858000 h 6858000"/>
                <a:gd name="connsiteX7" fmla="*/ 0 w 1039240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92408" h="6858000">
                  <a:moveTo>
                    <a:pt x="0" y="0"/>
                  </a:moveTo>
                  <a:lnTo>
                    <a:pt x="6534783" y="0"/>
                  </a:lnTo>
                  <a:lnTo>
                    <a:pt x="6658608" y="0"/>
                  </a:lnTo>
                  <a:lnTo>
                    <a:pt x="9106533" y="0"/>
                  </a:lnTo>
                  <a:lnTo>
                    <a:pt x="10392408" y="6858000"/>
                  </a:lnTo>
                  <a:lnTo>
                    <a:pt x="6658608" y="6858000"/>
                  </a:lnTo>
                  <a:lnTo>
                    <a:pt x="524890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5" name="Freeform 104"/>
            <p:cNvSpPr/>
            <p:nvPr userDrawn="1"/>
          </p:nvSpPr>
          <p:spPr>
            <a:xfrm>
              <a:off x="1943102" y="-1"/>
              <a:ext cx="9842498" cy="6858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0" name="Freeform 89"/>
            <p:cNvSpPr/>
            <p:nvPr userDrawn="1"/>
          </p:nvSpPr>
          <p:spPr>
            <a:xfrm rot="10800000">
              <a:off x="3810" y="-1"/>
              <a:ext cx="1939290" cy="6858000"/>
            </a:xfrm>
            <a:custGeom>
              <a:avLst/>
              <a:gdLst>
                <a:gd name="connsiteX0" fmla="*/ 1939290 w 1939290"/>
                <a:gd name="connsiteY0" fmla="*/ 6858000 h 6858000"/>
                <a:gd name="connsiteX1" fmla="*/ 0 w 1939290"/>
                <a:gd name="connsiteY1" fmla="*/ 6858000 h 6858000"/>
                <a:gd name="connsiteX2" fmla="*/ 0 w 1939290"/>
                <a:gd name="connsiteY2" fmla="*/ 0 h 6858000"/>
                <a:gd name="connsiteX3" fmla="*/ 653415 w 193929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290" h="6858000">
                  <a:moveTo>
                    <a:pt x="193929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65341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8" name="Freeform 87"/>
            <p:cNvSpPr/>
            <p:nvPr userDrawn="1"/>
          </p:nvSpPr>
          <p:spPr>
            <a:xfrm rot="10800000">
              <a:off x="419100" y="-1"/>
              <a:ext cx="1524000" cy="6858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2960" y="137160"/>
            <a:ext cx="9688467" cy="1988820"/>
          </a:xfrm>
        </p:spPr>
        <p:txBody>
          <a:bodyPr anchor="b">
            <a:normAutofit/>
          </a:bodyPr>
          <a:lstStyle>
            <a:lvl1pPr algn="r">
              <a:defRPr sz="52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97280" y="2153510"/>
            <a:ext cx="9414147" cy="1390311"/>
          </a:xfrm>
        </p:spPr>
        <p:txBody>
          <a:bodyPr>
            <a:normAutofit/>
          </a:bodyPr>
          <a:lstStyle>
            <a:lvl1pPr marL="0" indent="0" algn="r">
              <a:buNone/>
              <a:defRPr sz="3200" b="0" i="0" strike="noStrike" baseline="0">
                <a:solidFill>
                  <a:srgbClr val="2196F3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Main topics</a:t>
            </a:r>
            <a:endParaRPr lang="bg-BG" dirty="0"/>
          </a:p>
        </p:txBody>
      </p:sp>
      <p:sp>
        <p:nvSpPr>
          <p:cNvPr id="113" name="Text Placeholder 112"/>
          <p:cNvSpPr>
            <a:spLocks noGrp="1"/>
          </p:cNvSpPr>
          <p:nvPr>
            <p:ph type="body" sz="quarter" idx="10" hasCustomPrompt="1"/>
          </p:nvPr>
        </p:nvSpPr>
        <p:spPr>
          <a:xfrm>
            <a:off x="1803399" y="5339499"/>
            <a:ext cx="4281486" cy="489744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4D4D4D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 smtClean="0"/>
              <a:t>Name</a:t>
            </a:r>
            <a:endParaRPr lang="bg-BG" dirty="0"/>
          </a:p>
        </p:txBody>
      </p:sp>
      <p:sp>
        <p:nvSpPr>
          <p:cNvPr id="114" name="Text Placeholder 112"/>
          <p:cNvSpPr>
            <a:spLocks noGrp="1"/>
          </p:cNvSpPr>
          <p:nvPr>
            <p:ph type="body" sz="quarter" idx="11" hasCustomPrompt="1"/>
          </p:nvPr>
        </p:nvSpPr>
        <p:spPr>
          <a:xfrm>
            <a:off x="1803399" y="5829300"/>
            <a:ext cx="4281487" cy="3683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>
                    <a:lumMod val="65000"/>
                  </a:schemeClr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bg-BG" dirty="0"/>
          </a:p>
        </p:txBody>
      </p:sp>
      <p:sp>
        <p:nvSpPr>
          <p:cNvPr id="115" name="Text Placeholder 112"/>
          <p:cNvSpPr>
            <a:spLocks noGrp="1"/>
          </p:cNvSpPr>
          <p:nvPr>
            <p:ph type="body" sz="quarter" idx="12" hasCustomPrompt="1"/>
          </p:nvPr>
        </p:nvSpPr>
        <p:spPr>
          <a:xfrm>
            <a:off x="1803398" y="6221072"/>
            <a:ext cx="4281487" cy="44642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2196F3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Email</a:t>
            </a:r>
            <a:endParaRPr lang="bg-BG" dirty="0"/>
          </a:p>
        </p:txBody>
      </p:sp>
      <p:sp>
        <p:nvSpPr>
          <p:cNvPr id="120" name="Picture Placeholder 119"/>
          <p:cNvSpPr>
            <a:spLocks noGrp="1"/>
          </p:cNvSpPr>
          <p:nvPr>
            <p:ph type="pic" sz="quarter" idx="13"/>
          </p:nvPr>
        </p:nvSpPr>
        <p:spPr>
          <a:xfrm>
            <a:off x="8055882" y="4202112"/>
            <a:ext cx="2466975" cy="2465388"/>
          </a:xfrm>
        </p:spPr>
        <p:txBody>
          <a:bodyPr/>
          <a:lstStyle>
            <a:lvl1pPr marL="0" indent="0">
              <a:buNone/>
              <a:defRPr>
                <a:latin typeface="+mn-lt"/>
                <a:cs typeface="Calibri" panose="020F0502020204030204" pitchFamily="34" charset="0"/>
              </a:defRPr>
            </a:lvl1pPr>
          </a:lstStyle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5761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350" y="0"/>
            <a:ext cx="12192000" cy="6858000"/>
            <a:chOff x="-6350" y="0"/>
            <a:chExt cx="12192000" cy="6858000"/>
          </a:xfrm>
        </p:grpSpPr>
        <p:sp>
          <p:nvSpPr>
            <p:cNvPr id="13" name="Freeform 12"/>
            <p:cNvSpPr/>
            <p:nvPr userDrawn="1"/>
          </p:nvSpPr>
          <p:spPr>
            <a:xfrm>
              <a:off x="-635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8334375 w 12192000"/>
                <a:gd name="connsiteY1" fmla="*/ 0 h 6858000"/>
                <a:gd name="connsiteX2" fmla="*/ 8458200 w 12192000"/>
                <a:gd name="connsiteY2" fmla="*/ 0 h 6858000"/>
                <a:gd name="connsiteX3" fmla="*/ 10906125 w 12192000"/>
                <a:gd name="connsiteY3" fmla="*/ 0 h 6858000"/>
                <a:gd name="connsiteX4" fmla="*/ 12192000 w 12192000"/>
                <a:gd name="connsiteY4" fmla="*/ 6858000 h 6858000"/>
                <a:gd name="connsiteX5" fmla="*/ 8458200 w 12192000"/>
                <a:gd name="connsiteY5" fmla="*/ 6858000 h 6858000"/>
                <a:gd name="connsiteX6" fmla="*/ 70485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8334375" y="0"/>
                  </a:lnTo>
                  <a:lnTo>
                    <a:pt x="8458200" y="0"/>
                  </a:lnTo>
                  <a:lnTo>
                    <a:pt x="10906125" y="0"/>
                  </a:lnTo>
                  <a:lnTo>
                    <a:pt x="12192000" y="6858000"/>
                  </a:lnTo>
                  <a:lnTo>
                    <a:pt x="8458200" y="6858000"/>
                  </a:lnTo>
                  <a:lnTo>
                    <a:pt x="70485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Freeform 8"/>
            <p:cNvSpPr/>
            <p:nvPr userDrawn="1"/>
          </p:nvSpPr>
          <p:spPr>
            <a:xfrm>
              <a:off x="0" y="0"/>
              <a:ext cx="11969750" cy="6858000"/>
            </a:xfrm>
            <a:custGeom>
              <a:avLst/>
              <a:gdLst>
                <a:gd name="connsiteX0" fmla="*/ 0 w 11969750"/>
                <a:gd name="connsiteY0" fmla="*/ 0 h 6858000"/>
                <a:gd name="connsiteX1" fmla="*/ 8112125 w 11969750"/>
                <a:gd name="connsiteY1" fmla="*/ 0 h 6858000"/>
                <a:gd name="connsiteX2" fmla="*/ 8235950 w 11969750"/>
                <a:gd name="connsiteY2" fmla="*/ 0 h 6858000"/>
                <a:gd name="connsiteX3" fmla="*/ 10683875 w 11969750"/>
                <a:gd name="connsiteY3" fmla="*/ 0 h 6858000"/>
                <a:gd name="connsiteX4" fmla="*/ 11969750 w 11969750"/>
                <a:gd name="connsiteY4" fmla="*/ 6858000 h 6858000"/>
                <a:gd name="connsiteX5" fmla="*/ 8235950 w 11969750"/>
                <a:gd name="connsiteY5" fmla="*/ 6858000 h 6858000"/>
                <a:gd name="connsiteX6" fmla="*/ 6826250 w 11969750"/>
                <a:gd name="connsiteY6" fmla="*/ 6858000 h 6858000"/>
                <a:gd name="connsiteX7" fmla="*/ 0 w 1196975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69750" h="6858000">
                  <a:moveTo>
                    <a:pt x="0" y="0"/>
                  </a:moveTo>
                  <a:lnTo>
                    <a:pt x="8112125" y="0"/>
                  </a:lnTo>
                  <a:lnTo>
                    <a:pt x="8235950" y="0"/>
                  </a:lnTo>
                  <a:lnTo>
                    <a:pt x="10683875" y="0"/>
                  </a:lnTo>
                  <a:lnTo>
                    <a:pt x="11969750" y="6858000"/>
                  </a:lnTo>
                  <a:lnTo>
                    <a:pt x="8235950" y="6858000"/>
                  </a:lnTo>
                  <a:lnTo>
                    <a:pt x="682625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18212" y="0"/>
            <a:ext cx="11720942" cy="831273"/>
          </a:xfrm>
        </p:spPr>
        <p:txBody>
          <a:bodyPr>
            <a:normAutofit/>
          </a:bodyPr>
          <a:lstStyle>
            <a:lvl1pPr algn="l">
              <a:defRPr sz="4000" baseline="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Slide Title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11" y="852055"/>
            <a:ext cx="11720941" cy="586942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3000">
                <a:solidFill>
                  <a:srgbClr val="4D4D4D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sz="2600">
                <a:solidFill>
                  <a:srgbClr val="4D4D4D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 sz="2200">
                <a:solidFill>
                  <a:srgbClr val="4D4D4D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4D4D4D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443853" y="6424612"/>
            <a:ext cx="422564" cy="365125"/>
          </a:xfrm>
        </p:spPr>
        <p:txBody>
          <a:bodyPr/>
          <a:lstStyle/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27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572770" y="0"/>
            <a:ext cx="11619230" cy="6858000"/>
            <a:chOff x="572770" y="0"/>
            <a:chExt cx="11619230" cy="6858000"/>
          </a:xfrm>
        </p:grpSpPr>
        <p:sp>
          <p:nvSpPr>
            <p:cNvPr id="19" name="Freeform 18"/>
            <p:cNvSpPr/>
            <p:nvPr userDrawn="1"/>
          </p:nvSpPr>
          <p:spPr>
            <a:xfrm rot="10800000">
              <a:off x="572770" y="0"/>
              <a:ext cx="11619230" cy="6858000"/>
            </a:xfrm>
            <a:custGeom>
              <a:avLst/>
              <a:gdLst>
                <a:gd name="connsiteX0" fmla="*/ 11619230 w 11619230"/>
                <a:gd name="connsiteY0" fmla="*/ 6858000 h 6858000"/>
                <a:gd name="connsiteX1" fmla="*/ 7885430 w 11619230"/>
                <a:gd name="connsiteY1" fmla="*/ 6858000 h 6858000"/>
                <a:gd name="connsiteX2" fmla="*/ 6475730 w 11619230"/>
                <a:gd name="connsiteY2" fmla="*/ 6858000 h 6858000"/>
                <a:gd name="connsiteX3" fmla="*/ 0 w 11619230"/>
                <a:gd name="connsiteY3" fmla="*/ 6858000 h 6858000"/>
                <a:gd name="connsiteX4" fmla="*/ 0 w 11619230"/>
                <a:gd name="connsiteY4" fmla="*/ 0 h 6858000"/>
                <a:gd name="connsiteX5" fmla="*/ 7761605 w 11619230"/>
                <a:gd name="connsiteY5" fmla="*/ 0 h 6858000"/>
                <a:gd name="connsiteX6" fmla="*/ 7885430 w 11619230"/>
                <a:gd name="connsiteY6" fmla="*/ 0 h 6858000"/>
                <a:gd name="connsiteX7" fmla="*/ 10333355 w 1161923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9230" h="6858000">
                  <a:moveTo>
                    <a:pt x="11619230" y="6858000"/>
                  </a:moveTo>
                  <a:lnTo>
                    <a:pt x="7885430" y="6858000"/>
                  </a:lnTo>
                  <a:lnTo>
                    <a:pt x="647573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761605" y="0"/>
                  </a:lnTo>
                  <a:lnTo>
                    <a:pt x="7885430" y="0"/>
                  </a:lnTo>
                  <a:lnTo>
                    <a:pt x="1033335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Freeform 16"/>
            <p:cNvSpPr/>
            <p:nvPr userDrawn="1"/>
          </p:nvSpPr>
          <p:spPr>
            <a:xfrm rot="10800000">
              <a:off x="988060" y="0"/>
              <a:ext cx="11203940" cy="6858000"/>
            </a:xfrm>
            <a:custGeom>
              <a:avLst/>
              <a:gdLst>
                <a:gd name="connsiteX0" fmla="*/ 11203940 w 11203940"/>
                <a:gd name="connsiteY0" fmla="*/ 6858000 h 6858000"/>
                <a:gd name="connsiteX1" fmla="*/ 7470140 w 11203940"/>
                <a:gd name="connsiteY1" fmla="*/ 6858000 h 6858000"/>
                <a:gd name="connsiteX2" fmla="*/ 6060440 w 11203940"/>
                <a:gd name="connsiteY2" fmla="*/ 6858000 h 6858000"/>
                <a:gd name="connsiteX3" fmla="*/ 0 w 11203940"/>
                <a:gd name="connsiteY3" fmla="*/ 6858000 h 6858000"/>
                <a:gd name="connsiteX4" fmla="*/ 0 w 11203940"/>
                <a:gd name="connsiteY4" fmla="*/ 0 h 6858000"/>
                <a:gd name="connsiteX5" fmla="*/ 7346315 w 11203940"/>
                <a:gd name="connsiteY5" fmla="*/ 0 h 6858000"/>
                <a:gd name="connsiteX6" fmla="*/ 7470140 w 11203940"/>
                <a:gd name="connsiteY6" fmla="*/ 0 h 6858000"/>
                <a:gd name="connsiteX7" fmla="*/ 9918065 w 1120394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03940" h="6858000">
                  <a:moveTo>
                    <a:pt x="11203940" y="6858000"/>
                  </a:moveTo>
                  <a:lnTo>
                    <a:pt x="7470140" y="6858000"/>
                  </a:lnTo>
                  <a:lnTo>
                    <a:pt x="606044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346315" y="0"/>
                  </a:lnTo>
                  <a:lnTo>
                    <a:pt x="7470140" y="0"/>
                  </a:lnTo>
                  <a:lnTo>
                    <a:pt x="991806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930400" y="1709738"/>
            <a:ext cx="9906000" cy="2852737"/>
          </a:xfrm>
        </p:spPr>
        <p:txBody>
          <a:bodyPr anchor="b"/>
          <a:lstStyle>
            <a:lvl1pPr>
              <a:defRPr sz="60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Section Title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324100" y="4589463"/>
            <a:ext cx="9512300" cy="1500187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D4D4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401070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1" y="3812"/>
            <a:ext cx="12195811" cy="6854190"/>
            <a:chOff x="-1" y="3812"/>
            <a:chExt cx="12195811" cy="6854190"/>
          </a:xfrm>
        </p:grpSpPr>
        <p:sp>
          <p:nvSpPr>
            <p:cNvPr id="17" name="Freeform 16"/>
            <p:cNvSpPr/>
            <p:nvPr userDrawn="1"/>
          </p:nvSpPr>
          <p:spPr>
            <a:xfrm rot="16200000">
              <a:off x="3385185" y="-337756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6" name="Freeform 15"/>
            <p:cNvSpPr/>
            <p:nvPr userDrawn="1"/>
          </p:nvSpPr>
          <p:spPr>
            <a:xfrm rot="5400000">
              <a:off x="3381375" y="-195262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1" name="Freeform 10"/>
            <p:cNvSpPr/>
            <p:nvPr userDrawn="1"/>
          </p:nvSpPr>
          <p:spPr>
            <a:xfrm rot="5400000">
              <a:off x="3327799" y="-2236944"/>
              <a:ext cx="5536405" cy="12192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Freeform 12"/>
            <p:cNvSpPr/>
            <p:nvPr userDrawn="1"/>
          </p:nvSpPr>
          <p:spPr>
            <a:xfrm rot="16200000">
              <a:off x="5667377" y="-5433772"/>
              <a:ext cx="857250" cy="12192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" name="TextBox 2"/>
          <p:cNvSpPr txBox="1"/>
          <p:nvPr userDrawn="1"/>
        </p:nvSpPr>
        <p:spPr>
          <a:xfrm rot="21411406">
            <a:off x="0" y="266319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smtClean="0">
                <a:solidFill>
                  <a:srgbClr val="2196F3"/>
                </a:solidFill>
                <a:latin typeface="+mj-lt"/>
              </a:rPr>
              <a:t>Questions?</a:t>
            </a:r>
            <a:endParaRPr lang="bg-BG" sz="9600" dirty="0">
              <a:solidFill>
                <a:srgbClr val="2196F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090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26A4-A17A-4698-BE1B-BA61FFEA96A2}" type="datetimeFigureOut">
              <a:rPr lang="bg-BG" smtClean="0"/>
              <a:t>2.12.2020 г.</a:t>
            </a:fld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764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96F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li.do/event/ynjb7iv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towardsdatascience.com/stop-installing-tensorflow-using-pip-for-performance-sake-5854f9d9eb0c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/>
              <a:t>to Deep Learning</a:t>
            </a:r>
            <a:endParaRPr lang="bg-B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Neural networks, computation, optimization</a:t>
            </a:r>
            <a:endParaRPr lang="bg-BG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Yordan Darakchiev</a:t>
            </a:r>
            <a:endParaRPr lang="bg-BG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Technical Trainer</a:t>
            </a:r>
            <a:endParaRPr lang="bg-BG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iordan93@gmail.com</a:t>
            </a:r>
            <a:endParaRPr lang="bg-BG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" b="52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1304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sli.do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#DeepLearning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7185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Computational graphs</a:t>
            </a:r>
          </a:p>
          <a:p>
            <a:r>
              <a:rPr lang="en-US" dirty="0" smtClean="0"/>
              <a:t>Simple models with </a:t>
            </a:r>
            <a:r>
              <a:rPr lang="en-US" dirty="0" smtClean="0">
                <a:latin typeface="Consolas" panose="020B0609020204030204" pitchFamily="49" charset="0"/>
              </a:rPr>
              <a:t>tensorflow</a:t>
            </a:r>
          </a:p>
          <a:p>
            <a:pPr lvl="1"/>
            <a:r>
              <a:rPr lang="en-US" dirty="0" smtClean="0"/>
              <a:t>Low-level API</a:t>
            </a:r>
          </a:p>
          <a:p>
            <a:r>
              <a:rPr lang="en-US" dirty="0" smtClean="0"/>
              <a:t>Building neural networks</a:t>
            </a:r>
          </a:p>
          <a:p>
            <a:r>
              <a:rPr lang="en-US" dirty="0" smtClean="0"/>
              <a:t>Regularization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1178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Computational Graphs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Performing simple calculations…</a:t>
            </a:r>
            <a:br>
              <a:rPr lang="en-US" dirty="0" smtClean="0"/>
            </a:br>
            <a:r>
              <a:rPr lang="en-US" dirty="0" smtClean="0"/>
              <a:t>just harder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15338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Installing </a:t>
            </a:r>
            <a:r>
              <a:rPr lang="en-US" dirty="0" smtClean="0">
                <a:latin typeface="Consolas" panose="020B0609020204030204" pitchFamily="49" charset="0"/>
              </a:rPr>
              <a:t>tensorflow</a:t>
            </a:r>
            <a:endParaRPr lang="bg-BG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Use Anaconda</a:t>
                </a:r>
              </a:p>
              <a:p>
                <a:pPr lvl="1"/>
                <a:r>
                  <a:rPr lang="en-US" dirty="0" smtClean="0"/>
                  <a:t>It's easier, and </a:t>
                </a:r>
                <a:r>
                  <a:rPr lang="en-US" dirty="0" smtClean="0">
                    <a:hlinkClick r:id="rId2"/>
                  </a:rPr>
                  <a:t>arguably much faster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Run as administrator</a:t>
                </a:r>
              </a:p>
              <a:p>
                <a:r>
                  <a:rPr lang="en-US" dirty="0" smtClean="0"/>
                  <a:t>If possible, try installing the GPU version</a:t>
                </a:r>
              </a:p>
              <a:p>
                <a:pPr lvl="1"/>
                <a:r>
                  <a:rPr lang="en-US" dirty="0" smtClean="0"/>
                  <a:t>The installer will tell you whether it's compatible with your</a:t>
                </a:r>
                <a:br>
                  <a:rPr lang="en-US" dirty="0" smtClean="0"/>
                </a:br>
                <a:r>
                  <a:rPr lang="en-US" dirty="0" smtClean="0"/>
                  <a:t>graphics card</a:t>
                </a:r>
              </a:p>
              <a:p>
                <a:pPr lvl="1"/>
                <a:endParaRPr lang="en-US" dirty="0" smtClean="0"/>
              </a:p>
              <a:p>
                <a:r>
                  <a:rPr lang="en-US" dirty="0" smtClean="0"/>
                  <a:t>Otherwise, fall back to the CPU (standard) version</a:t>
                </a:r>
              </a:p>
              <a:p>
                <a:endParaRPr lang="en-US" dirty="0"/>
              </a:p>
              <a:p>
                <a:r>
                  <a:rPr lang="en-US" dirty="0" smtClean="0"/>
                  <a:t>There's no difference in the API</a:t>
                </a:r>
              </a:p>
              <a:p>
                <a:pPr lvl="1"/>
                <a:r>
                  <a:rPr lang="en-US" dirty="0" smtClean="0"/>
                  <a:t>GPUs perform computations much faster</a:t>
                </a:r>
              </a:p>
              <a:p>
                <a:pPr lvl="2"/>
                <a:r>
                  <a:rPr lang="en-US" dirty="0" smtClean="0"/>
                  <a:t>Sometimes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 smtClean="0"/>
                  <a:t> times faster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5</a:t>
            </a:fld>
            <a:endParaRPr lang="bg-BG"/>
          </a:p>
        </p:txBody>
      </p:sp>
      <p:sp>
        <p:nvSpPr>
          <p:cNvPr id="9" name="TextBox 8"/>
          <p:cNvSpPr txBox="1"/>
          <p:nvPr/>
        </p:nvSpPr>
        <p:spPr>
          <a:xfrm>
            <a:off x="994357" y="3535598"/>
            <a:ext cx="3768470" cy="369332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 smtClean="0">
                <a:solidFill>
                  <a:srgbClr val="000000"/>
                </a:solidFill>
              </a:rPr>
              <a:t>conda install tensorflow-gpu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4357" y="4515654"/>
            <a:ext cx="3768470" cy="369332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 smtClean="0">
                <a:solidFill>
                  <a:srgbClr val="000000"/>
                </a:solidFill>
              </a:rPr>
              <a:t>conda install tensorflow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906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Computational Graphs in </a:t>
            </a:r>
            <a:r>
              <a:rPr lang="en-US" dirty="0" smtClean="0">
                <a:latin typeface="Consolas" panose="020B0609020204030204" pitchFamily="49" charset="0"/>
              </a:rPr>
              <a:t>tensorflow</a:t>
            </a:r>
            <a:endParaRPr lang="bg-BG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"Flow of tensors (multidimensional matrices)"</a:t>
                </a:r>
              </a:p>
              <a:p>
                <a:r>
                  <a:rPr lang="en-US" dirty="0" smtClean="0"/>
                  <a:t>Computational graph (DAG)</a:t>
                </a:r>
                <a:endParaRPr lang="en-US" dirty="0"/>
              </a:p>
              <a:p>
                <a:pPr lvl="1"/>
                <a:r>
                  <a:rPr lang="en-US" dirty="0"/>
                  <a:t>A useful representation of computation </a:t>
                </a:r>
                <a:r>
                  <a:rPr lang="en-US" dirty="0" smtClean="0"/>
                  <a:t>sequences</a:t>
                </a:r>
              </a:p>
              <a:p>
                <a:pPr lvl="1"/>
                <a:r>
                  <a:rPr lang="en-US" dirty="0" smtClean="0"/>
                  <a:t>Contains data and operations</a:t>
                </a:r>
              </a:p>
              <a:p>
                <a:pPr lvl="1"/>
                <a:r>
                  <a:rPr lang="en-US" dirty="0" smtClean="0"/>
                  <a:t>Data "flows" through and gets transformed</a:t>
                </a:r>
              </a:p>
              <a:p>
                <a:r>
                  <a:rPr lang="en-US" dirty="0" smtClean="0"/>
                  <a:t>A simple example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6</a:t>
            </a:fld>
            <a:endParaRPr lang="bg-BG"/>
          </a:p>
        </p:txBody>
      </p:sp>
      <p:grpSp>
        <p:nvGrpSpPr>
          <p:cNvPr id="27" name="Group 26"/>
          <p:cNvGrpSpPr/>
          <p:nvPr/>
        </p:nvGrpSpPr>
        <p:grpSpPr>
          <a:xfrm>
            <a:off x="1124989" y="4217324"/>
            <a:ext cx="6918668" cy="1402079"/>
            <a:chOff x="1224742" y="4350328"/>
            <a:chExt cx="6139291" cy="12441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/>
                <p:cNvSpPr/>
                <p:nvPr/>
              </p:nvSpPr>
              <p:spPr>
                <a:xfrm>
                  <a:off x="1224742" y="5062451"/>
                  <a:ext cx="532014" cy="53201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Oval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4742" y="5062451"/>
                  <a:ext cx="532014" cy="53201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/>
                <p:cNvSpPr/>
                <p:nvPr/>
              </p:nvSpPr>
              <p:spPr>
                <a:xfrm>
                  <a:off x="1224742" y="4350328"/>
                  <a:ext cx="532014" cy="53201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Oval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4742" y="4350328"/>
                  <a:ext cx="532014" cy="53201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2434934" y="4414059"/>
                  <a:ext cx="656706" cy="40455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(⋅)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934" y="4414059"/>
                  <a:ext cx="656706" cy="40455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2434934" y="5126182"/>
                  <a:ext cx="656706" cy="40455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(⋅)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934" y="5126182"/>
                  <a:ext cx="656706" cy="40455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4008810" y="4774278"/>
                  <a:ext cx="656706" cy="40455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8810" y="4774278"/>
                  <a:ext cx="656706" cy="40455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5337457" y="4774278"/>
                  <a:ext cx="656706" cy="40455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(⋅)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7457" y="4774278"/>
                  <a:ext cx="656706" cy="404552"/>
                </a:xfrm>
                <a:prstGeom prst="rect">
                  <a:avLst/>
                </a:prstGeom>
                <a:blipFill>
                  <a:blip r:embed="rId8"/>
                  <a:stretch>
                    <a:fillRect b="-12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/>
            <p:cNvCxnSpPr>
              <a:stCxn id="10" idx="6"/>
              <a:endCxn id="6" idx="1"/>
            </p:cNvCxnSpPr>
            <p:nvPr/>
          </p:nvCxnSpPr>
          <p:spPr>
            <a:xfrm>
              <a:off x="1756756" y="4616335"/>
              <a:ext cx="678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5" idx="6"/>
              <a:endCxn id="11" idx="1"/>
            </p:cNvCxnSpPr>
            <p:nvPr/>
          </p:nvCxnSpPr>
          <p:spPr>
            <a:xfrm>
              <a:off x="1756756" y="5328458"/>
              <a:ext cx="678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6" idx="3"/>
              <a:endCxn id="12" idx="1"/>
            </p:cNvCxnSpPr>
            <p:nvPr/>
          </p:nvCxnSpPr>
          <p:spPr>
            <a:xfrm>
              <a:off x="3091640" y="4616335"/>
              <a:ext cx="917170" cy="3602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1" idx="3"/>
              <a:endCxn id="12" idx="1"/>
            </p:cNvCxnSpPr>
            <p:nvPr/>
          </p:nvCxnSpPr>
          <p:spPr>
            <a:xfrm flipV="1">
              <a:off x="3091640" y="4976554"/>
              <a:ext cx="917170" cy="3519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2" idx="3"/>
              <a:endCxn id="13" idx="1"/>
            </p:cNvCxnSpPr>
            <p:nvPr/>
          </p:nvCxnSpPr>
          <p:spPr>
            <a:xfrm>
              <a:off x="4665516" y="4976554"/>
              <a:ext cx="6719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3" idx="3"/>
            </p:cNvCxnSpPr>
            <p:nvPr/>
          </p:nvCxnSpPr>
          <p:spPr>
            <a:xfrm>
              <a:off x="5994163" y="4976554"/>
              <a:ext cx="5147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6568431" y="4796444"/>
              <a:ext cx="7956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result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036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Computational Graphs in </a:t>
            </a:r>
            <a:r>
              <a:rPr lang="en-US" dirty="0" smtClean="0">
                <a:latin typeface="Consolas" panose="020B0609020204030204" pitchFamily="49" charset="0"/>
              </a:rPr>
              <a:t>tensorflow</a:t>
            </a:r>
            <a:r>
              <a:rPr lang="en-US" dirty="0" smtClean="0"/>
              <a:t> (2)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Import the library</a:t>
                </a:r>
              </a:p>
              <a:p>
                <a:endParaRPr lang="en-US" dirty="0"/>
              </a:p>
              <a:p>
                <a:r>
                  <a:rPr lang="en-US" dirty="0" smtClean="0"/>
                  <a:t>Create two constants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dirty="0" smtClean="0"/>
              </a:p>
              <a:p>
                <a:pPr lvl="1"/>
                <a:r>
                  <a:rPr lang="en-US" dirty="0" smtClean="0"/>
                  <a:t>We will provide their values later to get the result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 smtClean="0"/>
              </a:p>
              <a:p>
                <a:r>
                  <a:rPr lang="en-US" dirty="0" smtClean="0"/>
                  <a:t>Create the function</a:t>
                </a:r>
              </a:p>
              <a:p>
                <a:pPr lvl="1"/>
                <a:r>
                  <a:rPr lang="en-US" dirty="0" smtClean="0"/>
                  <a:t>Using tensorflow operations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7</a:t>
            </a:fld>
            <a:endParaRPr lang="bg-BG"/>
          </a:p>
        </p:txBody>
      </p:sp>
      <p:sp>
        <p:nvSpPr>
          <p:cNvPr id="20" name="TextBox 19"/>
          <p:cNvSpPr txBox="1"/>
          <p:nvPr/>
        </p:nvSpPr>
        <p:spPr>
          <a:xfrm>
            <a:off x="604578" y="1424194"/>
            <a:ext cx="5812845" cy="369332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import</a:t>
            </a:r>
            <a:r>
              <a:rPr lang="en-US" dirty="0">
                <a:solidFill>
                  <a:srgbClr val="000000"/>
                </a:solidFill>
              </a:rPr>
              <a:t> tensorflow </a:t>
            </a:r>
            <a:r>
              <a:rPr lang="en-US" dirty="0">
                <a:solidFill>
                  <a:srgbClr val="0000FF"/>
                </a:solidFill>
              </a:rPr>
              <a:t>as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tf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4577" y="2851623"/>
            <a:ext cx="5812845" cy="646331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 = tf.constant(</a:t>
            </a:r>
            <a:r>
              <a:rPr lang="en-US" dirty="0">
                <a:solidFill>
                  <a:srgbClr val="09885A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</a:rPr>
              <a:t>b = tf.constant(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5290" y="4645233"/>
            <a:ext cx="5812845" cy="2031325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def</a:t>
            </a:r>
            <a:r>
              <a:rPr lang="en-US" dirty="0">
                <a:solidFill>
                  <a:srgbClr val="000000"/>
                </a:solidFill>
              </a:rPr>
              <a:t> compute(a, b):</a:t>
            </a:r>
          </a:p>
          <a:p>
            <a:r>
              <a:rPr lang="en-US" dirty="0">
                <a:solidFill>
                  <a:srgbClr val="000000"/>
                </a:solidFill>
              </a:rPr>
              <a:t>    </a:t>
            </a:r>
            <a:r>
              <a:rPr lang="en-US" dirty="0">
                <a:solidFill>
                  <a:srgbClr val="0000FF"/>
                </a:solidFill>
              </a:rPr>
              <a:t>return</a:t>
            </a:r>
            <a:r>
              <a:rPr lang="en-US" dirty="0">
                <a:solidFill>
                  <a:srgbClr val="000000"/>
                </a:solidFill>
              </a:rPr>
              <a:t> tf.pow</a:t>
            </a:r>
            <a:r>
              <a:rPr lang="en-US" dirty="0" smtClean="0">
                <a:solidFill>
                  <a:srgbClr val="000000"/>
                </a:solidFill>
              </a:rPr>
              <a:t>(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           tf.add(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               tf.multiply(</a:t>
            </a:r>
            <a:r>
              <a:rPr lang="en-US" dirty="0" smtClean="0">
                <a:solidFill>
                  <a:srgbClr val="09885A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, a</a:t>
            </a:r>
            <a:r>
              <a:rPr lang="en-US" dirty="0" smtClean="0">
                <a:solidFill>
                  <a:srgbClr val="000000"/>
                </a:solidFill>
              </a:rPr>
              <a:t>),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dirty="0" smtClean="0">
                <a:solidFill>
                  <a:srgbClr val="000000"/>
                </a:solidFill>
              </a:rPr>
              <a:t>                  tf.multiply(</a:t>
            </a:r>
            <a:r>
              <a:rPr lang="en-US" dirty="0" smtClean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, b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           ),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       </a:t>
            </a:r>
            <a:r>
              <a:rPr lang="en-US" dirty="0" smtClean="0">
                <a:solidFill>
                  <a:srgbClr val="09885A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151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Computational Graphs in </a:t>
            </a:r>
            <a:r>
              <a:rPr lang="en-US" dirty="0" smtClean="0">
                <a:latin typeface="Consolas" panose="020B0609020204030204" pitchFamily="49" charset="0"/>
              </a:rPr>
              <a:t>tensorflow</a:t>
            </a:r>
            <a:r>
              <a:rPr lang="en-US" dirty="0" smtClean="0"/>
              <a:t> (3)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However, it can be much, much simpler!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 smtClean="0"/>
              <a:t>This works in regular Python, </a:t>
            </a:r>
            <a:r>
              <a:rPr lang="en-US" dirty="0" smtClean="0">
                <a:latin typeface="Consolas" panose="020B0609020204030204" pitchFamily="49" charset="0"/>
              </a:rPr>
              <a:t>numpy</a:t>
            </a:r>
            <a:r>
              <a:rPr lang="en-US" dirty="0" smtClean="0"/>
              <a:t>, and </a:t>
            </a:r>
            <a:r>
              <a:rPr lang="en-US" dirty="0" smtClean="0">
                <a:latin typeface="Consolas" panose="020B0609020204030204" pitchFamily="49" charset="0"/>
              </a:rPr>
              <a:t>tensorflow</a:t>
            </a:r>
          </a:p>
          <a:p>
            <a:pPr lvl="1"/>
            <a:r>
              <a:rPr lang="en-US" dirty="0" smtClean="0"/>
              <a:t>Depends on the types of </a:t>
            </a:r>
            <a:r>
              <a:rPr lang="en-US" dirty="0" smtClean="0">
                <a:latin typeface="Consolas" panose="020B0609020204030204" pitchFamily="49" charset="0"/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latin typeface="Consolas" panose="020B0609020204030204" pitchFamily="49" charset="0"/>
              </a:rPr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8</a:t>
            </a:fld>
            <a:endParaRPr lang="bg-BG"/>
          </a:p>
        </p:txBody>
      </p:sp>
      <p:sp>
        <p:nvSpPr>
          <p:cNvPr id="20" name="TextBox 19"/>
          <p:cNvSpPr txBox="1"/>
          <p:nvPr/>
        </p:nvSpPr>
        <p:spPr>
          <a:xfrm>
            <a:off x="604578" y="1449132"/>
            <a:ext cx="7782964" cy="646331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def</a:t>
            </a:r>
            <a:r>
              <a:rPr lang="en-US" dirty="0">
                <a:solidFill>
                  <a:srgbClr val="000000"/>
                </a:solidFill>
              </a:rPr>
              <a:t> compute(a, b):</a:t>
            </a:r>
          </a:p>
          <a:p>
            <a:r>
              <a:rPr lang="en-US" dirty="0">
                <a:solidFill>
                  <a:srgbClr val="000000"/>
                </a:solidFill>
              </a:rPr>
              <a:t>    </a:t>
            </a:r>
            <a:r>
              <a:rPr lang="en-US" dirty="0">
                <a:solidFill>
                  <a:srgbClr val="0000FF"/>
                </a:solidFill>
              </a:rPr>
              <a:t>return</a:t>
            </a:r>
            <a:r>
              <a:rPr lang="en-US" dirty="0">
                <a:solidFill>
                  <a:srgbClr val="000000"/>
                </a:solidFill>
              </a:rPr>
              <a:t> (</a:t>
            </a:r>
            <a:r>
              <a:rPr lang="en-US" dirty="0">
                <a:solidFill>
                  <a:srgbClr val="09885A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 * a + 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 * b) ** </a:t>
            </a:r>
            <a:r>
              <a:rPr lang="en-US" dirty="0">
                <a:solidFill>
                  <a:srgbClr val="09885A"/>
                </a:solidFill>
              </a:rPr>
              <a:t>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4578" y="3215444"/>
            <a:ext cx="7782964" cy="3139321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compute(</a:t>
            </a:r>
            <a:r>
              <a:rPr lang="en-US" dirty="0">
                <a:solidFill>
                  <a:srgbClr val="09885A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  <a:r>
              <a:rPr lang="en-US" dirty="0" smtClean="0">
                <a:solidFill>
                  <a:srgbClr val="008000"/>
                </a:solidFill>
              </a:rPr>
              <a:t>#</a:t>
            </a:r>
            <a:r>
              <a:rPr lang="en-US" dirty="0">
                <a:solidFill>
                  <a:srgbClr val="008000"/>
                </a:solidFill>
              </a:rPr>
              <a:t> 169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compute(</a:t>
            </a:r>
            <a:r>
              <a:rPr lang="en-US" dirty="0">
                <a:solidFill>
                  <a:srgbClr val="09885A"/>
                </a:solidFill>
              </a:rPr>
              <a:t>2.0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3.0</a:t>
            </a:r>
            <a:r>
              <a:rPr lang="en-US" dirty="0" smtClean="0">
                <a:solidFill>
                  <a:srgbClr val="000000"/>
                </a:solidFill>
              </a:rPr>
              <a:t>) </a:t>
            </a:r>
            <a:r>
              <a:rPr lang="en-US" dirty="0" smtClean="0">
                <a:solidFill>
                  <a:srgbClr val="008000"/>
                </a:solidFill>
              </a:rPr>
              <a:t>#</a:t>
            </a:r>
            <a:r>
              <a:rPr lang="en-US" dirty="0">
                <a:solidFill>
                  <a:srgbClr val="008000"/>
                </a:solidFill>
              </a:rPr>
              <a:t> </a:t>
            </a:r>
            <a:r>
              <a:rPr lang="en-US" dirty="0" smtClean="0">
                <a:solidFill>
                  <a:srgbClr val="008000"/>
                </a:solidFill>
              </a:rPr>
              <a:t>169.0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compute(np.array([</a:t>
            </a:r>
            <a:r>
              <a:rPr lang="en-US" dirty="0">
                <a:solidFill>
                  <a:srgbClr val="09885A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4</a:t>
            </a:r>
            <a:r>
              <a:rPr lang="en-US" dirty="0">
                <a:solidFill>
                  <a:srgbClr val="000000"/>
                </a:solidFill>
              </a:rPr>
              <a:t>]), np.array([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4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5</a:t>
            </a:r>
            <a:r>
              <a:rPr lang="en-US" dirty="0" smtClean="0">
                <a:solidFill>
                  <a:srgbClr val="000000"/>
                </a:solidFill>
              </a:rPr>
              <a:t>]))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8000"/>
                </a:solidFill>
              </a:rPr>
              <a:t>#</a:t>
            </a:r>
            <a:r>
              <a:rPr lang="en-US" dirty="0">
                <a:solidFill>
                  <a:srgbClr val="008000"/>
                </a:solidFill>
              </a:rPr>
              <a:t> array([169, 324, 529], dtype=int32</a:t>
            </a:r>
            <a:r>
              <a:rPr lang="en-US" dirty="0" smtClean="0">
                <a:solidFill>
                  <a:srgbClr val="008000"/>
                </a:solidFill>
              </a:rPr>
              <a:t>)</a:t>
            </a:r>
          </a:p>
          <a:p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compute(tf.constant(</a:t>
            </a:r>
            <a:r>
              <a:rPr lang="en-US" dirty="0">
                <a:solidFill>
                  <a:srgbClr val="09885A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), tf.constant(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))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8000"/>
                </a:solidFill>
              </a:rPr>
              <a:t># &lt;tf.Tensor: id=53, shape=(), dtype=int32, numpy=169</a:t>
            </a:r>
            <a:r>
              <a:rPr lang="en-US" dirty="0" smtClean="0">
                <a:solidFill>
                  <a:srgbClr val="008000"/>
                </a:solidFill>
              </a:rPr>
              <a:t>&gt;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compute(tf.constant([</a:t>
            </a:r>
            <a:r>
              <a:rPr lang="en-US" dirty="0">
                <a:solidFill>
                  <a:srgbClr val="09885A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4</a:t>
            </a:r>
            <a:r>
              <a:rPr lang="en-US" dirty="0">
                <a:solidFill>
                  <a:srgbClr val="000000"/>
                </a:solidFill>
              </a:rPr>
              <a:t>]), tf.constant([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4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5</a:t>
            </a:r>
            <a:r>
              <a:rPr lang="en-US" dirty="0" smtClean="0">
                <a:solidFill>
                  <a:srgbClr val="000000"/>
                </a:solidFill>
              </a:rPr>
              <a:t>]))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8000"/>
                </a:solidFill>
              </a:rPr>
              <a:t>#</a:t>
            </a:r>
            <a:r>
              <a:rPr lang="en-US" dirty="0">
                <a:solidFill>
                  <a:srgbClr val="008000"/>
                </a:solidFill>
              </a:rPr>
              <a:t> &lt;tf.Tensor: id=62, shape=(3,), </a:t>
            </a:r>
            <a:r>
              <a:rPr lang="en-US" dirty="0" smtClean="0">
                <a:solidFill>
                  <a:srgbClr val="008000"/>
                </a:solidFill>
              </a:rPr>
              <a:t>dtype=int32,</a:t>
            </a:r>
            <a:br>
              <a:rPr lang="en-US" dirty="0" smtClean="0">
                <a:solidFill>
                  <a:srgbClr val="008000"/>
                </a:solidFill>
              </a:rPr>
            </a:br>
            <a:r>
              <a:rPr lang="en-US" dirty="0" smtClean="0">
                <a:solidFill>
                  <a:srgbClr val="008000"/>
                </a:solidFill>
              </a:rPr>
              <a:t>#    numpy=array</a:t>
            </a:r>
            <a:r>
              <a:rPr lang="en-US" dirty="0">
                <a:solidFill>
                  <a:srgbClr val="008000"/>
                </a:solidFill>
              </a:rPr>
              <a:t>([169, 324, 529</a:t>
            </a:r>
            <a:r>
              <a:rPr lang="en-US" dirty="0" smtClean="0">
                <a:solidFill>
                  <a:srgbClr val="008000"/>
                </a:solidFill>
              </a:rPr>
              <a:t>])&gt;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531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Visualizing the Graph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Decorate the function with</a:t>
            </a:r>
          </a:p>
          <a:p>
            <a:r>
              <a:rPr lang="en-US" dirty="0" smtClean="0"/>
              <a:t>Trace the execution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Run tensorboard to visualize the graph</a:t>
            </a:r>
            <a:br>
              <a:rPr lang="en-US" dirty="0" smtClean="0"/>
            </a:br>
            <a:r>
              <a:rPr lang="en-US" dirty="0" smtClean="0"/>
              <a:t> and function trace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9</a:t>
            </a:fld>
            <a:endParaRPr lang="bg-BG"/>
          </a:p>
        </p:txBody>
      </p:sp>
      <p:sp>
        <p:nvSpPr>
          <p:cNvPr id="9" name="TextBox 8"/>
          <p:cNvSpPr txBox="1"/>
          <p:nvPr/>
        </p:nvSpPr>
        <p:spPr>
          <a:xfrm>
            <a:off x="620425" y="6096845"/>
            <a:ext cx="3483205" cy="369332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 smtClean="0">
                <a:solidFill>
                  <a:srgbClr val="000000"/>
                </a:solidFill>
              </a:rPr>
              <a:t>tensorboard --logdir logs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69603" y="917969"/>
            <a:ext cx="1779096" cy="369332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@tf.function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425" y="1854330"/>
            <a:ext cx="6927531" cy="2862322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a, b = tf.constant([</a:t>
            </a:r>
            <a:r>
              <a:rPr lang="en-US" dirty="0">
                <a:solidFill>
                  <a:srgbClr val="09885A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4</a:t>
            </a:r>
            <a:r>
              <a:rPr lang="en-US" dirty="0">
                <a:solidFill>
                  <a:srgbClr val="000000"/>
                </a:solidFill>
              </a:rPr>
              <a:t>]), tf.constant([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4</a:t>
            </a:r>
            <a:r>
              <a:rPr lang="en-US" dirty="0">
                <a:solidFill>
                  <a:srgbClr val="000000"/>
                </a:solidFill>
              </a:rPr>
              <a:t>, </a:t>
            </a:r>
            <a:r>
              <a:rPr lang="en-US" dirty="0">
                <a:solidFill>
                  <a:srgbClr val="09885A"/>
                </a:solidFill>
              </a:rPr>
              <a:t>5</a:t>
            </a:r>
            <a:r>
              <a:rPr lang="en-US" dirty="0">
                <a:solidFill>
                  <a:srgbClr val="000000"/>
                </a:solidFill>
              </a:rPr>
              <a:t>])</a:t>
            </a:r>
          </a:p>
          <a:p>
            <a:r>
              <a:rPr lang="en-US" dirty="0">
                <a:solidFill>
                  <a:srgbClr val="000000"/>
                </a:solidFill>
              </a:rPr>
              <a:t/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tf.summary.trace_on(graph = </a:t>
            </a:r>
            <a:r>
              <a:rPr lang="en-US" dirty="0">
                <a:solidFill>
                  <a:srgbClr val="0000FF"/>
                </a:solidFill>
              </a:rPr>
              <a:t>True</a:t>
            </a:r>
            <a:r>
              <a:rPr lang="en-US" dirty="0">
                <a:solidFill>
                  <a:srgbClr val="000000"/>
                </a:solidFill>
              </a:rPr>
              <a:t>, profiler = </a:t>
            </a:r>
            <a:r>
              <a:rPr lang="en-US" dirty="0">
                <a:solidFill>
                  <a:srgbClr val="0000FF"/>
                </a:solidFill>
              </a:rPr>
              <a:t>True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</a:rPr>
              <a:t>result = compute(a, b)</a:t>
            </a:r>
          </a:p>
          <a:p>
            <a:r>
              <a:rPr lang="en-US" dirty="0">
                <a:solidFill>
                  <a:srgbClr val="0000FF"/>
                </a:solidFill>
              </a:rPr>
              <a:t>print</a:t>
            </a:r>
            <a:r>
              <a:rPr lang="en-US" dirty="0">
                <a:solidFill>
                  <a:srgbClr val="000000"/>
                </a:solidFill>
              </a:rPr>
              <a:t>(result.numpy())</a:t>
            </a:r>
          </a:p>
          <a:p>
            <a:r>
              <a:rPr lang="en-US" dirty="0">
                <a:solidFill>
                  <a:srgbClr val="0000FF"/>
                </a:solidFill>
              </a:rPr>
              <a:t>with</a:t>
            </a:r>
            <a:r>
              <a:rPr lang="en-US" dirty="0">
                <a:solidFill>
                  <a:srgbClr val="000000"/>
                </a:solidFill>
              </a:rPr>
              <a:t> writer.as_default():</a:t>
            </a:r>
          </a:p>
          <a:p>
            <a:r>
              <a:rPr lang="en-US" dirty="0">
                <a:solidFill>
                  <a:srgbClr val="000000"/>
                </a:solidFill>
              </a:rPr>
              <a:t>    tf.summary.trace_export</a:t>
            </a:r>
            <a:r>
              <a:rPr lang="en-US" dirty="0" smtClean="0">
                <a:solidFill>
                  <a:srgbClr val="000000"/>
                </a:solidFill>
              </a:rPr>
              <a:t>(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    name</a:t>
            </a:r>
            <a:r>
              <a:rPr lang="en-US" dirty="0">
                <a:solidFill>
                  <a:srgbClr val="000000"/>
                </a:solidFill>
              </a:rPr>
              <a:t> = </a:t>
            </a:r>
            <a:r>
              <a:rPr lang="en-US" dirty="0">
                <a:solidFill>
                  <a:srgbClr val="A31515"/>
                </a:solidFill>
              </a:rPr>
              <a:t>"compute_trace</a:t>
            </a:r>
            <a:r>
              <a:rPr lang="en-US" dirty="0" smtClean="0">
                <a:solidFill>
                  <a:srgbClr val="A31515"/>
                </a:solidFill>
              </a:rPr>
              <a:t>"</a:t>
            </a:r>
            <a:r>
              <a:rPr lang="en-US" dirty="0" smtClean="0">
                <a:solidFill>
                  <a:srgbClr val="000000"/>
                </a:solidFill>
              </a:rPr>
              <a:t>,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    step</a:t>
            </a:r>
            <a:r>
              <a:rPr lang="en-US" dirty="0">
                <a:solidFill>
                  <a:srgbClr val="000000"/>
                </a:solidFill>
              </a:rPr>
              <a:t> = </a:t>
            </a:r>
            <a:r>
              <a:rPr lang="en-US" dirty="0" smtClean="0">
                <a:solidFill>
                  <a:srgbClr val="09885A"/>
                </a:solidFill>
              </a:rPr>
              <a:t>0</a:t>
            </a:r>
            <a:r>
              <a:rPr lang="en-US" dirty="0" smtClean="0">
                <a:solidFill>
                  <a:srgbClr val="000000"/>
                </a:solidFill>
              </a:rPr>
              <a:t>,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    profiler_outdir</a:t>
            </a:r>
            <a:r>
              <a:rPr lang="en-US" dirty="0">
                <a:solidFill>
                  <a:srgbClr val="000000"/>
                </a:solidFill>
              </a:rPr>
              <a:t> = </a:t>
            </a:r>
            <a:r>
              <a:rPr lang="en-US" dirty="0">
                <a:solidFill>
                  <a:srgbClr val="A31515"/>
                </a:solidFill>
              </a:rPr>
              <a:t>"logs"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147" y="2509299"/>
            <a:ext cx="2868151" cy="395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8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Models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Logistic regression using </a:t>
            </a:r>
            <a:r>
              <a:rPr lang="en-US" b="1" dirty="0" smtClean="0">
                <a:latin typeface="Consolas" panose="020B0609020204030204" pitchFamily="49" charset="0"/>
              </a:rPr>
              <a:t>tensorflow</a:t>
            </a:r>
            <a:endParaRPr lang="bg-BG" b="1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28948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Logistic Regression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Data: Iris dataset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Prepare the output – one-hot encoding</a:t>
            </a:r>
          </a:p>
          <a:p>
            <a:endParaRPr lang="en-US" dirty="0"/>
          </a:p>
          <a:p>
            <a:r>
              <a:rPr lang="en-US" dirty="0" smtClean="0"/>
              <a:t>Define the model</a:t>
            </a:r>
          </a:p>
          <a:p>
            <a:pPr lvl="1"/>
            <a:r>
              <a:rPr lang="en-US" dirty="0" smtClean="0"/>
              <a:t>I'm doing the 3 LRs at once (with the same inputs)</a:t>
            </a:r>
          </a:p>
          <a:p>
            <a:pPr lvl="2"/>
            <a:r>
              <a:rPr lang="en-US" dirty="0" smtClean="0"/>
              <a:t>Equivalent results to </a:t>
            </a:r>
            <a:r>
              <a:rPr lang="en-US" dirty="0" smtClean="0">
                <a:latin typeface="Consolas" panose="020B0609020204030204" pitchFamily="49" charset="0"/>
              </a:rPr>
              <a:t>scikit-learn</a:t>
            </a:r>
            <a:r>
              <a:rPr lang="en-US" dirty="0" smtClean="0"/>
              <a:t>'s one-vs-rest strategy</a:t>
            </a:r>
          </a:p>
          <a:p>
            <a:pPr lvl="1"/>
            <a:r>
              <a:rPr lang="en-US" dirty="0" smtClean="0"/>
              <a:t>We can inspect it after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11</a:t>
            </a:fld>
            <a:endParaRPr lang="bg-BG"/>
          </a:p>
        </p:txBody>
      </p:sp>
      <p:sp>
        <p:nvSpPr>
          <p:cNvPr id="8" name="TextBox 7"/>
          <p:cNvSpPr txBox="1"/>
          <p:nvPr/>
        </p:nvSpPr>
        <p:spPr>
          <a:xfrm>
            <a:off x="598338" y="2960255"/>
            <a:ext cx="9119240" cy="369332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labels_onehot = tf.one_hot(labels, depth = 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).numpy()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341" y="1290424"/>
            <a:ext cx="9119237" cy="923330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00"/>
                </a:solidFill>
              </a:rPr>
              <a:t> sklearn.datasets </a:t>
            </a:r>
            <a:r>
              <a:rPr lang="en-US" dirty="0">
                <a:solidFill>
                  <a:srgbClr val="0000FF"/>
                </a:solidFill>
              </a:rPr>
              <a:t>import</a:t>
            </a:r>
            <a:r>
              <a:rPr lang="en-US" dirty="0">
                <a:solidFill>
                  <a:srgbClr val="000000"/>
                </a:solidFill>
              </a:rPr>
              <a:t> load_iris</a:t>
            </a:r>
          </a:p>
          <a:p>
            <a:r>
              <a:rPr lang="en-US" dirty="0">
                <a:solidFill>
                  <a:srgbClr val="000000"/>
                </a:solidFill>
              </a:rPr>
              <a:t>iris = load_iris()</a:t>
            </a:r>
          </a:p>
          <a:p>
            <a:r>
              <a:rPr lang="en-US" dirty="0">
                <a:solidFill>
                  <a:srgbClr val="000000"/>
                </a:solidFill>
              </a:rPr>
              <a:t>attributes, labels = </a:t>
            </a:r>
            <a:r>
              <a:rPr lang="en-US" dirty="0" smtClean="0">
                <a:solidFill>
                  <a:srgbClr val="000000"/>
                </a:solidFill>
              </a:rPr>
              <a:t>iris.data, iris.target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8338" y="5279724"/>
            <a:ext cx="9119240" cy="1200329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model = tf.keras.models.Sequential([</a:t>
            </a:r>
          </a:p>
          <a:p>
            <a:r>
              <a:rPr lang="en-US" dirty="0">
                <a:solidFill>
                  <a:srgbClr val="000000"/>
                </a:solidFill>
              </a:rPr>
              <a:t>    tf.keras.layers.Input(shape = (</a:t>
            </a:r>
            <a:r>
              <a:rPr lang="en-US" dirty="0">
                <a:solidFill>
                  <a:srgbClr val="09885A"/>
                </a:solidFill>
              </a:rPr>
              <a:t>4</a:t>
            </a:r>
            <a:r>
              <a:rPr lang="en-US" dirty="0">
                <a:solidFill>
                  <a:srgbClr val="000000"/>
                </a:solidFill>
              </a:rPr>
              <a:t>,)),  </a:t>
            </a:r>
            <a:r>
              <a:rPr lang="en-US" dirty="0">
                <a:solidFill>
                  <a:srgbClr val="008000"/>
                </a:solidFill>
              </a:rPr>
              <a:t># Not </a:t>
            </a:r>
            <a:r>
              <a:rPr lang="en-US" dirty="0" smtClean="0">
                <a:solidFill>
                  <a:srgbClr val="008000"/>
                </a:solidFill>
              </a:rPr>
              <a:t>required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    tf.keras.layers.Dense(</a:t>
            </a:r>
            <a:r>
              <a:rPr lang="en-US" dirty="0">
                <a:solidFill>
                  <a:srgbClr val="09885A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, activation = </a:t>
            </a:r>
            <a:r>
              <a:rPr lang="en-US" dirty="0">
                <a:solidFill>
                  <a:srgbClr val="A31515"/>
                </a:solidFill>
              </a:rPr>
              <a:t>"sigmoid"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])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25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Logistic Regression (2)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Compile the model</a:t>
            </a:r>
          </a:p>
          <a:p>
            <a:pPr lvl="1"/>
            <a:r>
              <a:rPr lang="en-US" dirty="0" smtClean="0"/>
              <a:t>Specify the loss function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r>
              <a:rPr lang="en-US" dirty="0" smtClean="0"/>
              <a:t>Fit the model</a:t>
            </a:r>
          </a:p>
          <a:p>
            <a:pPr lvl="1"/>
            <a:r>
              <a:rPr lang="en-US" dirty="0" smtClean="0"/>
              <a:t>Of course, you can use train / test splits, etc.</a:t>
            </a:r>
          </a:p>
          <a:p>
            <a:pPr lvl="1"/>
            <a:endParaRPr lang="en-US" dirty="0"/>
          </a:p>
          <a:p>
            <a:r>
              <a:rPr lang="en-US" dirty="0" smtClean="0"/>
              <a:t>View the results and see some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12</a:t>
            </a:fld>
            <a:endParaRPr lang="bg-BG"/>
          </a:p>
        </p:txBody>
      </p:sp>
      <p:sp>
        <p:nvSpPr>
          <p:cNvPr id="8" name="TextBox 7"/>
          <p:cNvSpPr txBox="1"/>
          <p:nvPr/>
        </p:nvSpPr>
        <p:spPr>
          <a:xfrm>
            <a:off x="598338" y="1871287"/>
            <a:ext cx="9119240" cy="369332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model.compile(optimizer = </a:t>
            </a:r>
            <a:r>
              <a:rPr lang="en-US" dirty="0">
                <a:solidFill>
                  <a:srgbClr val="A31515"/>
                </a:solidFill>
              </a:rPr>
              <a:t>"adam"</a:t>
            </a:r>
            <a:r>
              <a:rPr lang="en-US" dirty="0">
                <a:solidFill>
                  <a:srgbClr val="000000"/>
                </a:solidFill>
              </a:rPr>
              <a:t>, loss = </a:t>
            </a:r>
            <a:r>
              <a:rPr lang="en-US" dirty="0">
                <a:solidFill>
                  <a:srgbClr val="A31515"/>
                </a:solidFill>
              </a:rPr>
              <a:t>"categorical_crossentropy"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338" y="3494030"/>
            <a:ext cx="9119240" cy="369332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 smtClean="0">
                <a:solidFill>
                  <a:srgbClr val="000000"/>
                </a:solidFill>
              </a:rPr>
              <a:t>model.fit(attributes</a:t>
            </a:r>
            <a:r>
              <a:rPr lang="en-US" dirty="0">
                <a:solidFill>
                  <a:srgbClr val="000000"/>
                </a:solidFill>
              </a:rPr>
              <a:t>, labels_onehot, epochs = </a:t>
            </a:r>
            <a:r>
              <a:rPr lang="en-US" dirty="0">
                <a:solidFill>
                  <a:srgbClr val="09885A"/>
                </a:solidFill>
              </a:rPr>
              <a:t>50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338" y="4419514"/>
            <a:ext cx="9119240" cy="2031325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predictions = model.predict(attributes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</a:rPr>
              <a:t/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acc = tf.metrics.categorical_accuracy</a:t>
            </a:r>
            <a:r>
              <a:rPr lang="en-US" dirty="0" smtClean="0">
                <a:solidFill>
                  <a:srgbClr val="000000"/>
                </a:solidFill>
              </a:rPr>
              <a:t>(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labels_onehot,</a:t>
            </a:r>
          </a:p>
          <a:p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  </a:t>
            </a:r>
            <a:r>
              <a:rPr lang="en-US" dirty="0">
                <a:solidFill>
                  <a:srgbClr val="000000"/>
                </a:solidFill>
              </a:rPr>
              <a:t> model.predict(attributes</a:t>
            </a:r>
            <a:r>
              <a:rPr lang="en-US" dirty="0" smtClean="0">
                <a:solidFill>
                  <a:srgbClr val="000000"/>
                </a:solidFill>
              </a:rPr>
              <a:t>))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print</a:t>
            </a:r>
            <a:r>
              <a:rPr lang="en-US" dirty="0" smtClean="0">
                <a:solidFill>
                  <a:srgbClr val="000000"/>
                </a:solidFill>
              </a:rPr>
              <a:t>(tf.math.reduce_mean(acc</a:t>
            </a:r>
            <a:r>
              <a:rPr lang="en-US" dirty="0">
                <a:solidFill>
                  <a:srgbClr val="000000"/>
                </a:solidFill>
              </a:rPr>
              <a:t>).numpy</a:t>
            </a:r>
            <a:r>
              <a:rPr lang="en-US" dirty="0" smtClean="0">
                <a:solidFill>
                  <a:srgbClr val="000000"/>
                </a:solidFill>
              </a:rPr>
              <a:t>())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8000"/>
                </a:solidFill>
              </a:rPr>
              <a:t># or add, metrics = </a:t>
            </a:r>
            <a:r>
              <a:rPr lang="en-US" dirty="0" smtClean="0">
                <a:solidFill>
                  <a:srgbClr val="008000"/>
                </a:solidFill>
              </a:rPr>
              <a:t>["categorical_accuracy"]</a:t>
            </a:r>
            <a:r>
              <a:rPr lang="en-US" dirty="0">
                <a:solidFill>
                  <a:srgbClr val="008000"/>
                </a:solidFill>
              </a:rPr>
              <a:t> to model.compile()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407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Neural Networks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Going deeper</a:t>
            </a:r>
            <a:endParaRPr lang="bg-BG" b="1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65870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Deep Feed-Forward Neural Network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Many 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perceptrons</a:t>
                </a:r>
                <a:r>
                  <a:rPr lang="en-US" dirty="0" smtClean="0"/>
                  <a:t> arranged</a:t>
                </a:r>
                <a:br>
                  <a:rPr lang="en-US" dirty="0" smtClean="0"/>
                </a:br>
                <a:r>
                  <a:rPr lang="en-US" dirty="0" smtClean="0"/>
                  <a:t>in 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layers</a:t>
                </a:r>
              </a:p>
              <a:p>
                <a:pPr lvl="1"/>
                <a:r>
                  <a:rPr lang="en-US" b="1" dirty="0" smtClean="0"/>
                  <a:t>Input</a:t>
                </a:r>
                <a:r>
                  <a:rPr lang="en-US" dirty="0" smtClean="0"/>
                  <a:t> layer</a:t>
                </a:r>
              </a:p>
              <a:p>
                <a:pPr lvl="1"/>
                <a:r>
                  <a:rPr lang="en-US" b="1" dirty="0" smtClean="0"/>
                  <a:t>Hidden</a:t>
                </a:r>
                <a:r>
                  <a:rPr lang="en-US" dirty="0" smtClean="0"/>
                  <a:t> layers</a:t>
                </a:r>
              </a:p>
              <a:p>
                <a:pPr lvl="1"/>
                <a:r>
                  <a:rPr lang="en-US" b="1" dirty="0" smtClean="0"/>
                  <a:t>Output</a:t>
                </a:r>
                <a:r>
                  <a:rPr lang="en-US" dirty="0" smtClean="0"/>
                  <a:t> layer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Computing output: forward propagation</a:t>
                </a:r>
              </a:p>
              <a:p>
                <a:r>
                  <a:rPr lang="en-US" dirty="0" smtClean="0"/>
                  <a:t>Training: backpropagation</a:t>
                </a:r>
              </a:p>
              <a:p>
                <a:r>
                  <a:rPr lang="en-US" dirty="0" smtClean="0"/>
                  <a:t>We can do this using the low-level API</a:t>
                </a:r>
              </a:p>
              <a:p>
                <a:pPr lvl="1"/>
                <a:r>
                  <a:rPr lang="en-US" dirty="0" smtClean="0"/>
                  <a:t>If you want to implement this, don't forget</a:t>
                </a:r>
              </a:p>
              <a:p>
                <a:pPr lvl="2"/>
                <a:r>
                  <a:rPr lang="en-US" dirty="0" smtClean="0"/>
                  <a:t>Bias term for each layer</a:t>
                </a:r>
              </a:p>
              <a:p>
                <a:pPr lvl="2"/>
                <a:r>
                  <a:rPr lang="en-US" dirty="0" smtClean="0"/>
                  <a:t>Activation function</a:t>
                </a:r>
              </a:p>
              <a:p>
                <a:pPr lvl="2"/>
                <a:r>
                  <a:rPr lang="en-US" dirty="0" smtClean="0"/>
                  <a:t>Random weight initialization (small numbers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 b="-1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14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189" y="600914"/>
            <a:ext cx="3765666" cy="303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87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MNIST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Load and normalize the data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r>
              <a:rPr lang="en-US" dirty="0" smtClean="0"/>
              <a:t>Create and evaluate the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15</a:t>
            </a:fld>
            <a:endParaRPr lang="bg-BG"/>
          </a:p>
        </p:txBody>
      </p:sp>
      <p:sp>
        <p:nvSpPr>
          <p:cNvPr id="6" name="TextBox 5"/>
          <p:cNvSpPr txBox="1"/>
          <p:nvPr/>
        </p:nvSpPr>
        <p:spPr>
          <a:xfrm>
            <a:off x="581715" y="1289179"/>
            <a:ext cx="8703600" cy="1200329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 smtClean="0">
                <a:solidFill>
                  <a:srgbClr val="000000"/>
                </a:solidFill>
              </a:rPr>
              <a:t>mnist = tf.keras.datasets.mnist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/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(x_train, y_train), (x_test, y_test) = mnist.load_data()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x_train, x_test = x_train / </a:t>
            </a:r>
            <a:r>
              <a:rPr lang="en-US" dirty="0" smtClean="0">
                <a:solidFill>
                  <a:srgbClr val="09885A"/>
                </a:solidFill>
              </a:rPr>
              <a:t>255.0</a:t>
            </a:r>
            <a:r>
              <a:rPr lang="en-US" dirty="0" smtClean="0">
                <a:solidFill>
                  <a:srgbClr val="000000"/>
                </a:solidFill>
              </a:rPr>
              <a:t>, x_test / </a:t>
            </a:r>
            <a:r>
              <a:rPr lang="en-US" dirty="0" smtClean="0">
                <a:solidFill>
                  <a:srgbClr val="09885A"/>
                </a:solidFill>
              </a:rPr>
              <a:t>255.0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1715" y="2968197"/>
            <a:ext cx="8703600" cy="2585323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model = </a:t>
            </a:r>
            <a:r>
              <a:rPr lang="en-US" dirty="0" smtClean="0">
                <a:solidFill>
                  <a:srgbClr val="000000"/>
                </a:solidFill>
              </a:rPr>
              <a:t>Sequential</a:t>
            </a:r>
            <a:r>
              <a:rPr lang="en-US" dirty="0">
                <a:solidFill>
                  <a:srgbClr val="000000"/>
                </a:solidFill>
              </a:rPr>
              <a:t>([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    Flatten</a:t>
            </a:r>
            <a:r>
              <a:rPr lang="en-US" dirty="0">
                <a:solidFill>
                  <a:srgbClr val="000000"/>
                </a:solidFill>
              </a:rPr>
              <a:t>(),</a:t>
            </a:r>
          </a:p>
          <a:p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   Dense(</a:t>
            </a:r>
            <a:r>
              <a:rPr lang="en-US" dirty="0" smtClean="0">
                <a:solidFill>
                  <a:srgbClr val="09885A"/>
                </a:solidFill>
              </a:rPr>
              <a:t>512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smtClean="0">
                <a:solidFill>
                  <a:srgbClr val="000000"/>
                </a:solidFill>
              </a:rPr>
              <a:t>activation = </a:t>
            </a:r>
            <a:r>
              <a:rPr lang="en-US" dirty="0" smtClean="0">
                <a:solidFill>
                  <a:srgbClr val="A31515"/>
                </a:solidFill>
              </a:rPr>
              <a:t>"relu"</a:t>
            </a:r>
            <a:r>
              <a:rPr lang="en-US" dirty="0" smtClean="0">
                <a:solidFill>
                  <a:srgbClr val="000000"/>
                </a:solidFill>
              </a:rPr>
              <a:t>),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    Dropout(</a:t>
            </a:r>
            <a:r>
              <a:rPr lang="en-US" dirty="0" smtClean="0">
                <a:solidFill>
                  <a:srgbClr val="09885A"/>
                </a:solidFill>
              </a:rPr>
              <a:t>0.2</a:t>
            </a:r>
            <a:r>
              <a:rPr lang="en-US" dirty="0">
                <a:solidFill>
                  <a:srgbClr val="000000"/>
                </a:solidFill>
              </a:rPr>
              <a:t>),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    Dense(</a:t>
            </a:r>
            <a:r>
              <a:rPr lang="en-US" dirty="0" smtClean="0">
                <a:solidFill>
                  <a:srgbClr val="09885A"/>
                </a:solidFill>
              </a:rPr>
              <a:t>10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smtClean="0">
                <a:solidFill>
                  <a:srgbClr val="000000"/>
                </a:solidFill>
              </a:rPr>
              <a:t>activation = </a:t>
            </a:r>
            <a:r>
              <a:rPr lang="en-US" dirty="0" smtClean="0">
                <a:solidFill>
                  <a:srgbClr val="A31515"/>
                </a:solidFill>
              </a:rPr>
              <a:t>"softmax"</a:t>
            </a:r>
            <a:r>
              <a:rPr lang="en-US" dirty="0" smtClean="0">
                <a:solidFill>
                  <a:srgbClr val="000000"/>
                </a:solidFill>
              </a:rPr>
              <a:t>)])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model.compile(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    optimizer = </a:t>
            </a:r>
            <a:r>
              <a:rPr lang="en-US" dirty="0" smtClean="0">
                <a:solidFill>
                  <a:srgbClr val="A31515"/>
                </a:solidFill>
              </a:rPr>
              <a:t>"adam"</a:t>
            </a:r>
            <a:r>
              <a:rPr lang="en-US" dirty="0" smtClean="0">
                <a:solidFill>
                  <a:srgbClr val="000000"/>
                </a:solidFill>
              </a:rPr>
              <a:t>,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    loss = </a:t>
            </a:r>
            <a:r>
              <a:rPr lang="en-US" dirty="0">
                <a:solidFill>
                  <a:srgbClr val="A31515"/>
                </a:solidFill>
              </a:rPr>
              <a:t>"sparse_categorical_crossentropy"</a:t>
            </a:r>
            <a:r>
              <a:rPr lang="en-US" dirty="0">
                <a:solidFill>
                  <a:srgbClr val="000000"/>
                </a:solidFill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</a:rPr>
              <a:t>    metrics = [</a:t>
            </a:r>
            <a:r>
              <a:rPr lang="en-US" dirty="0">
                <a:solidFill>
                  <a:srgbClr val="A31515"/>
                </a:solidFill>
              </a:rPr>
              <a:t>"accuracy</a:t>
            </a:r>
            <a:r>
              <a:rPr lang="en-US" dirty="0" smtClean="0">
                <a:solidFill>
                  <a:srgbClr val="A31515"/>
                </a:solidFill>
              </a:rPr>
              <a:t>"</a:t>
            </a:r>
            <a:r>
              <a:rPr lang="en-US" dirty="0" smtClean="0">
                <a:solidFill>
                  <a:srgbClr val="000000"/>
                </a:solidFill>
              </a:rPr>
              <a:t>])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1715" y="5719707"/>
            <a:ext cx="8703600" cy="923330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model.fit(x_train, y_train, </a:t>
            </a:r>
            <a:r>
              <a:rPr lang="en-US" dirty="0" smtClean="0">
                <a:solidFill>
                  <a:srgbClr val="000000"/>
                </a:solidFill>
              </a:rPr>
              <a:t>epochs = </a:t>
            </a:r>
            <a:r>
              <a:rPr lang="en-US" dirty="0" smtClean="0">
                <a:solidFill>
                  <a:srgbClr val="09885A"/>
                </a:solidFill>
              </a:rPr>
              <a:t>5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</a:rPr>
              <a:t>model.evaluate(x_test, y_test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</a:p>
          <a:p>
            <a:r>
              <a:rPr lang="en-US" dirty="0">
                <a:solidFill>
                  <a:srgbClr val="008000"/>
                </a:solidFill>
              </a:rPr>
              <a:t># or add validation_data = (x_test, y_test) to model.fit</a:t>
            </a:r>
            <a:r>
              <a:rPr lang="en-US" dirty="0" smtClean="0">
                <a:solidFill>
                  <a:srgbClr val="008000"/>
                </a:solidFill>
              </a:rPr>
              <a:t>()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758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Computational graphs</a:t>
            </a:r>
          </a:p>
          <a:p>
            <a:r>
              <a:rPr lang="en-US" dirty="0"/>
              <a:t>Simple models with </a:t>
            </a:r>
            <a:r>
              <a:rPr lang="en-US" dirty="0">
                <a:latin typeface="Consolas" panose="020B0609020204030204" pitchFamily="49" charset="0"/>
              </a:rPr>
              <a:t>tensorflow</a:t>
            </a:r>
          </a:p>
          <a:p>
            <a:pPr lvl="1"/>
            <a:r>
              <a:rPr lang="en-US" dirty="0"/>
              <a:t>Low-level API</a:t>
            </a:r>
          </a:p>
          <a:p>
            <a:r>
              <a:rPr lang="en-US" dirty="0"/>
              <a:t>Building neural networks</a:t>
            </a:r>
          </a:p>
          <a:p>
            <a:r>
              <a:rPr lang="en-US" dirty="0"/>
              <a:t>Regularization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9343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96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2D89"/>
      </a:hlink>
      <a:folHlink>
        <a:srgbClr val="002060"/>
      </a:folHlink>
    </a:clrScheme>
    <a:fontScheme name="Modern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438</Words>
  <Application>Microsoft Office PowerPoint</Application>
  <PresentationFormat>Widescreen</PresentationFormat>
  <Paragraphs>182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Cambria Math</vt:lpstr>
      <vt:lpstr>Consolas</vt:lpstr>
      <vt:lpstr>Lato</vt:lpstr>
      <vt:lpstr>Montserrat Medium</vt:lpstr>
      <vt:lpstr>Open Sans</vt:lpstr>
      <vt:lpstr>Wingdings</vt:lpstr>
      <vt:lpstr>Office Theme</vt:lpstr>
      <vt:lpstr>Introduction to Deep Learning</vt:lpstr>
      <vt:lpstr>sli.do #DeepLearning</vt:lpstr>
      <vt:lpstr>Table of Contents</vt:lpstr>
      <vt:lpstr>Computational Graphs</vt:lpstr>
      <vt:lpstr>Installing tensorflow</vt:lpstr>
      <vt:lpstr>Computational Graphs in tensorflow</vt:lpstr>
      <vt:lpstr>Computational Graphs in tensorflow (2)</vt:lpstr>
      <vt:lpstr>Computational Graphs in tensorflow (3)</vt:lpstr>
      <vt:lpstr>Visualizing the Graph</vt:lpstr>
      <vt:lpstr>Linear Models</vt:lpstr>
      <vt:lpstr>Logistic Regression</vt:lpstr>
      <vt:lpstr>Logistic Regression (2)</vt:lpstr>
      <vt:lpstr>Neural Networks</vt:lpstr>
      <vt:lpstr>Deep Feed-Forward Neural Network</vt:lpstr>
      <vt:lpstr>Example: MNIST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Yordan Darakchiev</dc:creator>
  <cp:lastModifiedBy>Yordan Darakchiev</cp:lastModifiedBy>
  <cp:revision>96</cp:revision>
  <dcterms:created xsi:type="dcterms:W3CDTF">2017-09-11T12:40:37Z</dcterms:created>
  <dcterms:modified xsi:type="dcterms:W3CDTF">2020-12-02T12:59:23Z</dcterms:modified>
</cp:coreProperties>
</file>