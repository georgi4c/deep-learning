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5" r:id="rId3"/>
    <p:sldId id="262" r:id="rId4"/>
    <p:sldId id="263" r:id="rId5"/>
    <p:sldId id="306" r:id="rId6"/>
    <p:sldId id="307" r:id="rId7"/>
    <p:sldId id="279" r:id="rId8"/>
    <p:sldId id="309" r:id="rId9"/>
    <p:sldId id="289" r:id="rId10"/>
    <p:sldId id="286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2" r:id="rId21"/>
    <p:sldId id="303" r:id="rId22"/>
    <p:sldId id="304" r:id="rId23"/>
    <p:sldId id="261" r:id="rId24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2196F3"/>
    <a:srgbClr val="8BC34A"/>
    <a:srgbClr val="3F51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 userDrawn="1"/>
        </p:nvGrpSpPr>
        <p:grpSpPr>
          <a:xfrm>
            <a:off x="3810" y="-7619"/>
            <a:ext cx="12191998" cy="6880134"/>
            <a:chOff x="3810" y="-1"/>
            <a:chExt cx="12191998" cy="6858001"/>
          </a:xfrm>
        </p:grpSpPr>
        <p:sp>
          <p:nvSpPr>
            <p:cNvPr id="109" name="Freeform 108"/>
            <p:cNvSpPr/>
            <p:nvPr userDrawn="1"/>
          </p:nvSpPr>
          <p:spPr>
            <a:xfrm>
              <a:off x="1803400" y="0"/>
              <a:ext cx="10392408" cy="6858000"/>
            </a:xfrm>
            <a:custGeom>
              <a:avLst/>
              <a:gdLst>
                <a:gd name="connsiteX0" fmla="*/ 0 w 10392408"/>
                <a:gd name="connsiteY0" fmla="*/ 0 h 6858000"/>
                <a:gd name="connsiteX1" fmla="*/ 6534783 w 10392408"/>
                <a:gd name="connsiteY1" fmla="*/ 0 h 6858000"/>
                <a:gd name="connsiteX2" fmla="*/ 6658608 w 10392408"/>
                <a:gd name="connsiteY2" fmla="*/ 0 h 6858000"/>
                <a:gd name="connsiteX3" fmla="*/ 9106533 w 10392408"/>
                <a:gd name="connsiteY3" fmla="*/ 0 h 6858000"/>
                <a:gd name="connsiteX4" fmla="*/ 10392408 w 10392408"/>
                <a:gd name="connsiteY4" fmla="*/ 6858000 h 6858000"/>
                <a:gd name="connsiteX5" fmla="*/ 6658608 w 10392408"/>
                <a:gd name="connsiteY5" fmla="*/ 6858000 h 6858000"/>
                <a:gd name="connsiteX6" fmla="*/ 5248908 w 10392408"/>
                <a:gd name="connsiteY6" fmla="*/ 6858000 h 6858000"/>
                <a:gd name="connsiteX7" fmla="*/ 0 w 1039240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92408" h="6858000">
                  <a:moveTo>
                    <a:pt x="0" y="0"/>
                  </a:moveTo>
                  <a:lnTo>
                    <a:pt x="6534783" y="0"/>
                  </a:lnTo>
                  <a:lnTo>
                    <a:pt x="6658608" y="0"/>
                  </a:lnTo>
                  <a:lnTo>
                    <a:pt x="9106533" y="0"/>
                  </a:lnTo>
                  <a:lnTo>
                    <a:pt x="10392408" y="6858000"/>
                  </a:lnTo>
                  <a:lnTo>
                    <a:pt x="6658608" y="6858000"/>
                  </a:lnTo>
                  <a:lnTo>
                    <a:pt x="524890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5" name="Freeform 104"/>
            <p:cNvSpPr/>
            <p:nvPr userDrawn="1"/>
          </p:nvSpPr>
          <p:spPr>
            <a:xfrm>
              <a:off x="1943102" y="-1"/>
              <a:ext cx="9842498" cy="6858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0" name="Freeform 89"/>
            <p:cNvSpPr/>
            <p:nvPr userDrawn="1"/>
          </p:nvSpPr>
          <p:spPr>
            <a:xfrm rot="10800000">
              <a:off x="3810" y="-1"/>
              <a:ext cx="1939290" cy="6858000"/>
            </a:xfrm>
            <a:custGeom>
              <a:avLst/>
              <a:gdLst>
                <a:gd name="connsiteX0" fmla="*/ 1939290 w 1939290"/>
                <a:gd name="connsiteY0" fmla="*/ 6858000 h 6858000"/>
                <a:gd name="connsiteX1" fmla="*/ 0 w 1939290"/>
                <a:gd name="connsiteY1" fmla="*/ 6858000 h 6858000"/>
                <a:gd name="connsiteX2" fmla="*/ 0 w 1939290"/>
                <a:gd name="connsiteY2" fmla="*/ 0 h 6858000"/>
                <a:gd name="connsiteX3" fmla="*/ 653415 w 193929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290" h="6858000">
                  <a:moveTo>
                    <a:pt x="193929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65341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8" name="Freeform 87"/>
            <p:cNvSpPr/>
            <p:nvPr userDrawn="1"/>
          </p:nvSpPr>
          <p:spPr>
            <a:xfrm rot="10800000">
              <a:off x="419100" y="-1"/>
              <a:ext cx="1524000" cy="6858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2960" y="137160"/>
            <a:ext cx="9688467" cy="1988820"/>
          </a:xfrm>
        </p:spPr>
        <p:txBody>
          <a:bodyPr anchor="b">
            <a:normAutofit/>
          </a:bodyPr>
          <a:lstStyle>
            <a:lvl1pPr algn="r">
              <a:defRPr sz="52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97280" y="2153510"/>
            <a:ext cx="9414147" cy="1390311"/>
          </a:xfrm>
        </p:spPr>
        <p:txBody>
          <a:bodyPr>
            <a:normAutofit/>
          </a:bodyPr>
          <a:lstStyle>
            <a:lvl1pPr marL="0" indent="0" algn="r">
              <a:buNone/>
              <a:defRPr sz="3200" b="0" i="0" strike="noStrike" baseline="0">
                <a:solidFill>
                  <a:srgbClr val="2196F3"/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Main topics</a:t>
            </a:r>
            <a:endParaRPr lang="bg-BG" dirty="0"/>
          </a:p>
        </p:txBody>
      </p:sp>
      <p:sp>
        <p:nvSpPr>
          <p:cNvPr id="113" name="Text Placeholder 112"/>
          <p:cNvSpPr>
            <a:spLocks noGrp="1"/>
          </p:cNvSpPr>
          <p:nvPr>
            <p:ph type="body" sz="quarter" idx="10" hasCustomPrompt="1"/>
          </p:nvPr>
        </p:nvSpPr>
        <p:spPr>
          <a:xfrm>
            <a:off x="1803399" y="5339499"/>
            <a:ext cx="4281486" cy="489744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4D4D4D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 smtClean="0"/>
              <a:t>Name</a:t>
            </a:r>
            <a:endParaRPr lang="bg-BG" dirty="0"/>
          </a:p>
        </p:txBody>
      </p:sp>
      <p:sp>
        <p:nvSpPr>
          <p:cNvPr id="114" name="Text Placeholder 112"/>
          <p:cNvSpPr>
            <a:spLocks noGrp="1"/>
          </p:cNvSpPr>
          <p:nvPr>
            <p:ph type="body" sz="quarter" idx="11" hasCustomPrompt="1"/>
          </p:nvPr>
        </p:nvSpPr>
        <p:spPr>
          <a:xfrm>
            <a:off x="1803399" y="5829300"/>
            <a:ext cx="4281487" cy="36830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>
                    <a:lumMod val="65000"/>
                  </a:schemeClr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bg-BG" dirty="0"/>
          </a:p>
        </p:txBody>
      </p:sp>
      <p:sp>
        <p:nvSpPr>
          <p:cNvPr id="115" name="Text Placeholder 112"/>
          <p:cNvSpPr>
            <a:spLocks noGrp="1"/>
          </p:cNvSpPr>
          <p:nvPr>
            <p:ph type="body" sz="quarter" idx="12" hasCustomPrompt="1"/>
          </p:nvPr>
        </p:nvSpPr>
        <p:spPr>
          <a:xfrm>
            <a:off x="1803398" y="6221072"/>
            <a:ext cx="4281487" cy="446428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rgbClr val="2196F3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 smtClean="0"/>
              <a:t>Email</a:t>
            </a:r>
            <a:endParaRPr lang="bg-BG" dirty="0"/>
          </a:p>
        </p:txBody>
      </p:sp>
      <p:sp>
        <p:nvSpPr>
          <p:cNvPr id="120" name="Picture Placeholder 119"/>
          <p:cNvSpPr>
            <a:spLocks noGrp="1"/>
          </p:cNvSpPr>
          <p:nvPr>
            <p:ph type="pic" sz="quarter" idx="13"/>
          </p:nvPr>
        </p:nvSpPr>
        <p:spPr>
          <a:xfrm>
            <a:off x="8055882" y="4202112"/>
            <a:ext cx="2466975" cy="2465388"/>
          </a:xfrm>
        </p:spPr>
        <p:txBody>
          <a:bodyPr/>
          <a:lstStyle>
            <a:lvl1pPr marL="0" indent="0">
              <a:buNone/>
              <a:defRPr>
                <a:latin typeface="+mn-lt"/>
                <a:cs typeface="Calibri" panose="020F0502020204030204" pitchFamily="34" charset="0"/>
              </a:defRPr>
            </a:lvl1pPr>
          </a:lstStyle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65761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350" y="0"/>
            <a:ext cx="12192000" cy="6858000"/>
            <a:chOff x="-6350" y="0"/>
            <a:chExt cx="12192000" cy="6858000"/>
          </a:xfrm>
        </p:grpSpPr>
        <p:sp>
          <p:nvSpPr>
            <p:cNvPr id="13" name="Freeform 12"/>
            <p:cNvSpPr/>
            <p:nvPr userDrawn="1"/>
          </p:nvSpPr>
          <p:spPr>
            <a:xfrm>
              <a:off x="-635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8334375 w 12192000"/>
                <a:gd name="connsiteY1" fmla="*/ 0 h 6858000"/>
                <a:gd name="connsiteX2" fmla="*/ 8458200 w 12192000"/>
                <a:gd name="connsiteY2" fmla="*/ 0 h 6858000"/>
                <a:gd name="connsiteX3" fmla="*/ 10906125 w 12192000"/>
                <a:gd name="connsiteY3" fmla="*/ 0 h 6858000"/>
                <a:gd name="connsiteX4" fmla="*/ 12192000 w 12192000"/>
                <a:gd name="connsiteY4" fmla="*/ 6858000 h 6858000"/>
                <a:gd name="connsiteX5" fmla="*/ 8458200 w 12192000"/>
                <a:gd name="connsiteY5" fmla="*/ 6858000 h 6858000"/>
                <a:gd name="connsiteX6" fmla="*/ 70485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8334375" y="0"/>
                  </a:lnTo>
                  <a:lnTo>
                    <a:pt x="8458200" y="0"/>
                  </a:lnTo>
                  <a:lnTo>
                    <a:pt x="10906125" y="0"/>
                  </a:lnTo>
                  <a:lnTo>
                    <a:pt x="12192000" y="6858000"/>
                  </a:lnTo>
                  <a:lnTo>
                    <a:pt x="8458200" y="6858000"/>
                  </a:lnTo>
                  <a:lnTo>
                    <a:pt x="70485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Freeform 8"/>
            <p:cNvSpPr/>
            <p:nvPr userDrawn="1"/>
          </p:nvSpPr>
          <p:spPr>
            <a:xfrm>
              <a:off x="0" y="0"/>
              <a:ext cx="11969750" cy="6858000"/>
            </a:xfrm>
            <a:custGeom>
              <a:avLst/>
              <a:gdLst>
                <a:gd name="connsiteX0" fmla="*/ 0 w 11969750"/>
                <a:gd name="connsiteY0" fmla="*/ 0 h 6858000"/>
                <a:gd name="connsiteX1" fmla="*/ 8112125 w 11969750"/>
                <a:gd name="connsiteY1" fmla="*/ 0 h 6858000"/>
                <a:gd name="connsiteX2" fmla="*/ 8235950 w 11969750"/>
                <a:gd name="connsiteY2" fmla="*/ 0 h 6858000"/>
                <a:gd name="connsiteX3" fmla="*/ 10683875 w 11969750"/>
                <a:gd name="connsiteY3" fmla="*/ 0 h 6858000"/>
                <a:gd name="connsiteX4" fmla="*/ 11969750 w 11969750"/>
                <a:gd name="connsiteY4" fmla="*/ 6858000 h 6858000"/>
                <a:gd name="connsiteX5" fmla="*/ 8235950 w 11969750"/>
                <a:gd name="connsiteY5" fmla="*/ 6858000 h 6858000"/>
                <a:gd name="connsiteX6" fmla="*/ 6826250 w 11969750"/>
                <a:gd name="connsiteY6" fmla="*/ 6858000 h 6858000"/>
                <a:gd name="connsiteX7" fmla="*/ 0 w 1196975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69750" h="6858000">
                  <a:moveTo>
                    <a:pt x="0" y="0"/>
                  </a:moveTo>
                  <a:lnTo>
                    <a:pt x="8112125" y="0"/>
                  </a:lnTo>
                  <a:lnTo>
                    <a:pt x="8235950" y="0"/>
                  </a:lnTo>
                  <a:lnTo>
                    <a:pt x="10683875" y="0"/>
                  </a:lnTo>
                  <a:lnTo>
                    <a:pt x="11969750" y="6858000"/>
                  </a:lnTo>
                  <a:lnTo>
                    <a:pt x="8235950" y="6858000"/>
                  </a:lnTo>
                  <a:lnTo>
                    <a:pt x="682625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18212" y="0"/>
            <a:ext cx="11720942" cy="831273"/>
          </a:xfrm>
        </p:spPr>
        <p:txBody>
          <a:bodyPr>
            <a:normAutofit/>
          </a:bodyPr>
          <a:lstStyle>
            <a:lvl1pPr algn="l">
              <a:defRPr sz="4000" baseline="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Slide Title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211" y="852055"/>
            <a:ext cx="11720941" cy="586942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3000">
                <a:solidFill>
                  <a:srgbClr val="4D4D4D"/>
                </a:solidFill>
              </a:defRPr>
            </a:lvl1pPr>
            <a:lvl2pPr marL="685800" indent="-228600">
              <a:buFont typeface="Wingdings" panose="05000000000000000000" pitchFamily="2" charset="2"/>
              <a:buChar char="§"/>
              <a:defRPr sz="2600">
                <a:solidFill>
                  <a:srgbClr val="4D4D4D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 sz="2200">
                <a:solidFill>
                  <a:srgbClr val="4D4D4D"/>
                </a:solidFill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>
                <a:solidFill>
                  <a:srgbClr val="4D4D4D"/>
                </a:solidFill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1443853" y="6424612"/>
            <a:ext cx="422564" cy="365125"/>
          </a:xfrm>
        </p:spPr>
        <p:txBody>
          <a:bodyPr/>
          <a:lstStyle/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62723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572770" y="0"/>
            <a:ext cx="11619230" cy="6858000"/>
            <a:chOff x="572770" y="0"/>
            <a:chExt cx="11619230" cy="6858000"/>
          </a:xfrm>
        </p:grpSpPr>
        <p:sp>
          <p:nvSpPr>
            <p:cNvPr id="19" name="Freeform 18"/>
            <p:cNvSpPr/>
            <p:nvPr userDrawn="1"/>
          </p:nvSpPr>
          <p:spPr>
            <a:xfrm rot="10800000">
              <a:off x="572770" y="0"/>
              <a:ext cx="11619230" cy="6858000"/>
            </a:xfrm>
            <a:custGeom>
              <a:avLst/>
              <a:gdLst>
                <a:gd name="connsiteX0" fmla="*/ 11619230 w 11619230"/>
                <a:gd name="connsiteY0" fmla="*/ 6858000 h 6858000"/>
                <a:gd name="connsiteX1" fmla="*/ 7885430 w 11619230"/>
                <a:gd name="connsiteY1" fmla="*/ 6858000 h 6858000"/>
                <a:gd name="connsiteX2" fmla="*/ 6475730 w 11619230"/>
                <a:gd name="connsiteY2" fmla="*/ 6858000 h 6858000"/>
                <a:gd name="connsiteX3" fmla="*/ 0 w 11619230"/>
                <a:gd name="connsiteY3" fmla="*/ 6858000 h 6858000"/>
                <a:gd name="connsiteX4" fmla="*/ 0 w 11619230"/>
                <a:gd name="connsiteY4" fmla="*/ 0 h 6858000"/>
                <a:gd name="connsiteX5" fmla="*/ 7761605 w 11619230"/>
                <a:gd name="connsiteY5" fmla="*/ 0 h 6858000"/>
                <a:gd name="connsiteX6" fmla="*/ 7885430 w 11619230"/>
                <a:gd name="connsiteY6" fmla="*/ 0 h 6858000"/>
                <a:gd name="connsiteX7" fmla="*/ 10333355 w 1161923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19230" h="6858000">
                  <a:moveTo>
                    <a:pt x="11619230" y="6858000"/>
                  </a:moveTo>
                  <a:lnTo>
                    <a:pt x="7885430" y="6858000"/>
                  </a:lnTo>
                  <a:lnTo>
                    <a:pt x="647573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761605" y="0"/>
                  </a:lnTo>
                  <a:lnTo>
                    <a:pt x="7885430" y="0"/>
                  </a:lnTo>
                  <a:lnTo>
                    <a:pt x="10333355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Freeform 16"/>
            <p:cNvSpPr/>
            <p:nvPr userDrawn="1"/>
          </p:nvSpPr>
          <p:spPr>
            <a:xfrm rot="10800000">
              <a:off x="988060" y="0"/>
              <a:ext cx="11203940" cy="6858000"/>
            </a:xfrm>
            <a:custGeom>
              <a:avLst/>
              <a:gdLst>
                <a:gd name="connsiteX0" fmla="*/ 11203940 w 11203940"/>
                <a:gd name="connsiteY0" fmla="*/ 6858000 h 6858000"/>
                <a:gd name="connsiteX1" fmla="*/ 7470140 w 11203940"/>
                <a:gd name="connsiteY1" fmla="*/ 6858000 h 6858000"/>
                <a:gd name="connsiteX2" fmla="*/ 6060440 w 11203940"/>
                <a:gd name="connsiteY2" fmla="*/ 6858000 h 6858000"/>
                <a:gd name="connsiteX3" fmla="*/ 0 w 11203940"/>
                <a:gd name="connsiteY3" fmla="*/ 6858000 h 6858000"/>
                <a:gd name="connsiteX4" fmla="*/ 0 w 11203940"/>
                <a:gd name="connsiteY4" fmla="*/ 0 h 6858000"/>
                <a:gd name="connsiteX5" fmla="*/ 7346315 w 11203940"/>
                <a:gd name="connsiteY5" fmla="*/ 0 h 6858000"/>
                <a:gd name="connsiteX6" fmla="*/ 7470140 w 11203940"/>
                <a:gd name="connsiteY6" fmla="*/ 0 h 6858000"/>
                <a:gd name="connsiteX7" fmla="*/ 9918065 w 11203940"/>
                <a:gd name="connsiteY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03940" h="6858000">
                  <a:moveTo>
                    <a:pt x="11203940" y="6858000"/>
                  </a:moveTo>
                  <a:lnTo>
                    <a:pt x="7470140" y="6858000"/>
                  </a:lnTo>
                  <a:lnTo>
                    <a:pt x="6060440" y="6858000"/>
                  </a:lnTo>
                  <a:lnTo>
                    <a:pt x="0" y="6858000"/>
                  </a:lnTo>
                  <a:lnTo>
                    <a:pt x="0" y="0"/>
                  </a:lnTo>
                  <a:lnTo>
                    <a:pt x="7346315" y="0"/>
                  </a:lnTo>
                  <a:lnTo>
                    <a:pt x="7470140" y="0"/>
                  </a:lnTo>
                  <a:lnTo>
                    <a:pt x="991806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930400" y="1709738"/>
            <a:ext cx="9906000" cy="2852737"/>
          </a:xfrm>
        </p:spPr>
        <p:txBody>
          <a:bodyPr anchor="b"/>
          <a:lstStyle>
            <a:lvl1pPr>
              <a:defRPr sz="6000">
                <a:solidFill>
                  <a:srgbClr val="2196F3"/>
                </a:solidFill>
              </a:defRPr>
            </a:lvl1pPr>
          </a:lstStyle>
          <a:p>
            <a:r>
              <a:rPr lang="en-US" dirty="0" smtClean="0"/>
              <a:t>Section Title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2324100" y="4589463"/>
            <a:ext cx="9512300" cy="1500187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D4D4D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4010703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1" y="3812"/>
            <a:ext cx="12195811" cy="6854190"/>
            <a:chOff x="-1" y="3812"/>
            <a:chExt cx="12195811" cy="6854190"/>
          </a:xfrm>
        </p:grpSpPr>
        <p:sp>
          <p:nvSpPr>
            <p:cNvPr id="17" name="Freeform 16"/>
            <p:cNvSpPr/>
            <p:nvPr userDrawn="1"/>
          </p:nvSpPr>
          <p:spPr>
            <a:xfrm rot="16200000">
              <a:off x="3385185" y="-337756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6" name="Freeform 15"/>
            <p:cNvSpPr/>
            <p:nvPr userDrawn="1"/>
          </p:nvSpPr>
          <p:spPr>
            <a:xfrm rot="5400000">
              <a:off x="3381375" y="-1952624"/>
              <a:ext cx="5429250" cy="12192001"/>
            </a:xfrm>
            <a:custGeom>
              <a:avLst/>
              <a:gdLst>
                <a:gd name="connsiteX0" fmla="*/ 0 w 5429250"/>
                <a:gd name="connsiteY0" fmla="*/ 12192001 h 12192001"/>
                <a:gd name="connsiteX1" fmla="*/ 0 w 5429250"/>
                <a:gd name="connsiteY1" fmla="*/ 0 h 12192001"/>
                <a:gd name="connsiteX2" fmla="*/ 3259336 w 5429250"/>
                <a:gd name="connsiteY2" fmla="*/ 0 h 12192001"/>
                <a:gd name="connsiteX3" fmla="*/ 3328988 w 5429250"/>
                <a:gd name="connsiteY3" fmla="*/ 0 h 12192001"/>
                <a:gd name="connsiteX4" fmla="*/ 4705946 w 5429250"/>
                <a:gd name="connsiteY4" fmla="*/ 0 h 12192001"/>
                <a:gd name="connsiteX5" fmla="*/ 5429250 w 5429250"/>
                <a:gd name="connsiteY5" fmla="*/ 12192001 h 12192001"/>
                <a:gd name="connsiteX6" fmla="*/ 3328988 w 5429250"/>
                <a:gd name="connsiteY6" fmla="*/ 12192001 h 12192001"/>
                <a:gd name="connsiteX7" fmla="*/ 2536032 w 5429250"/>
                <a:gd name="connsiteY7" fmla="*/ 12192001 h 1219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29250" h="12192001">
                  <a:moveTo>
                    <a:pt x="0" y="12192001"/>
                  </a:moveTo>
                  <a:lnTo>
                    <a:pt x="0" y="0"/>
                  </a:lnTo>
                  <a:lnTo>
                    <a:pt x="3259336" y="0"/>
                  </a:lnTo>
                  <a:lnTo>
                    <a:pt x="3328988" y="0"/>
                  </a:lnTo>
                  <a:lnTo>
                    <a:pt x="4705946" y="0"/>
                  </a:lnTo>
                  <a:lnTo>
                    <a:pt x="5429250" y="12192001"/>
                  </a:lnTo>
                  <a:lnTo>
                    <a:pt x="3328988" y="12192001"/>
                  </a:lnTo>
                  <a:lnTo>
                    <a:pt x="2536032" y="12192001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bg-BG"/>
            </a:p>
          </p:txBody>
        </p:sp>
        <p:sp>
          <p:nvSpPr>
            <p:cNvPr id="11" name="Freeform 10"/>
            <p:cNvSpPr/>
            <p:nvPr userDrawn="1"/>
          </p:nvSpPr>
          <p:spPr>
            <a:xfrm rot="5400000">
              <a:off x="3327799" y="-2236944"/>
              <a:ext cx="5536405" cy="12192000"/>
            </a:xfrm>
            <a:custGeom>
              <a:avLst/>
              <a:gdLst>
                <a:gd name="connsiteX0" fmla="*/ 0 w 9842498"/>
                <a:gd name="connsiteY0" fmla="*/ 0 h 6858000"/>
                <a:gd name="connsiteX1" fmla="*/ 5984873 w 9842498"/>
                <a:gd name="connsiteY1" fmla="*/ 0 h 6858000"/>
                <a:gd name="connsiteX2" fmla="*/ 6108698 w 9842498"/>
                <a:gd name="connsiteY2" fmla="*/ 0 h 6858000"/>
                <a:gd name="connsiteX3" fmla="*/ 8556623 w 9842498"/>
                <a:gd name="connsiteY3" fmla="*/ 0 h 6858000"/>
                <a:gd name="connsiteX4" fmla="*/ 9842498 w 9842498"/>
                <a:gd name="connsiteY4" fmla="*/ 6858000 h 6858000"/>
                <a:gd name="connsiteX5" fmla="*/ 6108698 w 9842498"/>
                <a:gd name="connsiteY5" fmla="*/ 6858000 h 6858000"/>
                <a:gd name="connsiteX6" fmla="*/ 4698998 w 9842498"/>
                <a:gd name="connsiteY6" fmla="*/ 6858000 h 6858000"/>
                <a:gd name="connsiteX7" fmla="*/ 0 w 9842498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842498" h="6858000">
                  <a:moveTo>
                    <a:pt x="0" y="0"/>
                  </a:moveTo>
                  <a:lnTo>
                    <a:pt x="5984873" y="0"/>
                  </a:lnTo>
                  <a:lnTo>
                    <a:pt x="6108698" y="0"/>
                  </a:lnTo>
                  <a:lnTo>
                    <a:pt x="8556623" y="0"/>
                  </a:lnTo>
                  <a:lnTo>
                    <a:pt x="9842498" y="6858000"/>
                  </a:lnTo>
                  <a:lnTo>
                    <a:pt x="6108698" y="6858000"/>
                  </a:lnTo>
                  <a:lnTo>
                    <a:pt x="4698998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Freeform 12"/>
            <p:cNvSpPr/>
            <p:nvPr userDrawn="1"/>
          </p:nvSpPr>
          <p:spPr>
            <a:xfrm rot="16200000">
              <a:off x="5667377" y="-5433772"/>
              <a:ext cx="857250" cy="12192000"/>
            </a:xfrm>
            <a:custGeom>
              <a:avLst/>
              <a:gdLst>
                <a:gd name="connsiteX0" fmla="*/ 1524000 w 1524000"/>
                <a:gd name="connsiteY0" fmla="*/ 6858000 h 6858000"/>
                <a:gd name="connsiteX1" fmla="*/ 0 w 1524000"/>
                <a:gd name="connsiteY1" fmla="*/ 6858000 h 6858000"/>
                <a:gd name="connsiteX2" fmla="*/ 0 w 1524000"/>
                <a:gd name="connsiteY2" fmla="*/ 0 h 6858000"/>
                <a:gd name="connsiteX3" fmla="*/ 238125 w 1524000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4000" h="6858000">
                  <a:moveTo>
                    <a:pt x="1524000" y="6858000"/>
                  </a:moveTo>
                  <a:lnTo>
                    <a:pt x="0" y="6858000"/>
                  </a:lnTo>
                  <a:lnTo>
                    <a:pt x="0" y="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3" name="TextBox 2"/>
          <p:cNvSpPr txBox="1"/>
          <p:nvPr userDrawn="1"/>
        </p:nvSpPr>
        <p:spPr>
          <a:xfrm rot="21411406">
            <a:off x="0" y="266319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smtClean="0">
                <a:solidFill>
                  <a:srgbClr val="2196F3"/>
                </a:solidFill>
                <a:latin typeface="+mj-lt"/>
              </a:rPr>
              <a:t>Questions?</a:t>
            </a:r>
            <a:endParaRPr lang="bg-BG" sz="9600" dirty="0">
              <a:solidFill>
                <a:srgbClr val="2196F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090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26A4-A17A-4698-BE1B-BA61FFEA96A2}" type="datetimeFigureOut">
              <a:rPr lang="bg-BG" smtClean="0"/>
              <a:t>9.12.2020 г.</a:t>
            </a:fld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DBA7C-99B5-4334-BAA0-6F9111C414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64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196F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sli.do/event/ynjb7ivb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Training and Improving Neural Networks</a:t>
            </a:r>
            <a:endParaRPr lang="bg-B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train your neural network… </a:t>
            </a:r>
            <a:br>
              <a:rPr lang="en-US" dirty="0" smtClean="0"/>
            </a:br>
            <a:r>
              <a:rPr lang="en-US" dirty="0" smtClean="0"/>
              <a:t>so that it doesn't explode</a:t>
            </a:r>
            <a:endParaRPr lang="bg-BG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Yordan Darakchiev</a:t>
            </a:r>
            <a:endParaRPr lang="bg-BG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Technical Trainer</a:t>
            </a:r>
            <a:endParaRPr lang="bg-BG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iordan93@gmail.com</a:t>
            </a:r>
            <a:endParaRPr lang="bg-BG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" t="394" r="-959" b="669"/>
          <a:stretch/>
        </p:blipFill>
        <p:spPr>
          <a:xfrm>
            <a:off x="7701725" y="4541123"/>
            <a:ext cx="2809702" cy="2086496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54" y="0"/>
            <a:ext cx="28575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4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4100" y="1709738"/>
            <a:ext cx="9512300" cy="2852737"/>
          </a:xfrm>
        </p:spPr>
        <p:txBody>
          <a:bodyPr/>
          <a:lstStyle/>
          <a:p>
            <a:r>
              <a:rPr lang="en-US" dirty="0" smtClean="0"/>
              <a:t>sli.do</a:t>
            </a:r>
            <a:br>
              <a:rPr lang="en-US" dirty="0" smtClean="0"/>
            </a:br>
            <a:r>
              <a:rPr lang="en-US" dirty="0" smtClean="0">
                <a:hlinkClick r:id="rId2"/>
              </a:rPr>
              <a:t>#DeepLearning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0915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Regularization</a:t>
            </a:r>
          </a:p>
          <a:p>
            <a:r>
              <a:rPr lang="en-US" dirty="0" smtClean="0"/>
              <a:t>Bias and variance</a:t>
            </a:r>
          </a:p>
          <a:p>
            <a:pPr lvl="1"/>
            <a:r>
              <a:rPr lang="en-US" dirty="0" smtClean="0"/>
              <a:t>Error analysis</a:t>
            </a:r>
          </a:p>
          <a:p>
            <a:r>
              <a:rPr lang="en-US" dirty="0" smtClean="0"/>
              <a:t>Optimization algorithms</a:t>
            </a:r>
          </a:p>
          <a:p>
            <a:r>
              <a:rPr lang="en-US" dirty="0" smtClean="0"/>
              <a:t>Hyperparameter tuning</a:t>
            </a:r>
          </a:p>
          <a:p>
            <a:r>
              <a:rPr lang="en-US" dirty="0" smtClean="0"/>
              <a:t>Normalization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17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 and Variance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Machine learning practices</a:t>
            </a:r>
            <a:br>
              <a:rPr lang="en-US" dirty="0" smtClean="0"/>
            </a:br>
            <a:r>
              <a:rPr lang="en-US" dirty="0" smtClean="0"/>
              <a:t>using big(ger) data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1533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Regularization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Usual L1 and L2 rules apply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endParaRPr lang="en-US" dirty="0"/>
              </a:p>
              <a:p>
                <a:pPr lvl="1"/>
                <a:r>
                  <a:rPr lang="en-US" dirty="0" smtClean="0"/>
                  <a:t>Regularization is applied to the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loss function</a:t>
                </a:r>
              </a:p>
              <a:p>
                <a:pPr lvl="2"/>
                <a:r>
                  <a:rPr lang="en-US" dirty="0" smtClean="0"/>
                  <a:t>It tries to "remove" or shrink the parameters</a:t>
                </a:r>
              </a:p>
              <a:p>
                <a:pPr lvl="1"/>
                <a:r>
                  <a:rPr lang="en-US" dirty="0" smtClean="0"/>
                  <a:t>We can regularize weights, biases and outputs</a:t>
                </a:r>
              </a:p>
              <a:p>
                <a:pPr lvl="2"/>
                <a:r>
                  <a:rPr lang="en-US" dirty="0" smtClean="0"/>
                  <a:t>Usual steps: same regularization for weights and biases, none for outputs</a:t>
                </a:r>
              </a:p>
              <a:p>
                <a:r>
                  <a:rPr lang="en-US" dirty="0" smtClean="0"/>
                  <a:t>Note: using ReLU activation may result in activations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This produces "dead neurons"</a:t>
                </a:r>
              </a:p>
              <a:p>
                <a:pPr lvl="2"/>
                <a:r>
                  <a:rPr lang="en-US" dirty="0" smtClean="0"/>
                  <a:t>May be used as a form of regularization</a:t>
                </a:r>
              </a:p>
              <a:p>
                <a:endParaRPr lang="en-US" dirty="0" smtClean="0"/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5</a:t>
            </a:fld>
            <a:endParaRPr lang="bg-BG"/>
          </a:p>
        </p:txBody>
      </p:sp>
      <p:sp>
        <p:nvSpPr>
          <p:cNvPr id="5" name="TextBox 4"/>
          <p:cNvSpPr txBox="1"/>
          <p:nvPr/>
        </p:nvSpPr>
        <p:spPr>
          <a:xfrm>
            <a:off x="636909" y="1324412"/>
            <a:ext cx="8523716" cy="2031325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tensorflow.layers </a:t>
            </a:r>
            <a:r>
              <a:rPr lang="en-US" dirty="0">
                <a:solidFill>
                  <a:srgbClr val="0000FF"/>
                </a:solidFill>
              </a:rPr>
              <a:t>import</a:t>
            </a:r>
            <a:r>
              <a:rPr lang="en-US" dirty="0">
                <a:solidFill>
                  <a:srgbClr val="000000"/>
                </a:solidFill>
              </a:rPr>
              <a:t> Dense</a:t>
            </a:r>
          </a:p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tensorflow.keras </a:t>
            </a:r>
            <a:r>
              <a:rPr lang="en-US" dirty="0">
                <a:solidFill>
                  <a:srgbClr val="0000FF"/>
                </a:solidFill>
              </a:rPr>
              <a:t>import</a:t>
            </a:r>
            <a:r>
              <a:rPr lang="en-US" dirty="0">
                <a:solidFill>
                  <a:srgbClr val="000000"/>
                </a:solidFill>
              </a:rPr>
              <a:t> regularizers</a:t>
            </a:r>
          </a:p>
          <a:p>
            <a:endParaRPr lang="pt-BR" dirty="0" smtClean="0">
              <a:solidFill>
                <a:srgbClr val="000000"/>
              </a:solidFill>
            </a:endParaRPr>
          </a:p>
          <a:p>
            <a:r>
              <a:rPr lang="pt-BR" dirty="0" smtClean="0">
                <a:solidFill>
                  <a:srgbClr val="000000"/>
                </a:solidFill>
              </a:rPr>
              <a:t>Dense</a:t>
            </a:r>
            <a:r>
              <a:rPr lang="pt-BR" dirty="0">
                <a:solidFill>
                  <a:srgbClr val="000000"/>
                </a:solidFill>
              </a:rPr>
              <a:t>(</a:t>
            </a:r>
          </a:p>
          <a:p>
            <a:r>
              <a:rPr lang="pt-BR" dirty="0" smtClean="0">
                <a:solidFill>
                  <a:srgbClr val="000000"/>
                </a:solidFill>
              </a:rPr>
              <a:t>    kernel_regularizer </a:t>
            </a:r>
            <a:r>
              <a:rPr lang="pt-BR" dirty="0">
                <a:solidFill>
                  <a:srgbClr val="000000"/>
                </a:solidFill>
              </a:rPr>
              <a:t>= regularizers.L1L2(l1 = </a:t>
            </a:r>
            <a:r>
              <a:rPr lang="pt-BR" dirty="0">
                <a:solidFill>
                  <a:srgbClr val="09885A"/>
                </a:solidFill>
              </a:rPr>
              <a:t>0.5</a:t>
            </a:r>
            <a:r>
              <a:rPr lang="pt-BR" dirty="0">
                <a:solidFill>
                  <a:srgbClr val="000000"/>
                </a:solidFill>
              </a:rPr>
              <a:t>, l2 = </a:t>
            </a:r>
            <a:r>
              <a:rPr lang="pt-BR" dirty="0">
                <a:solidFill>
                  <a:srgbClr val="09885A"/>
                </a:solidFill>
              </a:rPr>
              <a:t>1</a:t>
            </a:r>
            <a:r>
              <a:rPr lang="pt-BR" dirty="0">
                <a:solidFill>
                  <a:srgbClr val="000000"/>
                </a:solidFill>
              </a:rPr>
              <a:t>),</a:t>
            </a:r>
          </a:p>
          <a:p>
            <a:r>
              <a:rPr lang="pt-BR" dirty="0" smtClean="0">
                <a:solidFill>
                  <a:srgbClr val="000000"/>
                </a:solidFill>
              </a:rPr>
              <a:t>    bias_regularizer </a:t>
            </a:r>
            <a:r>
              <a:rPr lang="pt-BR" dirty="0">
                <a:solidFill>
                  <a:srgbClr val="000000"/>
                </a:solidFill>
              </a:rPr>
              <a:t>= regularizers.L1L2(l1 = </a:t>
            </a:r>
            <a:r>
              <a:rPr lang="pt-BR" dirty="0">
                <a:solidFill>
                  <a:srgbClr val="09885A"/>
                </a:solidFill>
              </a:rPr>
              <a:t>0.5</a:t>
            </a:r>
            <a:r>
              <a:rPr lang="pt-BR" dirty="0">
                <a:solidFill>
                  <a:srgbClr val="000000"/>
                </a:solidFill>
              </a:rPr>
              <a:t>, l2 = </a:t>
            </a:r>
            <a:r>
              <a:rPr lang="pt-BR" dirty="0">
                <a:solidFill>
                  <a:srgbClr val="09885A"/>
                </a:solidFill>
              </a:rPr>
              <a:t>1</a:t>
            </a:r>
            <a:r>
              <a:rPr lang="pt-BR" dirty="0">
                <a:solidFill>
                  <a:srgbClr val="000000"/>
                </a:solidFill>
              </a:rPr>
              <a:t>),</a:t>
            </a:r>
          </a:p>
          <a:p>
            <a:r>
              <a:rPr lang="pt-BR" dirty="0" smtClean="0">
                <a:solidFill>
                  <a:srgbClr val="000000"/>
                </a:solidFill>
              </a:rPr>
              <a:t>    activity_regularizer </a:t>
            </a:r>
            <a:r>
              <a:rPr lang="pt-BR" dirty="0">
                <a:solidFill>
                  <a:srgbClr val="000000"/>
                </a:solidFill>
              </a:rPr>
              <a:t>= regularizers.L1L2(l1 = </a:t>
            </a:r>
            <a:r>
              <a:rPr lang="pt-BR" dirty="0">
                <a:solidFill>
                  <a:srgbClr val="09885A"/>
                </a:solidFill>
              </a:rPr>
              <a:t>0.3</a:t>
            </a:r>
            <a:r>
              <a:rPr lang="pt-BR" dirty="0">
                <a:solidFill>
                  <a:srgbClr val="000000"/>
                </a:solidFill>
              </a:rPr>
              <a:t>, l2 = </a:t>
            </a:r>
            <a:r>
              <a:rPr lang="pt-BR" dirty="0">
                <a:solidFill>
                  <a:srgbClr val="09885A"/>
                </a:solidFill>
              </a:rPr>
              <a:t>10</a:t>
            </a:r>
            <a:r>
              <a:rPr lang="pt-BR" dirty="0">
                <a:solidFill>
                  <a:srgbClr val="000000"/>
                </a:solidFill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95352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Dropout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Select a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At each training step, set a random fraction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 smtClean="0"/>
                  <a:t/>
                </a:r>
                <a:br>
                  <a:rPr lang="en-US" b="0" dirty="0" smtClean="0"/>
                </a:br>
                <a:r>
                  <a:rPr lang="en-US" dirty="0" smtClean="0"/>
                  <a:t>of input weights of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 to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keep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 units</a:t>
                </a:r>
              </a:p>
              <a:p>
                <a:pPr lvl="1"/>
                <a:r>
                  <a:rPr lang="en-US" dirty="0" smtClean="0"/>
                  <a:t>To keep the dimensions, scale the remaining units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b="1" dirty="0" smtClean="0">
                  <a:solidFill>
                    <a:srgbClr val="2196F3"/>
                  </a:solidFill>
                </a:endParaRPr>
              </a:p>
              <a:p>
                <a:endParaRPr lang="en-US" b="1" dirty="0">
                  <a:solidFill>
                    <a:srgbClr val="2196F3"/>
                  </a:solidFill>
                </a:endParaRPr>
              </a:p>
              <a:p>
                <a:endParaRPr lang="en-US" b="1" dirty="0" smtClean="0">
                  <a:solidFill>
                    <a:srgbClr val="2196F3"/>
                  </a:solidFill>
                </a:endParaRPr>
              </a:p>
              <a:p>
                <a:endParaRPr lang="en-US" b="1" dirty="0">
                  <a:solidFill>
                    <a:srgbClr val="2196F3"/>
                  </a:solidFill>
                </a:endParaRPr>
              </a:p>
              <a:p>
                <a:endParaRPr lang="en-US" b="1" dirty="0" smtClean="0">
                  <a:solidFill>
                    <a:srgbClr val="2196F3"/>
                  </a:solidFill>
                </a:endParaRPr>
              </a:p>
              <a:p>
                <a:r>
                  <a:rPr lang="en-US" b="1" dirty="0" smtClean="0">
                    <a:solidFill>
                      <a:srgbClr val="2196F3"/>
                    </a:solidFill>
                  </a:rPr>
                  <a:t>Don't apply dropout during inference!</a:t>
                </a:r>
              </a:p>
              <a:p>
                <a:pPr lvl="1"/>
                <a:r>
                  <a:rPr lang="en-US" dirty="0" smtClean="0">
                    <a:latin typeface="Consolas" panose="020B0609020204030204" pitchFamily="49" charset="0"/>
                  </a:rPr>
                  <a:t>tensorflow</a:t>
                </a:r>
                <a:r>
                  <a:rPr lang="en-US" dirty="0" smtClean="0"/>
                  <a:t> takes care of this</a:t>
                </a: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6</a:t>
            </a:fld>
            <a:endParaRPr lang="bg-BG"/>
          </a:p>
        </p:txBody>
      </p:sp>
      <p:sp>
        <p:nvSpPr>
          <p:cNvPr id="6" name="TextBox 5"/>
          <p:cNvSpPr txBox="1"/>
          <p:nvPr/>
        </p:nvSpPr>
        <p:spPr>
          <a:xfrm>
            <a:off x="583715" y="4955526"/>
            <a:ext cx="7193680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tensorflow.layers </a:t>
            </a:r>
            <a:r>
              <a:rPr lang="en-US" dirty="0">
                <a:solidFill>
                  <a:srgbClr val="0000FF"/>
                </a:solidFill>
              </a:rPr>
              <a:t>import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Dropout</a:t>
            </a:r>
            <a:endParaRPr lang="pt-BR" dirty="0" smtClean="0">
              <a:solidFill>
                <a:srgbClr val="000000"/>
              </a:solidFill>
            </a:endParaRPr>
          </a:p>
          <a:p>
            <a:r>
              <a:rPr lang="pt-BR" dirty="0" smtClean="0">
                <a:solidFill>
                  <a:srgbClr val="000000"/>
                </a:solidFill>
              </a:rPr>
              <a:t>Dropout(</a:t>
            </a:r>
            <a:r>
              <a:rPr lang="pt-BR" dirty="0" smtClean="0">
                <a:solidFill>
                  <a:srgbClr val="09885A"/>
                </a:solidFill>
              </a:rPr>
              <a:t>0.1</a:t>
            </a:r>
            <a:r>
              <a:rPr lang="pt-BR" dirty="0" smtClean="0">
                <a:solidFill>
                  <a:srgbClr val="000000"/>
                </a:solidFill>
              </a:rPr>
              <a:t>)</a:t>
            </a:r>
            <a:endParaRPr lang="pt-BR" dirty="0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72" y="2790370"/>
            <a:ext cx="6358543" cy="202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and Splitting Data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Usually, we split the dataset like this</a:t>
                </a:r>
              </a:p>
              <a:p>
                <a:pPr lvl="1"/>
                <a:r>
                  <a:rPr lang="en-US" dirty="0" smtClean="0"/>
                  <a:t>Training set – 70%</a:t>
                </a:r>
              </a:p>
              <a:p>
                <a:pPr lvl="2"/>
                <a:r>
                  <a:rPr lang="en-US" dirty="0" smtClean="0"/>
                  <a:t>"Real training" set – 63%, validation set – 7%; 10 times</a:t>
                </a:r>
              </a:p>
              <a:p>
                <a:pPr lvl="1"/>
                <a:r>
                  <a:rPr lang="en-US" dirty="0" smtClean="0"/>
                  <a:t>Testing set – 30%</a:t>
                </a:r>
              </a:p>
              <a:p>
                <a:r>
                  <a:rPr lang="en-US" dirty="0" smtClean="0"/>
                  <a:t>With many samples, this is unnecessary</a:t>
                </a:r>
              </a:p>
              <a:p>
                <a:pPr lvl="1"/>
                <a:r>
                  <a:rPr lang="en-US" dirty="0" smtClean="0"/>
                  <a:t>And time consuming</a:t>
                </a:r>
              </a:p>
              <a:p>
                <a:r>
                  <a:rPr lang="en-US" dirty="0" smtClean="0">
                    <a:solidFill>
                      <a:srgbClr val="2196F3"/>
                    </a:solidFill>
                  </a:rPr>
                  <a:t>Law of big numbers</a:t>
                </a:r>
                <a:endParaRPr lang="en-US" dirty="0"/>
              </a:p>
              <a:p>
                <a:pPr lvl="1"/>
                <a:r>
                  <a:rPr lang="en-US" dirty="0" smtClean="0"/>
                  <a:t>We can get stable results with many samples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we have less chance of variance due to a small sample size</a:t>
                </a:r>
              </a:p>
              <a:p>
                <a:r>
                  <a:rPr lang="en-US" dirty="0" smtClean="0"/>
                  <a:t>Usual splitting for big data (i.e. 1M samples)</a:t>
                </a:r>
              </a:p>
              <a:p>
                <a:pPr lvl="1"/>
                <a:r>
                  <a:rPr lang="en-US" dirty="0" smtClean="0"/>
                  <a:t>980 000 / 10 000 / 10 000 samples</a:t>
                </a:r>
              </a:p>
              <a:p>
                <a:pPr lvl="1"/>
                <a:r>
                  <a:rPr lang="en-US" dirty="0" smtClean="0"/>
                  <a:t>Alternatively, a bigger validation set: 980 000 / 16 000 / 4 000</a:t>
                </a:r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990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Bias-Variance Error Analysis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Bayes optimal error: the "real" error in data</a:t>
                </a:r>
              </a:p>
              <a:p>
                <a:pPr lvl="1"/>
                <a:r>
                  <a:rPr lang="en-US" dirty="0" smtClean="0"/>
                  <a:t>No way to calculate, we need to try to come up with a measure</a:t>
                </a:r>
              </a:p>
              <a:p>
                <a:pPr lvl="2"/>
                <a:r>
                  <a:rPr lang="en-US" dirty="0" smtClean="0"/>
                  <a:t>Naïve: this is 0%, the dataset is perfect</a:t>
                </a:r>
              </a:p>
              <a:p>
                <a:r>
                  <a:rPr lang="en-US" dirty="0"/>
                  <a:t>Example: two-class </a:t>
                </a:r>
                <a:r>
                  <a:rPr lang="en-US" dirty="0" smtClean="0"/>
                  <a:t>classification (cats vs. dogs)</a:t>
                </a:r>
                <a:endParaRPr lang="en-US" dirty="0"/>
              </a:p>
              <a:p>
                <a:pPr lvl="1"/>
                <a:r>
                  <a:rPr lang="en-US" dirty="0"/>
                  <a:t>Metric: misclassification error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 smtClean="0"/>
                  <a:t>Humans can achieve 0,5% error</a:t>
                </a: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8</a:t>
            </a:fld>
            <a:endParaRPr lang="bg-BG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02458" y="3554306"/>
          <a:ext cx="10586718" cy="249428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1764453">
                  <a:extLst>
                    <a:ext uri="{9D8B030D-6E8A-4147-A177-3AD203B41FA5}">
                      <a16:colId xmlns:a16="http://schemas.microsoft.com/office/drawing/2014/main" val="1647660805"/>
                    </a:ext>
                  </a:extLst>
                </a:gridCol>
                <a:gridCol w="1764453">
                  <a:extLst>
                    <a:ext uri="{9D8B030D-6E8A-4147-A177-3AD203B41FA5}">
                      <a16:colId xmlns:a16="http://schemas.microsoft.com/office/drawing/2014/main" val="2246487919"/>
                    </a:ext>
                  </a:extLst>
                </a:gridCol>
                <a:gridCol w="1764453">
                  <a:extLst>
                    <a:ext uri="{9D8B030D-6E8A-4147-A177-3AD203B41FA5}">
                      <a16:colId xmlns:a16="http://schemas.microsoft.com/office/drawing/2014/main" val="918985010"/>
                    </a:ext>
                  </a:extLst>
                </a:gridCol>
                <a:gridCol w="1764453">
                  <a:extLst>
                    <a:ext uri="{9D8B030D-6E8A-4147-A177-3AD203B41FA5}">
                      <a16:colId xmlns:a16="http://schemas.microsoft.com/office/drawing/2014/main" val="2468542538"/>
                    </a:ext>
                  </a:extLst>
                </a:gridCol>
                <a:gridCol w="1764453">
                  <a:extLst>
                    <a:ext uri="{9D8B030D-6E8A-4147-A177-3AD203B41FA5}">
                      <a16:colId xmlns:a16="http://schemas.microsoft.com/office/drawing/2014/main" val="1420844763"/>
                    </a:ext>
                  </a:extLst>
                </a:gridCol>
                <a:gridCol w="1764453">
                  <a:extLst>
                    <a:ext uri="{9D8B030D-6E8A-4147-A177-3AD203B41FA5}">
                      <a16:colId xmlns:a16="http://schemas.microsoft.com/office/drawing/2014/main" val="1713181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Algorithm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Train set 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Validation set error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Bias,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Variance,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Verdict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94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variance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57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14,5%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bias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431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14,5%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51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0,5%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"Neither"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470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A5</a:t>
                      </a:r>
                      <a:endParaRPr lang="en-US" b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0,3%</a:t>
                      </a:r>
                      <a:endParaRPr lang="en-US" b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0,4%</a:t>
                      </a:r>
                      <a:endParaRPr lang="en-US" b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?</a:t>
                      </a:r>
                      <a:endParaRPr lang="en-US" b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?</a:t>
                      </a:r>
                      <a:endParaRPr lang="en-US" b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15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90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Taking the Next Step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no set rules, only things we can try</a:t>
            </a:r>
          </a:p>
          <a:p>
            <a:r>
              <a:rPr lang="en-US" dirty="0" smtClean="0"/>
              <a:t>High bias</a:t>
            </a:r>
          </a:p>
          <a:p>
            <a:pPr lvl="1"/>
            <a:r>
              <a:rPr lang="en-US" dirty="0" smtClean="0"/>
              <a:t>Train a bigger network</a:t>
            </a:r>
          </a:p>
          <a:p>
            <a:pPr lvl="1"/>
            <a:r>
              <a:rPr lang="en-US" dirty="0" smtClean="0"/>
              <a:t>Possibly, try out different architectures</a:t>
            </a:r>
          </a:p>
          <a:p>
            <a:pPr lvl="2"/>
            <a:r>
              <a:rPr lang="en-US" dirty="0" smtClean="0"/>
              <a:t>Try to find one which is best suited for the task</a:t>
            </a:r>
          </a:p>
          <a:p>
            <a:pPr lvl="1"/>
            <a:r>
              <a:rPr lang="en-US" dirty="0" smtClean="0"/>
              <a:t>Train longer (e.g. more </a:t>
            </a:r>
            <a:r>
              <a:rPr lang="en-US" dirty="0" smtClean="0">
                <a:solidFill>
                  <a:srgbClr val="2196F3"/>
                </a:solidFill>
              </a:rPr>
              <a:t>epochs</a:t>
            </a:r>
            <a:r>
              <a:rPr lang="en-US" dirty="0" smtClean="0"/>
              <a:t>)</a:t>
            </a:r>
          </a:p>
          <a:p>
            <a:r>
              <a:rPr lang="en-US" dirty="0" smtClean="0"/>
              <a:t>High variance</a:t>
            </a:r>
          </a:p>
          <a:p>
            <a:pPr lvl="1"/>
            <a:r>
              <a:rPr lang="en-US" dirty="0" smtClean="0"/>
              <a:t>Apply regularization</a:t>
            </a:r>
          </a:p>
          <a:p>
            <a:pPr lvl="1"/>
            <a:r>
              <a:rPr lang="en-US" dirty="0" smtClean="0"/>
              <a:t>Try a smaller network architecture</a:t>
            </a:r>
          </a:p>
          <a:p>
            <a:pPr lvl="1"/>
            <a:r>
              <a:rPr lang="en-US" dirty="0" smtClean="0"/>
              <a:t>Get more data</a:t>
            </a:r>
          </a:p>
          <a:p>
            <a:pPr lvl="2"/>
            <a:r>
              <a:rPr lang="en-US" dirty="0" smtClean="0"/>
              <a:t>Or try to augment the current dataset</a:t>
            </a:r>
          </a:p>
          <a:p>
            <a:pPr lvl="3"/>
            <a:r>
              <a:rPr lang="en-US" dirty="0" smtClean="0"/>
              <a:t>E.g. bootstrap sampling, image rotation, adding noise,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119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/ Validation Curves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same as what we already know</a:t>
            </a:r>
          </a:p>
          <a:p>
            <a:pPr lvl="1"/>
            <a:r>
              <a:rPr lang="en-US" dirty="0" smtClean="0"/>
              <a:t>Plot a metric (e.g. loss, accuracy…)</a:t>
            </a:r>
            <a:br>
              <a:rPr lang="en-US" dirty="0" smtClean="0"/>
            </a:br>
            <a:r>
              <a:rPr lang="en-US" dirty="0" smtClean="0"/>
              <a:t>w.r.t. the dataset size or epoch</a:t>
            </a:r>
          </a:p>
          <a:p>
            <a:r>
              <a:rPr lang="en-US" dirty="0" smtClean="0"/>
              <a:t>The shape and relative position</a:t>
            </a:r>
            <a:br>
              <a:rPr lang="en-US" dirty="0" smtClean="0"/>
            </a:br>
            <a:r>
              <a:rPr lang="en-US" dirty="0" smtClean="0"/>
              <a:t>of both curves help diagnose</a:t>
            </a:r>
            <a:br>
              <a:rPr lang="en-US" dirty="0" smtClean="0"/>
            </a:br>
            <a:r>
              <a:rPr lang="en-US" dirty="0" smtClean="0"/>
              <a:t>under- / overfitting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10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63" y="3821552"/>
            <a:ext cx="3774669" cy="2831002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798983" y="3821552"/>
            <a:ext cx="7164957" cy="2844948"/>
            <a:chOff x="3798983" y="3832077"/>
            <a:chExt cx="7164957" cy="284494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9271" y="3832077"/>
              <a:ext cx="3774669" cy="284494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983" y="3981796"/>
              <a:ext cx="3523982" cy="2656006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945" y="1197695"/>
            <a:ext cx="4953725" cy="26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43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Optimization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"Learn smarter, not harder"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340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 Initialization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Vanishing / Exploding gradients problem</a:t>
                </a:r>
              </a:p>
              <a:p>
                <a:pPr lvl="1"/>
                <a:r>
                  <a:rPr lang="en-US" dirty="0" smtClean="0"/>
                  <a:t>Deeper networks are able to learn very complex functions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more layers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 smtClean="0"/>
                  <a:t> better</a:t>
                </a:r>
              </a:p>
              <a:p>
                <a:pPr lvl="1"/>
                <a:r>
                  <a:rPr lang="en-US" dirty="0" smtClean="0"/>
                  <a:t>But let's take a look at what a computation looks like</a:t>
                </a:r>
              </a:p>
              <a:p>
                <a:pPr lvl="1"/>
                <a:r>
                  <a:rPr lang="en-US" dirty="0" smtClean="0"/>
                  <a:t>Take, for example the activation at the 15</a:t>
                </a:r>
                <a:r>
                  <a:rPr lang="en-US" baseline="30000" dirty="0" smtClean="0"/>
                  <a:t>th</a:t>
                </a:r>
                <a:r>
                  <a:rPr lang="en-US" dirty="0" smtClean="0"/>
                  <a:t> layer</a:t>
                </a:r>
              </a:p>
              <a:p>
                <a:pPr lvl="2"/>
                <a:r>
                  <a:rPr lang="en-US" dirty="0" smtClean="0"/>
                  <a:t>Ignoring the activation functions for simplicity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[15]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≈…≈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⋯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[14]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If the weights are similarly scaled, the product becomes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If some 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 smtClean="0"/>
                  <a:t> are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, the product will become really big</a:t>
                </a:r>
              </a:p>
              <a:p>
                <a:pPr lvl="2"/>
                <a:r>
                  <a:rPr lang="en-US" dirty="0" smtClean="0"/>
                  <a:t>Alternatively, if some elements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, the product will become really small</a:t>
                </a:r>
              </a:p>
              <a:p>
                <a:pPr lvl="1"/>
                <a:r>
                  <a:rPr lang="en-US" dirty="0" smtClean="0"/>
                  <a:t>This leads to problems when updating weights: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The gradients either become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≈∞</m:t>
                    </m:r>
                  </m:oMath>
                </a14:m>
                <a:r>
                  <a:rPr lang="en-US" dirty="0" smtClean="0"/>
                  <a:t>,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Solution: initialize the weights properly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6432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Weight Initialization (2)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First, we know that we need random initialization</a:t>
                </a:r>
              </a:p>
              <a:p>
                <a:pPr lvl="1"/>
                <a:r>
                  <a:rPr lang="en-US" dirty="0" smtClean="0"/>
                  <a:t>Gaussian,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is needed because any bias has already been accounted for</a:t>
                </a:r>
              </a:p>
              <a:p>
                <a:r>
                  <a:rPr lang="en-US" dirty="0" smtClean="0"/>
                  <a:t>Also, initialize the weights with small numbers</a:t>
                </a:r>
              </a:p>
              <a:p>
                <a:pPr lvl="1"/>
                <a:r>
                  <a:rPr lang="en-US" dirty="0" smtClean="0"/>
                  <a:t>The exploding / vanishing gradient problem affects only the</a:t>
                </a:r>
                <a:br>
                  <a:rPr lang="en-US" dirty="0" smtClean="0"/>
                </a:br>
                <a:r>
                  <a:rPr lang="en-US" dirty="0" smtClean="0"/>
                  <a:t>first stages of training</a:t>
                </a:r>
              </a:p>
              <a:p>
                <a:pPr lvl="2"/>
                <a:r>
                  <a:rPr lang="en-US" dirty="0" smtClean="0"/>
                  <a:t>After that, the NN should learn proper weights</a:t>
                </a:r>
              </a:p>
              <a:p>
                <a:r>
                  <a:rPr lang="en-US" dirty="0" smtClean="0"/>
                  <a:t>Glorot (Xavier) initialization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init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dirty="0" smtClean="0"/>
              </a:p>
              <a:p>
                <a:pPr lvl="2"/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 smtClean="0"/>
                  <a:t> are the numbers of input and output units of the layer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13</a:t>
            </a:fld>
            <a:endParaRPr lang="bg-BG"/>
          </a:p>
        </p:txBody>
      </p:sp>
      <p:sp>
        <p:nvSpPr>
          <p:cNvPr id="5" name="TextBox 4"/>
          <p:cNvSpPr txBox="1"/>
          <p:nvPr/>
        </p:nvSpPr>
        <p:spPr>
          <a:xfrm>
            <a:off x="733344" y="5595606"/>
            <a:ext cx="8543660" cy="923330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Dense(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    kernel_initializer </a:t>
            </a:r>
            <a:r>
              <a:rPr lang="en-US" dirty="0">
                <a:solidFill>
                  <a:srgbClr val="000000"/>
                </a:solidFill>
              </a:rPr>
              <a:t>= tf.glorot_normal_initializer(), </a:t>
            </a:r>
            <a:r>
              <a:rPr lang="en-US" dirty="0">
                <a:solidFill>
                  <a:srgbClr val="008000"/>
                </a:solidFill>
              </a:rPr>
              <a:t># or None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 smtClean="0">
                <a:solidFill>
                  <a:srgbClr val="000000"/>
                </a:solidFill>
              </a:rPr>
              <a:t>    bias_initializer </a:t>
            </a:r>
            <a:r>
              <a:rPr lang="en-US" dirty="0">
                <a:solidFill>
                  <a:srgbClr val="000000"/>
                </a:solidFill>
              </a:rPr>
              <a:t>= tf.zeros_initializer())</a:t>
            </a:r>
          </a:p>
        </p:txBody>
      </p:sp>
    </p:spTree>
    <p:extLst>
      <p:ext uri="{BB962C8B-B14F-4D97-AF65-F5344CB8AC3E}">
        <p14:creationId xmlns:p14="http://schemas.microsoft.com/office/powerpoint/2010/main" val="301202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Mini-batch Gradient Descent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It takes a lot of time to pass through the entire dataset</a:t>
                </a:r>
                <a:br>
                  <a:rPr lang="en-US" dirty="0" smtClean="0"/>
                </a:br>
                <a:r>
                  <a:rPr lang="en-US" dirty="0" smtClean="0"/>
                  <a:t>to perform only 1 step of GD (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batch gradient descent</a:t>
                </a:r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Solution: take a random sample (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mini-batch</a:t>
                </a:r>
                <a:r>
                  <a:rPr lang="en-US" dirty="0" smtClean="0"/>
                  <a:t>) each time:</a:t>
                </a:r>
                <a:br>
                  <a:rPr lang="en-US" dirty="0" smtClean="0"/>
                </a:br>
                <a:r>
                  <a:rPr lang="en-US" dirty="0" smtClean="0">
                    <a:solidFill>
                      <a:srgbClr val="2196F3"/>
                    </a:solidFill>
                  </a:rPr>
                  <a:t>mini-batch gradient descent</a:t>
                </a:r>
              </a:p>
              <a:p>
                <a:pPr lvl="1"/>
                <a:r>
                  <a:rPr lang="en-US" dirty="0" smtClean="0"/>
                  <a:t>If the mini-batch contains one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smtClean="0">
                    <a:solidFill>
                      <a:srgbClr val="2196F3"/>
                    </a:solidFill>
                  </a:rPr>
                  <a:t>stochastic GD</a:t>
                </a:r>
                <a:r>
                  <a:rPr lang="en-US" dirty="0" smtClean="0"/>
                  <a:t> (SGD)</a:t>
                </a:r>
              </a:p>
              <a:p>
                <a:r>
                  <a:rPr lang="en-US" dirty="0" smtClean="0"/>
                  <a:t>The cost function will not decrease smoothly</a:t>
                </a:r>
              </a:p>
              <a:p>
                <a:pPr lvl="1"/>
                <a:r>
                  <a:rPr lang="en-US" dirty="0" smtClean="0"/>
                  <a:t>But will tend to decrease, also the training will be faster</a:t>
                </a:r>
              </a:p>
              <a:p>
                <a:r>
                  <a:rPr lang="en-US" dirty="0" smtClean="0"/>
                  <a:t>Choosing a mini-batch 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Powers of 2 lead to better speed</a:t>
                </a:r>
              </a:p>
              <a:p>
                <a:pPr lvl="2"/>
                <a:r>
                  <a:rPr lang="en-US" dirty="0" smtClean="0"/>
                  <a:t>E.g. </a:t>
                </a:r>
                <a:r>
                  <a:rPr lang="en-US" b="1" dirty="0" smtClean="0"/>
                  <a:t>32</a:t>
                </a:r>
                <a:r>
                  <a:rPr lang="en-US" dirty="0" smtClean="0"/>
                  <a:t>, </a:t>
                </a:r>
                <a:r>
                  <a:rPr lang="en-US" b="1" dirty="0" smtClean="0"/>
                  <a:t>64</a:t>
                </a:r>
                <a:r>
                  <a:rPr lang="en-US" dirty="0" smtClean="0"/>
                  <a:t>, 128</a:t>
                </a:r>
              </a:p>
              <a:p>
                <a:pPr lvl="1"/>
                <a:r>
                  <a:rPr lang="en-US" dirty="0" smtClean="0"/>
                  <a:t>Implementation</a:t>
                </a:r>
              </a:p>
              <a:p>
                <a:pPr lvl="2"/>
                <a:r>
                  <a:rPr lang="en-US" dirty="0" smtClean="0"/>
                  <a:t>Shuffle the training set</a:t>
                </a:r>
              </a:p>
              <a:p>
                <a:pPr lvl="2"/>
                <a:r>
                  <a:rPr lang="en-US" dirty="0" smtClean="0"/>
                  <a:t>At each training step, pass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 smtClean="0"/>
                  <a:t> examples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14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0341" y="3957290"/>
            <a:ext cx="3336001" cy="279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86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Improving Gradient Descent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Momentum</a:t>
                </a:r>
              </a:p>
              <a:p>
                <a:pPr lvl="1"/>
                <a:r>
                  <a:rPr lang="en-US" dirty="0" smtClean="0"/>
                  <a:t>When updating weights,</a:t>
                </a:r>
                <a:br>
                  <a:rPr lang="en-US" dirty="0" smtClean="0"/>
                </a:br>
                <a:r>
                  <a:rPr lang="en-US" dirty="0" smtClean="0"/>
                  <a:t>a fraction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of the previous vector</a:t>
                </a:r>
                <a:br>
                  <a:rPr lang="en-US" dirty="0" smtClean="0"/>
                </a:br>
                <a:r>
                  <a:rPr lang="en-US" dirty="0" smtClean="0"/>
                  <a:t>is added to the current: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This tends to average out the steps in the "wrong" direction</a:t>
                </a:r>
                <a:br>
                  <a:rPr lang="en-US" dirty="0" smtClean="0"/>
                </a:br>
                <a:r>
                  <a:rPr lang="en-US" dirty="0" smtClean="0"/>
                  <a:t>and speed up convergence</a:t>
                </a:r>
              </a:p>
              <a:p>
                <a:r>
                  <a:rPr lang="en-US" dirty="0" smtClean="0"/>
                  <a:t>RMSprop</a:t>
                </a:r>
              </a:p>
              <a:p>
                <a:pPr lvl="1"/>
                <a:r>
                  <a:rPr lang="en-US" dirty="0" smtClean="0"/>
                  <a:t>Similar to momentum, but second-order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b="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ra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15</a:t>
            </a:fld>
            <a:endParaRPr lang="bg-BG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874" y="937693"/>
            <a:ext cx="4623746" cy="98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7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Adam Optimizer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Adam (</a:t>
                </a:r>
                <a:r>
                  <a:rPr lang="en-US" b="1" dirty="0" smtClean="0">
                    <a:solidFill>
                      <a:srgbClr val="2196F3"/>
                    </a:solidFill>
                  </a:rPr>
                  <a:t>Ada</a:t>
                </a:r>
                <a:r>
                  <a:rPr lang="en-US" dirty="0" smtClean="0"/>
                  <a:t>ptive </a:t>
                </a:r>
                <a:r>
                  <a:rPr lang="en-US" b="1" dirty="0" smtClean="0">
                    <a:solidFill>
                      <a:srgbClr val="2196F3"/>
                    </a:solidFill>
                  </a:rPr>
                  <a:t>M</a:t>
                </a:r>
                <a:r>
                  <a:rPr lang="en-US" dirty="0" smtClean="0"/>
                  <a:t>oment Estimation)</a:t>
                </a:r>
              </a:p>
              <a:p>
                <a:pPr lvl="1"/>
                <a:r>
                  <a:rPr lang="en-US" dirty="0" smtClean="0"/>
                  <a:t>Combines momentum and RMSprop</a:t>
                </a:r>
              </a:p>
              <a:p>
                <a:pPr lvl="1"/>
                <a:r>
                  <a:rPr lang="en-US" dirty="0" smtClean="0"/>
                  <a:t>Usually: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 (tuning);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=0,9</m:t>
                    </m:r>
                  </m:oMath>
                </a14:m>
                <a:r>
                  <a:rPr lang="en-US" dirty="0" smtClean="0"/>
                  <a:t>;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=0,999</m:t>
                    </m:r>
                  </m:oMath>
                </a14:m>
                <a:r>
                  <a:rPr lang="en-US" dirty="0" smtClean="0"/>
                  <a:t>;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 smtClean="0"/>
                  <a:t>Usage</a:t>
                </a:r>
              </a:p>
              <a:p>
                <a:pPr lvl="1"/>
                <a:r>
                  <a:rPr lang="en-US" dirty="0" smtClean="0"/>
                  <a:t>In place of </a:t>
                </a:r>
                <a:r>
                  <a:rPr lang="en-US" dirty="0" smtClean="0">
                    <a:latin typeface="Consolas" panose="020B0609020204030204" pitchFamily="49" charset="0"/>
                  </a:rPr>
                  <a:t>GradientDescentOptimizer</a:t>
                </a:r>
              </a:p>
              <a:p>
                <a:pPr lvl="1"/>
                <a:r>
                  <a:rPr lang="en-US" dirty="0" smtClean="0"/>
                  <a:t>It's best to tune all hyperparameters but the default</a:t>
                </a:r>
                <a:br>
                  <a:rPr lang="en-US" dirty="0" smtClean="0"/>
                </a:br>
                <a:r>
                  <a:rPr lang="en-US" dirty="0" smtClean="0"/>
                  <a:t>ones should work for most cases</a:t>
                </a:r>
              </a:p>
              <a:p>
                <a:pPr lvl="2"/>
                <a:r>
                  <a:rPr lang="en-US" dirty="0" smtClean="0"/>
                  <a:t>Tuning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 is non-negotiable</a:t>
                </a:r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16</a:t>
            </a:fld>
            <a:endParaRPr lang="bg-BG"/>
          </a:p>
        </p:txBody>
      </p:sp>
      <p:sp>
        <p:nvSpPr>
          <p:cNvPr id="6" name="TextBox 5"/>
          <p:cNvSpPr txBox="1"/>
          <p:nvPr/>
        </p:nvSpPr>
        <p:spPr>
          <a:xfrm>
            <a:off x="833097" y="4406886"/>
            <a:ext cx="8543660" cy="1477328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tf.train.AdamOptimizer</a:t>
            </a:r>
            <a:r>
              <a:rPr lang="en-US" dirty="0" smtClean="0">
                <a:solidFill>
                  <a:srgbClr val="000000"/>
                </a:solidFill>
              </a:rPr>
              <a:t>(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learning_rate </a:t>
            </a:r>
            <a:r>
              <a:rPr lang="en-US" dirty="0">
                <a:solidFill>
                  <a:srgbClr val="000000"/>
                </a:solidFill>
              </a:rPr>
              <a:t>= </a:t>
            </a:r>
            <a:r>
              <a:rPr lang="en-US" dirty="0" smtClean="0">
                <a:solidFill>
                  <a:srgbClr val="09885A"/>
                </a:solidFill>
              </a:rPr>
              <a:t>0.001</a:t>
            </a:r>
            <a:r>
              <a:rPr lang="en-US" dirty="0" smtClean="0">
                <a:solidFill>
                  <a:srgbClr val="000000"/>
                </a:solidFill>
              </a:rPr>
              <a:t>,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beta1 </a:t>
            </a:r>
            <a:r>
              <a:rPr lang="en-US" dirty="0">
                <a:solidFill>
                  <a:srgbClr val="000000"/>
                </a:solidFill>
              </a:rPr>
              <a:t>= </a:t>
            </a:r>
            <a:r>
              <a:rPr lang="en-US" dirty="0" smtClean="0">
                <a:solidFill>
                  <a:srgbClr val="09885A"/>
                </a:solidFill>
              </a:rPr>
              <a:t>0.9</a:t>
            </a:r>
            <a:r>
              <a:rPr lang="en-US" dirty="0" smtClean="0">
                <a:solidFill>
                  <a:srgbClr val="000000"/>
                </a:solidFill>
              </a:rPr>
              <a:t>,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beta2 </a:t>
            </a:r>
            <a:r>
              <a:rPr lang="en-US" dirty="0">
                <a:solidFill>
                  <a:srgbClr val="000000"/>
                </a:solidFill>
              </a:rPr>
              <a:t>= </a:t>
            </a:r>
            <a:r>
              <a:rPr lang="en-US" dirty="0" smtClean="0">
                <a:solidFill>
                  <a:srgbClr val="09885A"/>
                </a:solidFill>
              </a:rPr>
              <a:t>0.999</a:t>
            </a:r>
            <a:r>
              <a:rPr lang="en-US" dirty="0" smtClean="0">
                <a:solidFill>
                  <a:srgbClr val="000000"/>
                </a:solidFill>
              </a:rPr>
              <a:t>,</a:t>
            </a:r>
            <a:br>
              <a:rPr lang="en-US" dirty="0" smtClean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    epsilon </a:t>
            </a:r>
            <a:r>
              <a:rPr lang="en-US" dirty="0">
                <a:solidFill>
                  <a:srgbClr val="000000"/>
                </a:solidFill>
              </a:rPr>
              <a:t>= </a:t>
            </a:r>
            <a:r>
              <a:rPr lang="en-US" dirty="0">
                <a:solidFill>
                  <a:srgbClr val="09885A"/>
                </a:solidFill>
              </a:rPr>
              <a:t>1e-8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70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Note on Local Minima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When training a model, GD and similar algorithms</a:t>
                </a:r>
                <a:br>
                  <a:rPr lang="en-US" dirty="0" smtClean="0"/>
                </a:br>
                <a:r>
                  <a:rPr lang="en-US" dirty="0" smtClean="0"/>
                  <a:t>may get stuck in a local minimum</a:t>
                </a:r>
              </a:p>
              <a:p>
                <a:pPr lvl="1"/>
                <a:r>
                  <a:rPr lang="en-US" dirty="0" smtClean="0"/>
                  <a:t>ML solution: different starting points</a:t>
                </a:r>
              </a:p>
              <a:p>
                <a:r>
                  <a:rPr lang="en-US" dirty="0" smtClean="0"/>
                  <a:t>In higher-dimensional spaces, most</a:t>
                </a:r>
                <a:br>
                  <a:rPr lang="en-US" dirty="0" smtClean="0"/>
                </a:br>
                <a:r>
                  <a:rPr lang="en-US" dirty="0" smtClean="0"/>
                  <a:t>points with zero gradient are not</a:t>
                </a:r>
                <a:br>
                  <a:rPr lang="en-US" dirty="0" smtClean="0"/>
                </a:br>
                <a:r>
                  <a:rPr lang="en-US" dirty="0" smtClean="0"/>
                  <a:t>local minima</a:t>
                </a:r>
              </a:p>
              <a:p>
                <a:pPr lvl="1"/>
                <a:r>
                  <a:rPr lang="en-US" dirty="0" smtClean="0"/>
                  <a:t>They're instead saddle points</a:t>
                </a:r>
              </a:p>
              <a:p>
                <a:pPr lvl="2"/>
                <a:r>
                  <a:rPr lang="en-US" dirty="0" smtClean="0"/>
                  <a:t>"Min" at one direction, "max" at the other</a:t>
                </a:r>
              </a:p>
              <a:p>
                <a:pPr lvl="1"/>
                <a:r>
                  <a:rPr lang="en-US" dirty="0" smtClean="0"/>
                  <a:t>Example: 100 dimensions</a:t>
                </a:r>
              </a:p>
              <a:p>
                <a:pPr lvl="2"/>
                <a:r>
                  <a:rPr lang="en-US" dirty="0" smtClean="0"/>
                  <a:t>Local min: all dimensions must be min</a:t>
                </a:r>
              </a:p>
              <a:p>
                <a:pPr lvl="3"/>
                <a:r>
                  <a:rPr lang="en-US" dirty="0" smtClean="0"/>
                  <a:t>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local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7,89.10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−31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When an optimizer gets to a saddle point,</a:t>
                </a:r>
                <a:br>
                  <a:rPr lang="en-US" dirty="0" smtClean="0"/>
                </a:br>
                <a:r>
                  <a:rPr lang="en-US" dirty="0" smtClean="0"/>
                  <a:t>it's able to "roll off"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17</a:t>
            </a:fld>
            <a:endParaRPr lang="bg-B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883" y="1313410"/>
            <a:ext cx="3436196" cy="26703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883" y="3849066"/>
            <a:ext cx="3436196" cy="268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51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Hyperparameter Tuning</a:t>
            </a:r>
            <a:endParaRPr lang="bg-BG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Similar to "standard"</a:t>
            </a:r>
            <a:br>
              <a:rPr lang="en-US" dirty="0" smtClean="0"/>
            </a:br>
            <a:r>
              <a:rPr lang="en-US" dirty="0" smtClean="0"/>
              <a:t>machine learning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1580972" y="6485729"/>
            <a:ext cx="609441" cy="365030"/>
          </a:xfrm>
        </p:spPr>
        <p:txBody>
          <a:bodyPr/>
          <a:lstStyle/>
          <a:p>
            <a:fld id="{F62E2DA1-433A-4C79-9CB7-38CF6DDB953D}" type="slidenum">
              <a:rPr lang="bg-BG" smtClean="0"/>
              <a:t>18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3910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Prioritizing Hyperparameters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Most important: 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Momentum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mini-batch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b="0" dirty="0" smtClean="0"/>
              </a:p>
              <a:p>
                <a:r>
                  <a:rPr lang="en-US" dirty="0" smtClean="0"/>
                  <a:t>Number of hidden units</a:t>
                </a:r>
              </a:p>
              <a:p>
                <a:r>
                  <a:rPr lang="en-US" dirty="0" smtClean="0"/>
                  <a:t>Number of hidden layers</a:t>
                </a:r>
              </a:p>
              <a:p>
                <a:r>
                  <a:rPr lang="en-US" dirty="0" smtClean="0"/>
                  <a:t>Search methodology</a:t>
                </a:r>
              </a:p>
              <a:p>
                <a:pPr lvl="1"/>
                <a:r>
                  <a:rPr lang="en-US" dirty="0" smtClean="0"/>
                  <a:t>Grid search doesn't work (too large search space)</a:t>
                </a:r>
              </a:p>
              <a:p>
                <a:pPr lvl="1"/>
                <a:r>
                  <a:rPr lang="en-US" dirty="0" smtClean="0"/>
                  <a:t>Use random search instead</a:t>
                </a:r>
              </a:p>
              <a:p>
                <a:r>
                  <a:rPr lang="en-US" dirty="0" smtClean="0"/>
                  <a:t>Better idea: use a coarse</a:t>
                </a:r>
                <a:br>
                  <a:rPr lang="en-US" dirty="0" smtClean="0"/>
                </a:br>
                <a:r>
                  <a:rPr lang="en-US" dirty="0" smtClean="0"/>
                  <a:t>random search first</a:t>
                </a:r>
              </a:p>
              <a:p>
                <a:pPr lvl="1"/>
                <a:r>
                  <a:rPr lang="en-US" dirty="0" smtClean="0"/>
                  <a:t>When you find a good place, </a:t>
                </a:r>
                <a:br>
                  <a:rPr lang="en-US" dirty="0" smtClean="0"/>
                </a:br>
                <a:r>
                  <a:rPr lang="en-US" dirty="0" smtClean="0"/>
                  <a:t>"zoom in" to that</a:t>
                </a:r>
              </a:p>
              <a:p>
                <a:pPr lvl="1"/>
                <a:r>
                  <a:rPr lang="en-US" dirty="0" smtClean="0"/>
                  <a:t>Repeat as long as you wish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19</a:t>
            </a:fld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104" y="4405744"/>
            <a:ext cx="5823013" cy="201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1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Hyperparameter Scales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Usual: uniform scale</a:t>
                </a:r>
              </a:p>
              <a:p>
                <a:pPr lvl="1"/>
                <a:r>
                  <a:rPr lang="en-US" dirty="0" smtClean="0"/>
                  <a:t>E.g. hidden layers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{2, 3, 4}</m:t>
                    </m:r>
                  </m:oMath>
                </a14:m>
                <a:r>
                  <a:rPr lang="en-US" dirty="0" smtClean="0"/>
                  <a:t>, hidden units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∈[50;100]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Logarithmic scale</a:t>
                </a:r>
              </a:p>
              <a:p>
                <a:pPr lvl="1"/>
                <a:r>
                  <a:rPr lang="en-US" b="0" dirty="0" smtClean="0"/>
                  <a:t>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∈[0,00001;10]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If we pick uniformly, most values will be close to 1</a:t>
                </a:r>
              </a:p>
              <a:p>
                <a:pPr lvl="1"/>
                <a:r>
                  <a:rPr lang="en-US" dirty="0" smtClean="0"/>
                  <a:t>Solution: use a log scale for better search space exploration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∈[−5;1]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Exponentially weighted averages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 smtClean="0"/>
                  <a:t>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0,9;0,9999</m:t>
                        </m:r>
                      </m:e>
                    </m:d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∈[0,1;0,0001]</m:t>
                      </m:r>
                    </m:oMath>
                  </m:oMathPara>
                </a14:m>
                <a:endParaRPr lang="en-US" b="0" dirty="0" smtClean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−4;−1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−4;−1</m:t>
                        </m:r>
                      </m:e>
                    </m:d>
                  </m:oMath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20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62625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Batch Normalization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Normalizing inputs: Z-score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US" dirty="0" smtClean="0"/>
              </a:p>
              <a:p>
                <a:r>
                  <a:rPr lang="en-US" dirty="0" smtClean="0"/>
                  <a:t>Batch normalization</a:t>
                </a:r>
              </a:p>
              <a:p>
                <a:pPr lvl="1"/>
                <a:r>
                  <a:rPr lang="en-US" dirty="0" smtClean="0"/>
                  <a:t>At a given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</m:oMath>
                </a14:m>
                <a:endParaRPr lang="en-US" b="0" dirty="0" smtClean="0"/>
              </a:p>
              <a:p>
                <a:pPr lvl="1"/>
                <a:r>
                  <a:rPr lang="en-US" dirty="0" smtClean="0"/>
                  <a:t>Use a linear transformation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instead of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b="0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are parameters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are updated along with the weights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Application: compute </a:t>
                </a:r>
                <a:r>
                  <a:rPr lang="en-US" b="1" dirty="0" smtClean="0"/>
                  <a:t>before</a:t>
                </a:r>
                <a:r>
                  <a:rPr lang="en-US" dirty="0" smtClean="0"/>
                  <a:t> activation function</a:t>
                </a:r>
              </a:p>
              <a:p>
                <a:pPr lvl="1"/>
                <a:r>
                  <a:rPr lang="en-US" dirty="0" smtClean="0"/>
                  <a:t>Why does it work?</a:t>
                </a:r>
              </a:p>
              <a:p>
                <a:pPr lvl="2"/>
                <a:r>
                  <a:rPr lang="en-US" dirty="0" smtClean="0"/>
                  <a:t>Doesn't allow the values to vary too much</a:t>
                </a:r>
                <a:endParaRPr lang="en-US" dirty="0"/>
              </a:p>
              <a:p>
                <a:pPr lvl="1"/>
                <a:r>
                  <a:rPr lang="en-US" dirty="0" smtClean="0"/>
                  <a:t>Implementation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2" t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E2DA1-433A-4C79-9CB7-38CF6DDB953D}" type="slidenum">
              <a:rPr lang="bg-BG" smtClean="0"/>
              <a:t>21</a:t>
            </a:fld>
            <a:endParaRPr lang="bg-BG"/>
          </a:p>
        </p:txBody>
      </p:sp>
      <p:sp>
        <p:nvSpPr>
          <p:cNvPr id="5" name="TextBox 4"/>
          <p:cNvSpPr txBox="1"/>
          <p:nvPr/>
        </p:nvSpPr>
        <p:spPr>
          <a:xfrm>
            <a:off x="1015976" y="5960843"/>
            <a:ext cx="8543660" cy="646331"/>
          </a:xfrm>
          <a:prstGeom prst="rect">
            <a:avLst/>
          </a:prstGeom>
          <a:noFill/>
          <a:ln w="25400">
            <a:solidFill>
              <a:srgbClr val="2196F3"/>
            </a:solidFill>
          </a:ln>
        </p:spPr>
        <p:txBody>
          <a:bodyPr wrap="square" rtlCol="0">
            <a:spAutoFit/>
          </a:bodyPr>
          <a:lstStyle>
            <a:defPPr>
              <a:defRPr lang="bg-BG"/>
            </a:defPPr>
            <a:lvl1pPr>
              <a:defRPr>
                <a:solidFill>
                  <a:srgbClr val="4D4D4D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 tensorflow.keras.layers </a:t>
            </a:r>
            <a:r>
              <a:rPr lang="en-US" dirty="0">
                <a:solidFill>
                  <a:srgbClr val="0000FF"/>
                </a:solidFill>
              </a:rPr>
              <a:t>import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BatchNormalization</a:t>
            </a:r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 smtClean="0">
                <a:solidFill>
                  <a:srgbClr val="000000"/>
                </a:solidFill>
              </a:rPr>
              <a:t>BatchNormalization(input)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3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  <a:p>
            <a:r>
              <a:rPr lang="en-US" dirty="0"/>
              <a:t>Bias and variance</a:t>
            </a:r>
          </a:p>
          <a:p>
            <a:pPr lvl="1"/>
            <a:r>
              <a:rPr lang="en-US" dirty="0"/>
              <a:t>Error analysis</a:t>
            </a:r>
          </a:p>
          <a:p>
            <a:r>
              <a:rPr lang="en-US" dirty="0"/>
              <a:t>Optimization algorithms</a:t>
            </a:r>
          </a:p>
          <a:p>
            <a:r>
              <a:rPr lang="en-US" dirty="0"/>
              <a:t>Hyperparameter tuning</a:t>
            </a:r>
          </a:p>
          <a:p>
            <a:r>
              <a:rPr lang="en-US" dirty="0"/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202239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96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2D89"/>
      </a:hlink>
      <a:folHlink>
        <a:srgbClr val="002060"/>
      </a:folHlink>
    </a:clrScheme>
    <a:fontScheme name="Modern">
      <a:majorFont>
        <a:latin typeface="Montserrat Medium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815</Words>
  <Application>Microsoft Office PowerPoint</Application>
  <PresentationFormat>Widescreen</PresentationFormat>
  <Paragraphs>253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Lato</vt:lpstr>
      <vt:lpstr>Montserrat Medium</vt:lpstr>
      <vt:lpstr>Open Sans</vt:lpstr>
      <vt:lpstr>Wingdings</vt:lpstr>
      <vt:lpstr>Office Theme</vt:lpstr>
      <vt:lpstr>Training and Improving Neural Networks</vt:lpstr>
      <vt:lpstr>sli.do #DeepLearning</vt:lpstr>
      <vt:lpstr>Table of Contents</vt:lpstr>
      <vt:lpstr>Bias and Variance</vt:lpstr>
      <vt:lpstr>Regularization</vt:lpstr>
      <vt:lpstr>Dropout</vt:lpstr>
      <vt:lpstr>Selecting and Splitting Data</vt:lpstr>
      <vt:lpstr>Bias-Variance Error Analysis</vt:lpstr>
      <vt:lpstr>Taking the Next Step</vt:lpstr>
      <vt:lpstr>Training / Validation Curves</vt:lpstr>
      <vt:lpstr>Optimization</vt:lpstr>
      <vt:lpstr>Weight Initialization</vt:lpstr>
      <vt:lpstr>Weight Initialization (2)</vt:lpstr>
      <vt:lpstr>Mini-batch Gradient Descent</vt:lpstr>
      <vt:lpstr>Improving Gradient Descent</vt:lpstr>
      <vt:lpstr>Adam Optimizer</vt:lpstr>
      <vt:lpstr>A Note on Local Minima</vt:lpstr>
      <vt:lpstr>Hyperparameter Tuning</vt:lpstr>
      <vt:lpstr>Prioritizing Hyperparameters</vt:lpstr>
      <vt:lpstr>Hyperparameter Scales</vt:lpstr>
      <vt:lpstr>Batch Normalization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Yordan Darakchiev</dc:creator>
  <cp:lastModifiedBy>Yordan Darakchiev</cp:lastModifiedBy>
  <cp:revision>122</cp:revision>
  <dcterms:created xsi:type="dcterms:W3CDTF">2017-09-11T12:40:37Z</dcterms:created>
  <dcterms:modified xsi:type="dcterms:W3CDTF">2020-12-09T12:35:52Z</dcterms:modified>
</cp:coreProperties>
</file>