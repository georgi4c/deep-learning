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7" r:id="rId3"/>
    <p:sldId id="262" r:id="rId4"/>
    <p:sldId id="263" r:id="rId5"/>
    <p:sldId id="315" r:id="rId6"/>
    <p:sldId id="316" r:id="rId7"/>
    <p:sldId id="317" r:id="rId8"/>
    <p:sldId id="328" r:id="rId9"/>
    <p:sldId id="326" r:id="rId10"/>
    <p:sldId id="320" r:id="rId11"/>
    <p:sldId id="322" r:id="rId12"/>
    <p:sldId id="318" r:id="rId13"/>
    <p:sldId id="319" r:id="rId14"/>
    <p:sldId id="321" r:id="rId15"/>
    <p:sldId id="323" r:id="rId16"/>
    <p:sldId id="324" r:id="rId17"/>
    <p:sldId id="325" r:id="rId18"/>
    <p:sldId id="304" r:id="rId19"/>
    <p:sldId id="261" r:id="rId20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6F3"/>
    <a:srgbClr val="4D4D4D"/>
    <a:srgbClr val="8BC34A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 userDrawn="1"/>
        </p:nvGrpSpPr>
        <p:grpSpPr>
          <a:xfrm>
            <a:off x="3810" y="-7619"/>
            <a:ext cx="12191998" cy="6880134"/>
            <a:chOff x="3810" y="-1"/>
            <a:chExt cx="12191998" cy="6858001"/>
          </a:xfrm>
        </p:grpSpPr>
        <p:sp>
          <p:nvSpPr>
            <p:cNvPr id="109" name="Freeform 108"/>
            <p:cNvSpPr/>
            <p:nvPr userDrawn="1"/>
          </p:nvSpPr>
          <p:spPr>
            <a:xfrm>
              <a:off x="1803400" y="0"/>
              <a:ext cx="10392408" cy="6858000"/>
            </a:xfrm>
            <a:custGeom>
              <a:avLst/>
              <a:gdLst>
                <a:gd name="connsiteX0" fmla="*/ 0 w 10392408"/>
                <a:gd name="connsiteY0" fmla="*/ 0 h 6858000"/>
                <a:gd name="connsiteX1" fmla="*/ 6534783 w 10392408"/>
                <a:gd name="connsiteY1" fmla="*/ 0 h 6858000"/>
                <a:gd name="connsiteX2" fmla="*/ 6658608 w 10392408"/>
                <a:gd name="connsiteY2" fmla="*/ 0 h 6858000"/>
                <a:gd name="connsiteX3" fmla="*/ 9106533 w 10392408"/>
                <a:gd name="connsiteY3" fmla="*/ 0 h 6858000"/>
                <a:gd name="connsiteX4" fmla="*/ 10392408 w 10392408"/>
                <a:gd name="connsiteY4" fmla="*/ 6858000 h 6858000"/>
                <a:gd name="connsiteX5" fmla="*/ 6658608 w 10392408"/>
                <a:gd name="connsiteY5" fmla="*/ 6858000 h 6858000"/>
                <a:gd name="connsiteX6" fmla="*/ 5248908 w 10392408"/>
                <a:gd name="connsiteY6" fmla="*/ 6858000 h 6858000"/>
                <a:gd name="connsiteX7" fmla="*/ 0 w 1039240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92408" h="6858000">
                  <a:moveTo>
                    <a:pt x="0" y="0"/>
                  </a:moveTo>
                  <a:lnTo>
                    <a:pt x="6534783" y="0"/>
                  </a:lnTo>
                  <a:lnTo>
                    <a:pt x="6658608" y="0"/>
                  </a:lnTo>
                  <a:lnTo>
                    <a:pt x="9106533" y="0"/>
                  </a:lnTo>
                  <a:lnTo>
                    <a:pt x="10392408" y="6858000"/>
                  </a:lnTo>
                  <a:lnTo>
                    <a:pt x="6658608" y="6858000"/>
                  </a:lnTo>
                  <a:lnTo>
                    <a:pt x="524890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5" name="Freeform 104"/>
            <p:cNvSpPr/>
            <p:nvPr userDrawn="1"/>
          </p:nvSpPr>
          <p:spPr>
            <a:xfrm>
              <a:off x="1943102" y="-1"/>
              <a:ext cx="9842498" cy="6858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Freeform 89"/>
            <p:cNvSpPr/>
            <p:nvPr userDrawn="1"/>
          </p:nvSpPr>
          <p:spPr>
            <a:xfrm rot="10800000">
              <a:off x="3810" y="-1"/>
              <a:ext cx="1939290" cy="6858000"/>
            </a:xfrm>
            <a:custGeom>
              <a:avLst/>
              <a:gdLst>
                <a:gd name="connsiteX0" fmla="*/ 1939290 w 1939290"/>
                <a:gd name="connsiteY0" fmla="*/ 6858000 h 6858000"/>
                <a:gd name="connsiteX1" fmla="*/ 0 w 1939290"/>
                <a:gd name="connsiteY1" fmla="*/ 6858000 h 6858000"/>
                <a:gd name="connsiteX2" fmla="*/ 0 w 1939290"/>
                <a:gd name="connsiteY2" fmla="*/ 0 h 6858000"/>
                <a:gd name="connsiteX3" fmla="*/ 653415 w 193929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290" h="6858000">
                  <a:moveTo>
                    <a:pt x="193929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5341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8" name="Freeform 87"/>
            <p:cNvSpPr/>
            <p:nvPr userDrawn="1"/>
          </p:nvSpPr>
          <p:spPr>
            <a:xfrm rot="10800000">
              <a:off x="419100" y="-1"/>
              <a:ext cx="1524000" cy="6858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2960" y="137160"/>
            <a:ext cx="9688467" cy="1988820"/>
          </a:xfrm>
        </p:spPr>
        <p:txBody>
          <a:bodyPr anchor="b">
            <a:normAutofit/>
          </a:bodyPr>
          <a:lstStyle>
            <a:lvl1pPr algn="r">
              <a:defRPr sz="52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97280" y="2153510"/>
            <a:ext cx="9414147" cy="1390311"/>
          </a:xfrm>
        </p:spPr>
        <p:txBody>
          <a:bodyPr>
            <a:normAutofit/>
          </a:bodyPr>
          <a:lstStyle>
            <a:lvl1pPr marL="0" indent="0" algn="r">
              <a:buNone/>
              <a:defRPr sz="3200" b="0" i="0" strike="noStrike" baseline="0">
                <a:solidFill>
                  <a:srgbClr val="2196F3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Main topics</a:t>
            </a:r>
            <a:endParaRPr lang="bg-BG" dirty="0"/>
          </a:p>
        </p:txBody>
      </p:sp>
      <p:sp>
        <p:nvSpPr>
          <p:cNvPr id="113" name="Text Placeholder 112"/>
          <p:cNvSpPr>
            <a:spLocks noGrp="1"/>
          </p:cNvSpPr>
          <p:nvPr>
            <p:ph type="body" sz="quarter" idx="10" hasCustomPrompt="1"/>
          </p:nvPr>
        </p:nvSpPr>
        <p:spPr>
          <a:xfrm>
            <a:off x="1803399" y="5339499"/>
            <a:ext cx="4281486" cy="489744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4D4D4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 smtClean="0"/>
              <a:t>Name</a:t>
            </a:r>
            <a:endParaRPr lang="bg-BG" dirty="0"/>
          </a:p>
        </p:txBody>
      </p:sp>
      <p:sp>
        <p:nvSpPr>
          <p:cNvPr id="114" name="Text Placeholder 112"/>
          <p:cNvSpPr>
            <a:spLocks noGrp="1"/>
          </p:cNvSpPr>
          <p:nvPr>
            <p:ph type="body" sz="quarter" idx="11" hasCustomPrompt="1"/>
          </p:nvPr>
        </p:nvSpPr>
        <p:spPr>
          <a:xfrm>
            <a:off x="1803399" y="5829300"/>
            <a:ext cx="4281487" cy="3683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>
                    <a:lumMod val="65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bg-BG" dirty="0"/>
          </a:p>
        </p:txBody>
      </p:sp>
      <p:sp>
        <p:nvSpPr>
          <p:cNvPr id="115" name="Text Placeholder 112"/>
          <p:cNvSpPr>
            <a:spLocks noGrp="1"/>
          </p:cNvSpPr>
          <p:nvPr>
            <p:ph type="body" sz="quarter" idx="12" hasCustomPrompt="1"/>
          </p:nvPr>
        </p:nvSpPr>
        <p:spPr>
          <a:xfrm>
            <a:off x="1803398" y="6221072"/>
            <a:ext cx="4281487" cy="44642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2196F3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Email</a:t>
            </a:r>
            <a:endParaRPr lang="bg-BG" dirty="0"/>
          </a:p>
        </p:txBody>
      </p:sp>
      <p:sp>
        <p:nvSpPr>
          <p:cNvPr id="120" name="Picture Placeholder 119"/>
          <p:cNvSpPr>
            <a:spLocks noGrp="1"/>
          </p:cNvSpPr>
          <p:nvPr>
            <p:ph type="pic" sz="quarter" idx="13"/>
          </p:nvPr>
        </p:nvSpPr>
        <p:spPr>
          <a:xfrm>
            <a:off x="8055882" y="4202112"/>
            <a:ext cx="2466975" cy="2465388"/>
          </a:xfrm>
        </p:spPr>
        <p:txBody>
          <a:bodyPr/>
          <a:lstStyle>
            <a:lvl1pPr marL="0" indent="0">
              <a:buNone/>
              <a:defRPr>
                <a:latin typeface="+mn-lt"/>
                <a:cs typeface="Calibri" panose="020F0502020204030204" pitchFamily="34" charset="0"/>
              </a:defRPr>
            </a:lvl1pPr>
          </a:lstStyle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7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350" y="0"/>
            <a:ext cx="12192000" cy="6858000"/>
            <a:chOff x="-6350" y="0"/>
            <a:chExt cx="12192000" cy="6858000"/>
          </a:xfrm>
        </p:grpSpPr>
        <p:sp>
          <p:nvSpPr>
            <p:cNvPr id="13" name="Freeform 12"/>
            <p:cNvSpPr/>
            <p:nvPr userDrawn="1"/>
          </p:nvSpPr>
          <p:spPr>
            <a:xfrm>
              <a:off x="-635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8334375 w 12192000"/>
                <a:gd name="connsiteY1" fmla="*/ 0 h 6858000"/>
                <a:gd name="connsiteX2" fmla="*/ 8458200 w 12192000"/>
                <a:gd name="connsiteY2" fmla="*/ 0 h 6858000"/>
                <a:gd name="connsiteX3" fmla="*/ 10906125 w 12192000"/>
                <a:gd name="connsiteY3" fmla="*/ 0 h 6858000"/>
                <a:gd name="connsiteX4" fmla="*/ 12192000 w 12192000"/>
                <a:gd name="connsiteY4" fmla="*/ 6858000 h 6858000"/>
                <a:gd name="connsiteX5" fmla="*/ 8458200 w 12192000"/>
                <a:gd name="connsiteY5" fmla="*/ 6858000 h 6858000"/>
                <a:gd name="connsiteX6" fmla="*/ 70485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8334375" y="0"/>
                  </a:lnTo>
                  <a:lnTo>
                    <a:pt x="8458200" y="0"/>
                  </a:lnTo>
                  <a:lnTo>
                    <a:pt x="10906125" y="0"/>
                  </a:lnTo>
                  <a:lnTo>
                    <a:pt x="12192000" y="6858000"/>
                  </a:lnTo>
                  <a:lnTo>
                    <a:pt x="8458200" y="6858000"/>
                  </a:lnTo>
                  <a:lnTo>
                    <a:pt x="7048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Freeform 8"/>
            <p:cNvSpPr/>
            <p:nvPr userDrawn="1"/>
          </p:nvSpPr>
          <p:spPr>
            <a:xfrm>
              <a:off x="0" y="0"/>
              <a:ext cx="11969750" cy="6858000"/>
            </a:xfrm>
            <a:custGeom>
              <a:avLst/>
              <a:gdLst>
                <a:gd name="connsiteX0" fmla="*/ 0 w 11969750"/>
                <a:gd name="connsiteY0" fmla="*/ 0 h 6858000"/>
                <a:gd name="connsiteX1" fmla="*/ 8112125 w 11969750"/>
                <a:gd name="connsiteY1" fmla="*/ 0 h 6858000"/>
                <a:gd name="connsiteX2" fmla="*/ 8235950 w 11969750"/>
                <a:gd name="connsiteY2" fmla="*/ 0 h 6858000"/>
                <a:gd name="connsiteX3" fmla="*/ 10683875 w 11969750"/>
                <a:gd name="connsiteY3" fmla="*/ 0 h 6858000"/>
                <a:gd name="connsiteX4" fmla="*/ 11969750 w 11969750"/>
                <a:gd name="connsiteY4" fmla="*/ 6858000 h 6858000"/>
                <a:gd name="connsiteX5" fmla="*/ 8235950 w 11969750"/>
                <a:gd name="connsiteY5" fmla="*/ 6858000 h 6858000"/>
                <a:gd name="connsiteX6" fmla="*/ 6826250 w 11969750"/>
                <a:gd name="connsiteY6" fmla="*/ 6858000 h 6858000"/>
                <a:gd name="connsiteX7" fmla="*/ 0 w 1196975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50" h="6858000">
                  <a:moveTo>
                    <a:pt x="0" y="0"/>
                  </a:moveTo>
                  <a:lnTo>
                    <a:pt x="8112125" y="0"/>
                  </a:lnTo>
                  <a:lnTo>
                    <a:pt x="8235950" y="0"/>
                  </a:lnTo>
                  <a:lnTo>
                    <a:pt x="10683875" y="0"/>
                  </a:lnTo>
                  <a:lnTo>
                    <a:pt x="11969750" y="6858000"/>
                  </a:lnTo>
                  <a:lnTo>
                    <a:pt x="8235950" y="6858000"/>
                  </a:lnTo>
                  <a:lnTo>
                    <a:pt x="682625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18212" y="0"/>
            <a:ext cx="11720942" cy="831273"/>
          </a:xfrm>
        </p:spPr>
        <p:txBody>
          <a:bodyPr>
            <a:normAutofit/>
          </a:bodyPr>
          <a:lstStyle>
            <a:lvl1pPr algn="l">
              <a:defRPr sz="4000" baseline="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Slide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52055"/>
            <a:ext cx="11720941" cy="586942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3000">
                <a:solidFill>
                  <a:srgbClr val="4D4D4D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600">
                <a:solidFill>
                  <a:srgbClr val="4D4D4D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2200">
                <a:solidFill>
                  <a:srgbClr val="4D4D4D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4D4D4D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443853" y="6424612"/>
            <a:ext cx="422564" cy="365125"/>
          </a:xfrm>
        </p:spPr>
        <p:txBody>
          <a:bodyPr/>
          <a:lstStyle/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27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572770" y="0"/>
            <a:ext cx="11619230" cy="6858000"/>
            <a:chOff x="572770" y="0"/>
            <a:chExt cx="11619230" cy="6858000"/>
          </a:xfrm>
        </p:grpSpPr>
        <p:sp>
          <p:nvSpPr>
            <p:cNvPr id="19" name="Freeform 18"/>
            <p:cNvSpPr/>
            <p:nvPr userDrawn="1"/>
          </p:nvSpPr>
          <p:spPr>
            <a:xfrm rot="10800000">
              <a:off x="572770" y="0"/>
              <a:ext cx="11619230" cy="6858000"/>
            </a:xfrm>
            <a:custGeom>
              <a:avLst/>
              <a:gdLst>
                <a:gd name="connsiteX0" fmla="*/ 11619230 w 11619230"/>
                <a:gd name="connsiteY0" fmla="*/ 6858000 h 6858000"/>
                <a:gd name="connsiteX1" fmla="*/ 7885430 w 11619230"/>
                <a:gd name="connsiteY1" fmla="*/ 6858000 h 6858000"/>
                <a:gd name="connsiteX2" fmla="*/ 6475730 w 11619230"/>
                <a:gd name="connsiteY2" fmla="*/ 6858000 h 6858000"/>
                <a:gd name="connsiteX3" fmla="*/ 0 w 11619230"/>
                <a:gd name="connsiteY3" fmla="*/ 6858000 h 6858000"/>
                <a:gd name="connsiteX4" fmla="*/ 0 w 11619230"/>
                <a:gd name="connsiteY4" fmla="*/ 0 h 6858000"/>
                <a:gd name="connsiteX5" fmla="*/ 7761605 w 11619230"/>
                <a:gd name="connsiteY5" fmla="*/ 0 h 6858000"/>
                <a:gd name="connsiteX6" fmla="*/ 7885430 w 11619230"/>
                <a:gd name="connsiteY6" fmla="*/ 0 h 6858000"/>
                <a:gd name="connsiteX7" fmla="*/ 10333355 w 1161923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9230" h="6858000">
                  <a:moveTo>
                    <a:pt x="11619230" y="6858000"/>
                  </a:moveTo>
                  <a:lnTo>
                    <a:pt x="7885430" y="6858000"/>
                  </a:lnTo>
                  <a:lnTo>
                    <a:pt x="647573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761605" y="0"/>
                  </a:lnTo>
                  <a:lnTo>
                    <a:pt x="7885430" y="0"/>
                  </a:lnTo>
                  <a:lnTo>
                    <a:pt x="1033335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Freeform 16"/>
            <p:cNvSpPr/>
            <p:nvPr userDrawn="1"/>
          </p:nvSpPr>
          <p:spPr>
            <a:xfrm rot="10800000">
              <a:off x="988060" y="0"/>
              <a:ext cx="11203940" cy="6858000"/>
            </a:xfrm>
            <a:custGeom>
              <a:avLst/>
              <a:gdLst>
                <a:gd name="connsiteX0" fmla="*/ 11203940 w 11203940"/>
                <a:gd name="connsiteY0" fmla="*/ 6858000 h 6858000"/>
                <a:gd name="connsiteX1" fmla="*/ 7470140 w 11203940"/>
                <a:gd name="connsiteY1" fmla="*/ 6858000 h 6858000"/>
                <a:gd name="connsiteX2" fmla="*/ 6060440 w 11203940"/>
                <a:gd name="connsiteY2" fmla="*/ 6858000 h 6858000"/>
                <a:gd name="connsiteX3" fmla="*/ 0 w 11203940"/>
                <a:gd name="connsiteY3" fmla="*/ 6858000 h 6858000"/>
                <a:gd name="connsiteX4" fmla="*/ 0 w 11203940"/>
                <a:gd name="connsiteY4" fmla="*/ 0 h 6858000"/>
                <a:gd name="connsiteX5" fmla="*/ 7346315 w 11203940"/>
                <a:gd name="connsiteY5" fmla="*/ 0 h 6858000"/>
                <a:gd name="connsiteX6" fmla="*/ 7470140 w 11203940"/>
                <a:gd name="connsiteY6" fmla="*/ 0 h 6858000"/>
                <a:gd name="connsiteX7" fmla="*/ 9918065 w 1120394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3940" h="6858000">
                  <a:moveTo>
                    <a:pt x="11203940" y="6858000"/>
                  </a:moveTo>
                  <a:lnTo>
                    <a:pt x="7470140" y="6858000"/>
                  </a:lnTo>
                  <a:lnTo>
                    <a:pt x="606044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346315" y="0"/>
                  </a:lnTo>
                  <a:lnTo>
                    <a:pt x="7470140" y="0"/>
                  </a:lnTo>
                  <a:lnTo>
                    <a:pt x="99180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930400" y="1709738"/>
            <a:ext cx="9906000" cy="2852737"/>
          </a:xfrm>
        </p:spPr>
        <p:txBody>
          <a:bodyPr anchor="b"/>
          <a:lstStyle>
            <a:lvl1pPr>
              <a:defRPr sz="60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Section Title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324100" y="4589463"/>
            <a:ext cx="9512300" cy="1500187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D4D4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401070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1" y="3812"/>
            <a:ext cx="12195811" cy="6854190"/>
            <a:chOff x="-1" y="3812"/>
            <a:chExt cx="12195811" cy="6854190"/>
          </a:xfrm>
        </p:grpSpPr>
        <p:sp>
          <p:nvSpPr>
            <p:cNvPr id="17" name="Freeform 16"/>
            <p:cNvSpPr/>
            <p:nvPr userDrawn="1"/>
          </p:nvSpPr>
          <p:spPr>
            <a:xfrm rot="16200000">
              <a:off x="3385185" y="-337756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6" name="Freeform 15"/>
            <p:cNvSpPr/>
            <p:nvPr userDrawn="1"/>
          </p:nvSpPr>
          <p:spPr>
            <a:xfrm rot="5400000">
              <a:off x="3381375" y="-195262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1" name="Freeform 10"/>
            <p:cNvSpPr/>
            <p:nvPr userDrawn="1"/>
          </p:nvSpPr>
          <p:spPr>
            <a:xfrm rot="5400000">
              <a:off x="3327799" y="-2236944"/>
              <a:ext cx="5536405" cy="12192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Freeform 12"/>
            <p:cNvSpPr/>
            <p:nvPr userDrawn="1"/>
          </p:nvSpPr>
          <p:spPr>
            <a:xfrm rot="16200000">
              <a:off x="5667377" y="-5433772"/>
              <a:ext cx="857250" cy="12192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" name="TextBox 2"/>
          <p:cNvSpPr txBox="1"/>
          <p:nvPr userDrawn="1"/>
        </p:nvSpPr>
        <p:spPr>
          <a:xfrm rot="21411406">
            <a:off x="0" y="266319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rgbClr val="2196F3"/>
                </a:solidFill>
                <a:latin typeface="+mj-lt"/>
              </a:rPr>
              <a:t>Questions?</a:t>
            </a:r>
            <a:endParaRPr lang="bg-BG" sz="9600" dirty="0">
              <a:solidFill>
                <a:srgbClr val="2196F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90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26A4-A17A-4698-BE1B-BA61FFEA96A2}" type="datetimeFigureOut">
              <a:rPr lang="bg-BG" smtClean="0"/>
              <a:t>13.1.2021 г.</a:t>
            </a:fld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6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96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ynjb7iv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6.02640.pdf" TargetMode="External"/><Relationship Id="rId2" Type="http://schemas.openxmlformats.org/officeDocument/2006/relationships/hyperlink" Target="https://www.pyimagesearch.com/2016/11/07/intersection-over-union-iou-for-object-detec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27.png"/><Relationship Id="rId4" Type="http://schemas.openxmlformats.org/officeDocument/2006/relationships/hyperlink" Target="https://arxiv.org/pdf/1311.2524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rxiv.org/pdf/1802.06360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nsorflow/models/tree/master/research/im2txt" TargetMode="External"/><Relationship Id="rId2" Type="http://schemas.openxmlformats.org/officeDocument/2006/relationships/hyperlink" Target="https://arxiv.org/pdf/1411.4555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cs.stanford.edu/people/karpathy/cvpr201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Neural Network Architectures</a:t>
            </a:r>
            <a:endParaRPr lang="bg-B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Putting everything together</a:t>
            </a:r>
            <a:endParaRPr lang="bg-B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Yordan Darakchiev</a:t>
            </a:r>
            <a:endParaRPr lang="bg-BG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Technical Trainer</a:t>
            </a:r>
            <a:endParaRPr lang="bg-B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iordan93@gmail.com</a:t>
            </a:r>
            <a:endParaRPr lang="bg-BG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60" t="-5454" r="-1331" b="-6126"/>
          <a:stretch/>
        </p:blipFill>
        <p:spPr/>
      </p:pic>
    </p:spTree>
    <p:extLst>
      <p:ext uri="{BB962C8B-B14F-4D97-AF65-F5344CB8AC3E}">
        <p14:creationId xmlns:p14="http://schemas.microsoft.com/office/powerpoint/2010/main" val="25130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sli.do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#DeepLearning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9924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Architectures: review</a:t>
            </a:r>
          </a:p>
          <a:p>
            <a:r>
              <a:rPr lang="en-US" dirty="0"/>
              <a:t>Transfer </a:t>
            </a:r>
            <a:r>
              <a:rPr lang="en-US" dirty="0" smtClean="0"/>
              <a:t>learning</a:t>
            </a:r>
          </a:p>
          <a:p>
            <a:r>
              <a:rPr lang="en-US" dirty="0" smtClean="0"/>
              <a:t>Semi-supervised methods</a:t>
            </a:r>
          </a:p>
          <a:p>
            <a:r>
              <a:rPr lang="en-US" dirty="0" smtClean="0"/>
              <a:t>Image captioning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178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recap on the popular ones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1533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VGG-19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Input shape: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𝑖𝑚𝑔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224,224,3]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Output shape: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1000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Total </a:t>
                </a:r>
                <a:r>
                  <a:rPr lang="en-US" dirty="0" err="1"/>
                  <a:t>params</a:t>
                </a:r>
                <a:r>
                  <a:rPr lang="en-US" dirty="0"/>
                  <a:t>: </a:t>
                </a:r>
                <a:r>
                  <a:rPr lang="en-US" dirty="0" smtClean="0"/>
                  <a:t>143 667 240</a:t>
                </a:r>
              </a:p>
              <a:p>
                <a:r>
                  <a:rPr lang="en-US" dirty="0" smtClean="0"/>
                  <a:t>Input flow</a:t>
                </a:r>
              </a:p>
              <a:p>
                <a:pPr lvl="1"/>
                <a:r>
                  <a:rPr lang="en-US" dirty="0" smtClean="0"/>
                  <a:t>Read image</a:t>
                </a:r>
              </a:p>
              <a:p>
                <a:pPr lvl="1"/>
                <a:r>
                  <a:rPr lang="en-US" dirty="0" smtClean="0"/>
                  <a:t>Resize</a:t>
                </a:r>
              </a:p>
              <a:p>
                <a:pPr lvl="1"/>
                <a:r>
                  <a:rPr lang="en-US" dirty="0" smtClean="0"/>
                  <a:t>Preprocess</a:t>
                </a:r>
              </a:p>
              <a:p>
                <a:r>
                  <a:rPr lang="en-US" dirty="0" smtClean="0"/>
                  <a:t>Predict</a:t>
                </a:r>
              </a:p>
              <a:p>
                <a:r>
                  <a:rPr lang="en-US" dirty="0" smtClean="0"/>
                  <a:t>Decode predictions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1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5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1091" y="2166094"/>
            <a:ext cx="5619405" cy="3221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7404" y="5655343"/>
            <a:ext cx="6403971" cy="64633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 tensorflow.keras.applications.vgg19 </a:t>
            </a:r>
            <a:r>
              <a:rPr lang="en-US" dirty="0" smtClean="0">
                <a:solidFill>
                  <a:srgbClr val="0000FF"/>
                </a:solidFill>
              </a:rPr>
              <a:t>import </a:t>
            </a:r>
            <a:r>
              <a:rPr lang="en-US" dirty="0">
                <a:solidFill>
                  <a:srgbClr val="000000"/>
                </a:solidFill>
              </a:rPr>
              <a:t>\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</a:t>
            </a:r>
            <a:r>
              <a:rPr lang="en-US" dirty="0" err="1" smtClean="0">
                <a:solidFill>
                  <a:srgbClr val="000000"/>
                </a:solidFill>
              </a:rPr>
              <a:t>preprocess_input</a:t>
            </a:r>
            <a:r>
              <a:rPr lang="en-US" dirty="0">
                <a:solidFill>
                  <a:srgbClr val="000000"/>
                </a:solidFill>
              </a:rPr>
              <a:t>, VGG19, </a:t>
            </a:r>
            <a:r>
              <a:rPr lang="en-US" dirty="0" err="1" smtClean="0">
                <a:solidFill>
                  <a:srgbClr val="000000"/>
                </a:solidFill>
              </a:rPr>
              <a:t>decode_predictions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28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Inception v3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Input shape: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?,?,3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pPr lvl="1"/>
                <a:r>
                  <a:rPr lang="en-US" b="0" dirty="0" smtClean="0"/>
                  <a:t>Originally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?=299</m:t>
                    </m:r>
                  </m:oMath>
                </a14:m>
                <a:endParaRPr lang="en-US" b="0" dirty="0" smtClean="0"/>
              </a:p>
              <a:p>
                <a:r>
                  <a:rPr lang="en-US" dirty="0" smtClean="0"/>
                  <a:t>Output shape: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1000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Total </a:t>
                </a:r>
                <a:r>
                  <a:rPr lang="en-US" dirty="0" err="1"/>
                  <a:t>params</a:t>
                </a:r>
                <a:r>
                  <a:rPr lang="en-US" dirty="0"/>
                  <a:t>: </a:t>
                </a:r>
                <a:r>
                  <a:rPr lang="en-US" dirty="0" smtClean="0"/>
                  <a:t>23 851 784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6</a:t>
            </a:fld>
            <a:endParaRPr lang="bg-BG"/>
          </a:p>
        </p:txBody>
      </p:sp>
      <p:sp>
        <p:nvSpPr>
          <p:cNvPr id="7" name="TextBox 6"/>
          <p:cNvSpPr txBox="1"/>
          <p:nvPr/>
        </p:nvSpPr>
        <p:spPr>
          <a:xfrm>
            <a:off x="387527" y="5715322"/>
            <a:ext cx="7975077" cy="64633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 tensorflow.keras.applications.inception_v3 </a:t>
            </a:r>
            <a:r>
              <a:rPr lang="en-US" dirty="0" smtClean="0">
                <a:solidFill>
                  <a:srgbClr val="0000FF"/>
                </a:solidFill>
              </a:rPr>
              <a:t>import </a:t>
            </a:r>
            <a:r>
              <a:rPr lang="en-US" dirty="0">
                <a:solidFill>
                  <a:srgbClr val="000000"/>
                </a:solidFill>
              </a:rPr>
              <a:t>\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InceptionV3, </a:t>
            </a:r>
            <a:r>
              <a:rPr lang="en-US" dirty="0" err="1">
                <a:solidFill>
                  <a:srgbClr val="000000"/>
                </a:solidFill>
              </a:rPr>
              <a:t>decode_predictions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 smtClean="0">
                <a:solidFill>
                  <a:srgbClr val="000000"/>
                </a:solidFill>
              </a:rPr>
              <a:t>preprocess_input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527" y="2910243"/>
            <a:ext cx="7281256" cy="28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6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Inception-</a:t>
            </a:r>
            <a:r>
              <a:rPr lang="en-US" dirty="0" err="1" smtClean="0"/>
              <a:t>ResNet</a:t>
            </a:r>
            <a:r>
              <a:rPr lang="en-US" dirty="0" smtClean="0"/>
              <a:t> v2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Input shape: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?,?,3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pPr lvl="1"/>
                <a:r>
                  <a:rPr lang="en-US" dirty="0" smtClean="0"/>
                  <a:t>Originally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?=299</m:t>
                    </m:r>
                  </m:oMath>
                </a14:m>
                <a:endParaRPr lang="en-US" b="0" dirty="0" smtClean="0"/>
              </a:p>
              <a:p>
                <a:pPr lvl="1"/>
                <a:r>
                  <a:rPr lang="en-US" dirty="0" smtClean="0"/>
                  <a:t>We don't need to resize the image,</a:t>
                </a:r>
                <a:br>
                  <a:rPr lang="en-US" dirty="0" smtClean="0"/>
                </a:br>
                <a:r>
                  <a:rPr lang="en-US" dirty="0" smtClean="0"/>
                  <a:t>just apply preprocessing</a:t>
                </a:r>
              </a:p>
              <a:p>
                <a:r>
                  <a:rPr lang="en-US" dirty="0" smtClean="0"/>
                  <a:t>Output shape: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1000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Total </a:t>
                </a:r>
                <a:r>
                  <a:rPr lang="en-US" dirty="0" err="1"/>
                  <a:t>params</a:t>
                </a:r>
                <a:r>
                  <a:rPr lang="en-US" dirty="0"/>
                  <a:t>: </a:t>
                </a:r>
                <a:r>
                  <a:rPr lang="en-US" dirty="0" smtClean="0"/>
                  <a:t>55 873 736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7</a:t>
            </a:fld>
            <a:endParaRPr lang="bg-BG"/>
          </a:p>
        </p:txBody>
      </p:sp>
      <p:sp>
        <p:nvSpPr>
          <p:cNvPr id="7" name="TextBox 6"/>
          <p:cNvSpPr txBox="1"/>
          <p:nvPr/>
        </p:nvSpPr>
        <p:spPr>
          <a:xfrm>
            <a:off x="296087" y="3836643"/>
            <a:ext cx="7975077" cy="64633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tensorflow.keras.applications</a:t>
            </a:r>
            <a:r>
              <a:rPr lang="en-US" dirty="0">
                <a:solidFill>
                  <a:srgbClr val="000000"/>
                </a:solidFill>
              </a:rPr>
              <a:t>. inception_resnet_v2 </a:t>
            </a:r>
            <a:r>
              <a:rPr lang="en-US" dirty="0" smtClean="0">
                <a:solidFill>
                  <a:srgbClr val="000000"/>
                </a:solidFill>
              </a:rPr>
              <a:t>\ 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FF"/>
                </a:solidFill>
              </a:rPr>
              <a:t>import </a:t>
            </a:r>
            <a:r>
              <a:rPr lang="en-US" dirty="0" err="1" smtClean="0">
                <a:solidFill>
                  <a:srgbClr val="000000"/>
                </a:solidFill>
              </a:rPr>
              <a:t>preprocess_input</a:t>
            </a:r>
            <a:r>
              <a:rPr lang="en-US" dirty="0">
                <a:solidFill>
                  <a:srgbClr val="000000"/>
                </a:solidFill>
              </a:rPr>
              <a:t>, InceptionResNetV2, </a:t>
            </a:r>
            <a:r>
              <a:rPr lang="en-US" dirty="0" err="1">
                <a:solidFill>
                  <a:srgbClr val="000000"/>
                </a:solidFill>
              </a:rPr>
              <a:t>decode_predictions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12234" y="538489"/>
            <a:ext cx="2419002" cy="588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3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Localization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Input: image; output: bounding box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Regression</a:t>
                </a:r>
              </a:p>
              <a:p>
                <a:r>
                  <a:rPr lang="en-US" dirty="0" smtClean="0"/>
                  <a:t>Classification and localization</a:t>
                </a:r>
              </a:p>
              <a:p>
                <a:pPr lvl="1"/>
                <a:r>
                  <a:rPr lang="en-US" dirty="0" smtClean="0"/>
                  <a:t>Simplest case: 1 object</a:t>
                </a:r>
              </a:p>
              <a:p>
                <a:pPr lvl="1"/>
                <a:r>
                  <a:rPr lang="en-US" dirty="0"/>
                  <a:t>O</a:t>
                </a:r>
                <a:r>
                  <a:rPr lang="en-US" dirty="0" smtClean="0"/>
                  <a:t>utput a vector: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no object detected; we don't care about the other numbers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=1⇒</m:t>
                    </m:r>
                  </m:oMath>
                </a14:m>
                <a:r>
                  <a:rPr lang="en-US" dirty="0" smtClean="0"/>
                  <a:t> object detected; class: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; bounding box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Metrics: usually </a:t>
                </a:r>
                <a:r>
                  <a:rPr lang="en-US" dirty="0" smtClean="0">
                    <a:hlinkClick r:id="rId2"/>
                  </a:rPr>
                  <a:t>IoU</a:t>
                </a:r>
                <a:r>
                  <a:rPr lang="en-US" dirty="0" smtClean="0"/>
                  <a:t> (or Euclidean distance)</a:t>
                </a:r>
              </a:p>
              <a:p>
                <a:r>
                  <a:rPr lang="en-US" dirty="0" smtClean="0"/>
                  <a:t>Implementations: </a:t>
                </a:r>
                <a:r>
                  <a:rPr lang="en-US" dirty="0" smtClean="0">
                    <a:hlinkClick r:id="rId3"/>
                  </a:rPr>
                  <a:t>YOLO</a:t>
                </a: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(You Only Look Once)</a:t>
                </a:r>
              </a:p>
              <a:p>
                <a:pPr lvl="1"/>
                <a:r>
                  <a:rPr lang="en-US" dirty="0" smtClean="0"/>
                  <a:t>Also: </a:t>
                </a:r>
                <a:r>
                  <a:rPr lang="en-US" dirty="0" smtClean="0">
                    <a:hlinkClick r:id="rId4"/>
                  </a:rPr>
                  <a:t>R-CNN</a:t>
                </a: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(Region-proposing network)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8</a:t>
            </a:fld>
            <a:endParaRPr lang="bg-B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94" y="4345593"/>
            <a:ext cx="4020588" cy="226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6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Learning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For a new problem similar to another one that we have</a:t>
                </a:r>
                <a:br>
                  <a:rPr lang="en-US" dirty="0" smtClean="0"/>
                </a:br>
                <a:r>
                  <a:rPr lang="en-US" dirty="0" smtClean="0"/>
                  <a:t>already solved, we can reuse the weights</a:t>
                </a:r>
              </a:p>
              <a:p>
                <a:r>
                  <a:rPr lang="en-US" dirty="0" smtClean="0"/>
                  <a:t>Prerequisites</a:t>
                </a:r>
              </a:p>
              <a:p>
                <a:pPr lvl="1"/>
                <a:r>
                  <a:rPr lang="en-US" dirty="0" smtClean="0"/>
                  <a:t>Small training set on our new model</a:t>
                </a:r>
              </a:p>
              <a:p>
                <a:pPr lvl="1"/>
                <a:r>
                  <a:rPr lang="en-US" dirty="0" smtClean="0"/>
                  <a:t>Similar task (i.e. image description)</a:t>
                </a:r>
              </a:p>
              <a:p>
                <a:r>
                  <a:rPr lang="en-US" smtClean="0"/>
                  <a:t>Algorithm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Remove the last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 smtClean="0"/>
                  <a:t> layers</a:t>
                </a:r>
              </a:p>
              <a:p>
                <a:pPr lvl="1"/>
                <a:r>
                  <a:rPr lang="en-US" dirty="0" smtClean="0"/>
                  <a:t>"Freeze" the weights of the remaining layers (</a:t>
                </a:r>
                <a:r>
                  <a:rPr lang="en-US" dirty="0" smtClean="0">
                    <a:latin typeface="Consolas" panose="020B0609020204030204" pitchFamily="49" charset="0"/>
                  </a:rPr>
                  <a:t>trainable = False</a:t>
                </a:r>
                <a:r>
                  <a:rPr lang="en-US" dirty="0" smtClean="0"/>
                  <a:t>)</a:t>
                </a:r>
              </a:p>
              <a:p>
                <a:pPr lvl="2"/>
                <a:r>
                  <a:rPr lang="en-US" dirty="0" smtClean="0"/>
                  <a:t>I.e. use them as a fixed function</a:t>
                </a:r>
              </a:p>
              <a:p>
                <a:pPr lvl="1"/>
                <a:r>
                  <a:rPr lang="en-US" dirty="0" smtClean="0"/>
                  <a:t>Add one or more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) layers</a:t>
                </a:r>
              </a:p>
              <a:p>
                <a:pPr lvl="1"/>
                <a:r>
                  <a:rPr lang="en-US" dirty="0" smtClean="0"/>
                  <a:t>Retrain the model (this will update only the last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 layers)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4415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Semi-Supervised Methods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Venturing into unsupervised land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184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212" y="0"/>
            <a:ext cx="11720942" cy="831273"/>
          </a:xfrm>
        </p:spPr>
        <p:txBody>
          <a:bodyPr/>
          <a:lstStyle/>
          <a:p>
            <a:r>
              <a:rPr lang="en-US" dirty="0" err="1" smtClean="0"/>
              <a:t>Autoencoders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NNs which learn to reconstruct their input</a:t>
                </a:r>
              </a:p>
              <a:p>
                <a:pPr lvl="1"/>
                <a:r>
                  <a:rPr lang="en-US" dirty="0" smtClean="0"/>
                  <a:t>We care about the latent</a:t>
                </a:r>
                <a:br>
                  <a:rPr lang="en-US" dirty="0" smtClean="0"/>
                </a:br>
                <a:r>
                  <a:rPr lang="en-US" dirty="0" smtClean="0"/>
                  <a:t>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 smtClean="0"/>
                  <a:t> (like CNNs)</a:t>
                </a:r>
              </a:p>
              <a:p>
                <a:r>
                  <a:rPr lang="en-US" dirty="0" smtClean="0"/>
                  <a:t>Encoder / Decoder are simply</a:t>
                </a:r>
                <a:br>
                  <a:rPr lang="en-US" dirty="0" smtClean="0"/>
                </a:br>
                <a:r>
                  <a:rPr lang="en-US" dirty="0" smtClean="0"/>
                  <a:t>NNs (can be CNNs, can use multiple layers)</a:t>
                </a:r>
              </a:p>
              <a:p>
                <a:r>
                  <a:rPr lang="en-US" dirty="0" smtClean="0"/>
                  <a:t>Main advantages</a:t>
                </a:r>
              </a:p>
              <a:p>
                <a:pPr lvl="1"/>
                <a:r>
                  <a:rPr lang="en-US" dirty="0" smtClean="0"/>
                  <a:t>Dimensionality reduction</a:t>
                </a:r>
              </a:p>
              <a:p>
                <a:pPr lvl="1"/>
                <a:r>
                  <a:rPr lang="en-US" dirty="0" smtClean="0"/>
                  <a:t>Denoising</a:t>
                </a:r>
              </a:p>
              <a:p>
                <a:r>
                  <a:rPr lang="en-US" dirty="0" smtClean="0"/>
                  <a:t>Loss function: difference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 (MSE works well)</a:t>
                </a:r>
              </a:p>
              <a:p>
                <a:r>
                  <a:rPr lang="en-US" dirty="0" smtClean="0"/>
                  <a:t>Denoising autoencoder</a:t>
                </a:r>
              </a:p>
              <a:p>
                <a:pPr lvl="1"/>
                <a:r>
                  <a:rPr lang="en-US" dirty="0" smtClean="0"/>
                  <a:t>Can be used for images, audio, text, etc.</a:t>
                </a:r>
              </a:p>
              <a:p>
                <a:pPr lvl="1"/>
                <a:r>
                  <a:rPr lang="en-US" dirty="0" smtClean="0"/>
                  <a:t>Add noise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to create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𝑛𝑜𝑖𝑠𝑒</m:t>
                        </m:r>
                      </m:sub>
                    </m:sSub>
                  </m:oMath>
                </a14:m>
                <a:r>
                  <a:rPr lang="en-US" dirty="0" smtClean="0"/>
                  <a:t>, compare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(</a:t>
                </a:r>
                <a:r>
                  <a:rPr lang="en-US" b="1" dirty="0" smtClean="0"/>
                  <a:t>not</a:t>
                </a:r>
                <a:r>
                  <a:rPr lang="en-US" dirty="0" smtClean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𝑛𝑜𝑖𝑠𝑒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11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0102" y="1381893"/>
            <a:ext cx="4901737" cy="120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2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One-Shot Learning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Example: Facial recognition</a:t>
            </a:r>
          </a:p>
          <a:p>
            <a:pPr lvl="1"/>
            <a:r>
              <a:rPr lang="en-US" dirty="0" smtClean="0"/>
              <a:t>Input: image of a face; background data: allowed faces</a:t>
            </a:r>
          </a:p>
          <a:p>
            <a:pPr lvl="1"/>
            <a:r>
              <a:rPr lang="en-US" dirty="0" smtClean="0"/>
              <a:t>Output: Does the image match any of the allowed faces?</a:t>
            </a:r>
          </a:p>
          <a:p>
            <a:r>
              <a:rPr lang="en-US" dirty="0" smtClean="0"/>
              <a:t>We aren't allowed to train on many pictures</a:t>
            </a:r>
          </a:p>
          <a:p>
            <a:pPr lvl="1"/>
            <a:r>
              <a:rPr lang="en-US" dirty="0" smtClean="0"/>
              <a:t>We usually have one picture per person</a:t>
            </a:r>
          </a:p>
          <a:p>
            <a:r>
              <a:rPr lang="en-US" dirty="0" smtClean="0"/>
              <a:t>This concept generalizes to other multi-class</a:t>
            </a:r>
            <a:br>
              <a:rPr lang="en-US" dirty="0" smtClean="0"/>
            </a:br>
            <a:r>
              <a:rPr lang="en-US" dirty="0" smtClean="0"/>
              <a:t>classification tasks</a:t>
            </a:r>
          </a:p>
          <a:p>
            <a:r>
              <a:rPr lang="en-US" dirty="0" smtClean="0"/>
              <a:t>Solution: </a:t>
            </a:r>
            <a:r>
              <a:rPr lang="en-US" dirty="0" smtClean="0">
                <a:solidFill>
                  <a:srgbClr val="2196F3"/>
                </a:solidFill>
              </a:rPr>
              <a:t>Siamese networks</a:t>
            </a:r>
          </a:p>
          <a:p>
            <a:pPr lvl="1"/>
            <a:r>
              <a:rPr lang="en-US" dirty="0" smtClean="0"/>
              <a:t>Two identical networks receive two images</a:t>
            </a:r>
            <a:br>
              <a:rPr lang="en-US" dirty="0" smtClean="0"/>
            </a:br>
            <a:r>
              <a:rPr lang="en-US" dirty="0" smtClean="0"/>
              <a:t>and compute two vectors</a:t>
            </a:r>
          </a:p>
          <a:p>
            <a:pPr lvl="1"/>
            <a:r>
              <a:rPr lang="en-US" dirty="0" smtClean="0"/>
              <a:t>The distance between the vectors is their </a:t>
            </a:r>
            <a:r>
              <a:rPr lang="en-US" dirty="0">
                <a:solidFill>
                  <a:srgbClr val="2196F3"/>
                </a:solidFill>
              </a:rPr>
              <a:t>(</a:t>
            </a:r>
            <a:r>
              <a:rPr lang="en-US" dirty="0" smtClean="0">
                <a:solidFill>
                  <a:srgbClr val="2196F3"/>
                </a:solidFill>
              </a:rPr>
              <a:t>dis)similarity score</a:t>
            </a:r>
          </a:p>
          <a:p>
            <a:pPr lvl="1"/>
            <a:r>
              <a:rPr lang="en-US" dirty="0" smtClean="0"/>
              <a:t>Dimensionality reduction technique (also similar to clustering)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41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One-Shot Learning (2)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Training: </a:t>
                </a:r>
                <a:r>
                  <a:rPr lang="en-US" b="1" dirty="0" smtClean="0">
                    <a:solidFill>
                      <a:srgbClr val="2196F3"/>
                    </a:solidFill>
                  </a:rPr>
                  <a:t>triplet loss</a:t>
                </a:r>
                <a:r>
                  <a:rPr lang="en-US" dirty="0" smtClean="0"/>
                  <a:t> function</a:t>
                </a:r>
              </a:p>
              <a:p>
                <a:pPr lvl="1"/>
                <a:r>
                  <a:rPr lang="en-US" dirty="0" smtClean="0"/>
                  <a:t>Input images: anchor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,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, negative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Output: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Loss: low distance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 smtClean="0"/>
                  <a:t>, high distance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:</a:t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</m:oMath>
                </a14:m>
                <a:endParaRPr lang="en-US" b="0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 smtClean="0"/>
                  <a:t> – margin (similar to SVMs, allows us to distinguish better)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13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3658" y="3503421"/>
            <a:ext cx="8880860" cy="321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7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Novelty Detection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Similar to one-class SVM (</a:t>
                </a:r>
                <a:r>
                  <a:rPr lang="en-US" dirty="0" smtClean="0">
                    <a:hlinkClick r:id="rId2"/>
                  </a:rPr>
                  <a:t>Chalapathy et al., 2018</a:t>
                </a:r>
                <a:r>
                  <a:rPr lang="en-US" dirty="0" smtClean="0"/>
                  <a:t>)</a:t>
                </a:r>
              </a:p>
              <a:p>
                <a:r>
                  <a:rPr lang="en-US" dirty="0" smtClean="0"/>
                  <a:t>Main idea</a:t>
                </a:r>
              </a:p>
              <a:p>
                <a:pPr lvl="1"/>
                <a:r>
                  <a:rPr lang="en-US" dirty="0" smtClean="0"/>
                  <a:t>Assign a confidence score to samples</a:t>
                </a:r>
              </a:p>
              <a:p>
                <a:pPr lvl="1"/>
                <a:r>
                  <a:rPr lang="en-US" dirty="0" smtClean="0"/>
                  <a:t>Loss function – minimize distances</a:t>
                </a:r>
              </a:p>
              <a:p>
                <a:r>
                  <a:rPr lang="en-US" dirty="0" smtClean="0"/>
                  <a:t>Two approaches</a:t>
                </a:r>
              </a:p>
              <a:p>
                <a:pPr lvl="1"/>
                <a:r>
                  <a:rPr lang="en-US" dirty="0" smtClean="0"/>
                  <a:t>If samples have a confidence </a:t>
                </a:r>
                <a:br>
                  <a:rPr lang="en-US" dirty="0" smtClean="0"/>
                </a:br>
                <a:r>
                  <a:rPr lang="en-US" dirty="0" smtClean="0"/>
                  <a:t>score (as output) </a:t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we can learn even if we have</a:t>
                </a:r>
                <a:br>
                  <a:rPr lang="en-US" dirty="0" smtClean="0"/>
                </a:br>
                <a:r>
                  <a:rPr lang="en-US" dirty="0" smtClean="0"/>
                  <a:t>samples of only one class</a:t>
                </a:r>
              </a:p>
              <a:p>
                <a:pPr lvl="1"/>
                <a:r>
                  <a:rPr lang="en-US" dirty="0" smtClean="0"/>
                  <a:t>If we don't have a confidence score, we can use similarity measures</a:t>
                </a:r>
                <a:br>
                  <a:rPr lang="en-US" dirty="0" smtClean="0"/>
                </a:br>
                <a:r>
                  <a:rPr lang="en-US" dirty="0" smtClean="0"/>
                  <a:t>(i.e. similar embedding vectors)</a:t>
                </a:r>
              </a:p>
              <a:p>
                <a:pPr lvl="2"/>
                <a:r>
                  <a:rPr lang="en-US" dirty="0" smtClean="0"/>
                  <a:t>Autoencoder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14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924" y="2601801"/>
            <a:ext cx="4768733" cy="187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2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Captioning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Describing images to humans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441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Captioning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hlinkClick r:id="rId2"/>
              </a:rPr>
              <a:t>Vinyals et al., 2015</a:t>
            </a:r>
            <a:r>
              <a:rPr lang="en-US" dirty="0" smtClean="0"/>
              <a:t> (</a:t>
            </a:r>
            <a:r>
              <a:rPr lang="en-US" dirty="0" smtClean="0">
                <a:hlinkClick r:id="rId3"/>
              </a:rPr>
              <a:t>code</a:t>
            </a:r>
            <a:r>
              <a:rPr lang="en-US" dirty="0" smtClean="0"/>
              <a:t>)</a:t>
            </a:r>
          </a:p>
          <a:p>
            <a:r>
              <a:rPr lang="en-US" dirty="0" smtClean="0"/>
              <a:t>Similar to machine translation</a:t>
            </a:r>
          </a:p>
          <a:p>
            <a:pPr lvl="1"/>
            <a:r>
              <a:rPr lang="en-US" dirty="0" smtClean="0"/>
              <a:t>Encoder: CNN instead of RNN</a:t>
            </a:r>
          </a:p>
          <a:p>
            <a:pPr lvl="1"/>
            <a:r>
              <a:rPr lang="en-US" dirty="0" smtClean="0"/>
              <a:t>Decoder: RNN (LSTM)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16</a:t>
            </a:fld>
            <a:endParaRPr lang="bg-B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99" y="825358"/>
            <a:ext cx="3981450" cy="1590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60" y="2444495"/>
            <a:ext cx="4804756" cy="41626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9993" y="3158261"/>
            <a:ext cx="5131902" cy="326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7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Captioning (2)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Extension: </a:t>
            </a:r>
            <a:r>
              <a:rPr lang="en-US" dirty="0" smtClean="0">
                <a:hlinkClick r:id="rId2"/>
              </a:rPr>
              <a:t>Karpathy and Li, 2015</a:t>
            </a:r>
            <a:endParaRPr lang="en-US" dirty="0" smtClean="0"/>
          </a:p>
          <a:p>
            <a:pPr lvl="1"/>
            <a:r>
              <a:rPr lang="en-US" dirty="0" smtClean="0"/>
              <a:t>Goal: propose regions and describe them individually</a:t>
            </a:r>
          </a:p>
          <a:p>
            <a:pPr lvl="1"/>
            <a:r>
              <a:rPr lang="en-US" dirty="0" smtClean="0"/>
              <a:t>R-CNN to get regions</a:t>
            </a:r>
          </a:p>
          <a:p>
            <a:pPr lvl="1"/>
            <a:r>
              <a:rPr lang="en-US" dirty="0" smtClean="0"/>
              <a:t>Bi-directional RNN to generate sentences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Both </a:t>
            </a:r>
            <a:r>
              <a:rPr lang="en-US" dirty="0" err="1" smtClean="0"/>
              <a:t>embeddings</a:t>
            </a:r>
            <a:r>
              <a:rPr lang="en-US" dirty="0" smtClean="0"/>
              <a:t> use the same-dimensional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17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78779"/>
            <a:ext cx="6802061" cy="12074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17353"/>
            <a:ext cx="6800994" cy="19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9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Architectures: review</a:t>
            </a:r>
          </a:p>
          <a:p>
            <a:r>
              <a:rPr lang="en-US" dirty="0"/>
              <a:t>Transfer learning</a:t>
            </a:r>
          </a:p>
          <a:p>
            <a:r>
              <a:rPr lang="en-US" dirty="0"/>
              <a:t>Semi-supervised methods</a:t>
            </a:r>
          </a:p>
          <a:p>
            <a:r>
              <a:rPr lang="en-US" dirty="0"/>
              <a:t>Image captioning</a:t>
            </a:r>
          </a:p>
        </p:txBody>
      </p:sp>
    </p:spTree>
    <p:extLst>
      <p:ext uri="{BB962C8B-B14F-4D97-AF65-F5344CB8AC3E}">
        <p14:creationId xmlns:p14="http://schemas.microsoft.com/office/powerpoint/2010/main" val="202239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2D89"/>
      </a:hlink>
      <a:folHlink>
        <a:srgbClr val="002060"/>
      </a:folHlink>
    </a:clrScheme>
    <a:fontScheme name="Modern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</TotalTime>
  <Words>341</Words>
  <Application>Microsoft Office PowerPoint</Application>
  <PresentationFormat>Widescreen</PresentationFormat>
  <Paragraphs>133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Cambria Math</vt:lpstr>
      <vt:lpstr>Consolas</vt:lpstr>
      <vt:lpstr>Lato</vt:lpstr>
      <vt:lpstr>Montserrat Medium</vt:lpstr>
      <vt:lpstr>Open Sans</vt:lpstr>
      <vt:lpstr>Wingdings</vt:lpstr>
      <vt:lpstr>Office Theme</vt:lpstr>
      <vt:lpstr>Neural Network Architectures</vt:lpstr>
      <vt:lpstr>sli.do #DeepLearning</vt:lpstr>
      <vt:lpstr>Table of Contents</vt:lpstr>
      <vt:lpstr>Architectures</vt:lpstr>
      <vt:lpstr>VGG-19</vt:lpstr>
      <vt:lpstr>Inception v3</vt:lpstr>
      <vt:lpstr>Inception-ResNet v2</vt:lpstr>
      <vt:lpstr>Object Localization</vt:lpstr>
      <vt:lpstr>Transfer Learning</vt:lpstr>
      <vt:lpstr>Semi-Supervised Methods</vt:lpstr>
      <vt:lpstr>Autoencoders</vt:lpstr>
      <vt:lpstr>One-Shot Learning</vt:lpstr>
      <vt:lpstr>One-Shot Learning (2)</vt:lpstr>
      <vt:lpstr>Novelty Detection</vt:lpstr>
      <vt:lpstr>Image Captioning</vt:lpstr>
      <vt:lpstr>Image Captioning</vt:lpstr>
      <vt:lpstr>Image Captioning (2)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 Darakchiev</dc:creator>
  <cp:lastModifiedBy>Yordan Darakchiev</cp:lastModifiedBy>
  <cp:revision>191</cp:revision>
  <dcterms:created xsi:type="dcterms:W3CDTF">2017-09-11T12:40:37Z</dcterms:created>
  <dcterms:modified xsi:type="dcterms:W3CDTF">2021-01-13T14:34:24Z</dcterms:modified>
</cp:coreProperties>
</file>