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0" r:id="rId3"/>
    <p:sldId id="262" r:id="rId4"/>
    <p:sldId id="26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8" r:id="rId18"/>
    <p:sldId id="327" r:id="rId19"/>
    <p:sldId id="329" r:id="rId20"/>
    <p:sldId id="304" r:id="rId21"/>
    <p:sldId id="261" r:id="rId2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6F3"/>
    <a:srgbClr val="4D4D4D"/>
    <a:srgbClr val="8BC34A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 userDrawn="1"/>
        </p:nvGrpSpPr>
        <p:grpSpPr>
          <a:xfrm>
            <a:off x="3810" y="-7619"/>
            <a:ext cx="12191998" cy="6880134"/>
            <a:chOff x="3810" y="-1"/>
            <a:chExt cx="12191998" cy="6858001"/>
          </a:xfrm>
        </p:grpSpPr>
        <p:sp>
          <p:nvSpPr>
            <p:cNvPr id="109" name="Freeform 108"/>
            <p:cNvSpPr/>
            <p:nvPr userDrawn="1"/>
          </p:nvSpPr>
          <p:spPr>
            <a:xfrm>
              <a:off x="1803400" y="0"/>
              <a:ext cx="10392408" cy="6858000"/>
            </a:xfrm>
            <a:custGeom>
              <a:avLst/>
              <a:gdLst>
                <a:gd name="connsiteX0" fmla="*/ 0 w 10392408"/>
                <a:gd name="connsiteY0" fmla="*/ 0 h 6858000"/>
                <a:gd name="connsiteX1" fmla="*/ 6534783 w 10392408"/>
                <a:gd name="connsiteY1" fmla="*/ 0 h 6858000"/>
                <a:gd name="connsiteX2" fmla="*/ 6658608 w 10392408"/>
                <a:gd name="connsiteY2" fmla="*/ 0 h 6858000"/>
                <a:gd name="connsiteX3" fmla="*/ 9106533 w 10392408"/>
                <a:gd name="connsiteY3" fmla="*/ 0 h 6858000"/>
                <a:gd name="connsiteX4" fmla="*/ 10392408 w 10392408"/>
                <a:gd name="connsiteY4" fmla="*/ 6858000 h 6858000"/>
                <a:gd name="connsiteX5" fmla="*/ 6658608 w 10392408"/>
                <a:gd name="connsiteY5" fmla="*/ 6858000 h 6858000"/>
                <a:gd name="connsiteX6" fmla="*/ 5248908 w 10392408"/>
                <a:gd name="connsiteY6" fmla="*/ 6858000 h 6858000"/>
                <a:gd name="connsiteX7" fmla="*/ 0 w 1039240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92408" h="6858000">
                  <a:moveTo>
                    <a:pt x="0" y="0"/>
                  </a:moveTo>
                  <a:lnTo>
                    <a:pt x="6534783" y="0"/>
                  </a:lnTo>
                  <a:lnTo>
                    <a:pt x="6658608" y="0"/>
                  </a:lnTo>
                  <a:lnTo>
                    <a:pt x="9106533" y="0"/>
                  </a:lnTo>
                  <a:lnTo>
                    <a:pt x="10392408" y="6858000"/>
                  </a:lnTo>
                  <a:lnTo>
                    <a:pt x="6658608" y="6858000"/>
                  </a:lnTo>
                  <a:lnTo>
                    <a:pt x="524890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5" name="Freeform 104"/>
            <p:cNvSpPr/>
            <p:nvPr userDrawn="1"/>
          </p:nvSpPr>
          <p:spPr>
            <a:xfrm>
              <a:off x="1943102" y="-1"/>
              <a:ext cx="9842498" cy="6858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0" name="Freeform 89"/>
            <p:cNvSpPr/>
            <p:nvPr userDrawn="1"/>
          </p:nvSpPr>
          <p:spPr>
            <a:xfrm rot="10800000">
              <a:off x="3810" y="-1"/>
              <a:ext cx="1939290" cy="6858000"/>
            </a:xfrm>
            <a:custGeom>
              <a:avLst/>
              <a:gdLst>
                <a:gd name="connsiteX0" fmla="*/ 1939290 w 1939290"/>
                <a:gd name="connsiteY0" fmla="*/ 6858000 h 6858000"/>
                <a:gd name="connsiteX1" fmla="*/ 0 w 1939290"/>
                <a:gd name="connsiteY1" fmla="*/ 6858000 h 6858000"/>
                <a:gd name="connsiteX2" fmla="*/ 0 w 1939290"/>
                <a:gd name="connsiteY2" fmla="*/ 0 h 6858000"/>
                <a:gd name="connsiteX3" fmla="*/ 653415 w 193929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290" h="6858000">
                  <a:moveTo>
                    <a:pt x="193929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65341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8" name="Freeform 87"/>
            <p:cNvSpPr/>
            <p:nvPr userDrawn="1"/>
          </p:nvSpPr>
          <p:spPr>
            <a:xfrm rot="10800000">
              <a:off x="419100" y="-1"/>
              <a:ext cx="1524000" cy="6858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2960" y="137160"/>
            <a:ext cx="9688467" cy="1988820"/>
          </a:xfrm>
        </p:spPr>
        <p:txBody>
          <a:bodyPr anchor="b">
            <a:normAutofit/>
          </a:bodyPr>
          <a:lstStyle>
            <a:lvl1pPr algn="r">
              <a:defRPr sz="52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97280" y="2153510"/>
            <a:ext cx="9414147" cy="1390311"/>
          </a:xfrm>
        </p:spPr>
        <p:txBody>
          <a:bodyPr>
            <a:normAutofit/>
          </a:bodyPr>
          <a:lstStyle>
            <a:lvl1pPr marL="0" indent="0" algn="r">
              <a:buNone/>
              <a:defRPr sz="3200" b="0" i="0" strike="noStrike" baseline="0">
                <a:solidFill>
                  <a:srgbClr val="2196F3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Main topics</a:t>
            </a:r>
            <a:endParaRPr lang="bg-BG" dirty="0"/>
          </a:p>
        </p:txBody>
      </p:sp>
      <p:sp>
        <p:nvSpPr>
          <p:cNvPr id="113" name="Text Placeholder 112"/>
          <p:cNvSpPr>
            <a:spLocks noGrp="1"/>
          </p:cNvSpPr>
          <p:nvPr>
            <p:ph type="body" sz="quarter" idx="10" hasCustomPrompt="1"/>
          </p:nvPr>
        </p:nvSpPr>
        <p:spPr>
          <a:xfrm>
            <a:off x="1803399" y="5339499"/>
            <a:ext cx="4281486" cy="489744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4D4D4D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 smtClean="0"/>
              <a:t>Name</a:t>
            </a:r>
            <a:endParaRPr lang="bg-BG" dirty="0"/>
          </a:p>
        </p:txBody>
      </p:sp>
      <p:sp>
        <p:nvSpPr>
          <p:cNvPr id="114" name="Text Placeholder 112"/>
          <p:cNvSpPr>
            <a:spLocks noGrp="1"/>
          </p:cNvSpPr>
          <p:nvPr>
            <p:ph type="body" sz="quarter" idx="11" hasCustomPrompt="1"/>
          </p:nvPr>
        </p:nvSpPr>
        <p:spPr>
          <a:xfrm>
            <a:off x="1803399" y="5829300"/>
            <a:ext cx="4281487" cy="3683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>
                    <a:lumMod val="65000"/>
                  </a:schemeClr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bg-BG" dirty="0"/>
          </a:p>
        </p:txBody>
      </p:sp>
      <p:sp>
        <p:nvSpPr>
          <p:cNvPr id="115" name="Text Placeholder 112"/>
          <p:cNvSpPr>
            <a:spLocks noGrp="1"/>
          </p:cNvSpPr>
          <p:nvPr>
            <p:ph type="body" sz="quarter" idx="12" hasCustomPrompt="1"/>
          </p:nvPr>
        </p:nvSpPr>
        <p:spPr>
          <a:xfrm>
            <a:off x="1803398" y="6221072"/>
            <a:ext cx="4281487" cy="44642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2196F3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Email</a:t>
            </a:r>
            <a:endParaRPr lang="bg-BG" dirty="0"/>
          </a:p>
        </p:txBody>
      </p:sp>
      <p:sp>
        <p:nvSpPr>
          <p:cNvPr id="120" name="Picture Placeholder 119"/>
          <p:cNvSpPr>
            <a:spLocks noGrp="1"/>
          </p:cNvSpPr>
          <p:nvPr>
            <p:ph type="pic" sz="quarter" idx="13"/>
          </p:nvPr>
        </p:nvSpPr>
        <p:spPr>
          <a:xfrm>
            <a:off x="8055882" y="4202112"/>
            <a:ext cx="2466975" cy="2465388"/>
          </a:xfrm>
        </p:spPr>
        <p:txBody>
          <a:bodyPr/>
          <a:lstStyle>
            <a:lvl1pPr marL="0" indent="0">
              <a:buNone/>
              <a:defRPr>
                <a:latin typeface="+mn-lt"/>
                <a:cs typeface="Calibri" panose="020F0502020204030204" pitchFamily="34" charset="0"/>
              </a:defRPr>
            </a:lvl1pPr>
          </a:lstStyle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5761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350" y="0"/>
            <a:ext cx="12192000" cy="6858000"/>
            <a:chOff x="-6350" y="0"/>
            <a:chExt cx="12192000" cy="6858000"/>
          </a:xfrm>
        </p:grpSpPr>
        <p:sp>
          <p:nvSpPr>
            <p:cNvPr id="13" name="Freeform 12"/>
            <p:cNvSpPr/>
            <p:nvPr userDrawn="1"/>
          </p:nvSpPr>
          <p:spPr>
            <a:xfrm>
              <a:off x="-635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8334375 w 12192000"/>
                <a:gd name="connsiteY1" fmla="*/ 0 h 6858000"/>
                <a:gd name="connsiteX2" fmla="*/ 8458200 w 12192000"/>
                <a:gd name="connsiteY2" fmla="*/ 0 h 6858000"/>
                <a:gd name="connsiteX3" fmla="*/ 10906125 w 12192000"/>
                <a:gd name="connsiteY3" fmla="*/ 0 h 6858000"/>
                <a:gd name="connsiteX4" fmla="*/ 12192000 w 12192000"/>
                <a:gd name="connsiteY4" fmla="*/ 6858000 h 6858000"/>
                <a:gd name="connsiteX5" fmla="*/ 8458200 w 12192000"/>
                <a:gd name="connsiteY5" fmla="*/ 6858000 h 6858000"/>
                <a:gd name="connsiteX6" fmla="*/ 70485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8334375" y="0"/>
                  </a:lnTo>
                  <a:lnTo>
                    <a:pt x="8458200" y="0"/>
                  </a:lnTo>
                  <a:lnTo>
                    <a:pt x="10906125" y="0"/>
                  </a:lnTo>
                  <a:lnTo>
                    <a:pt x="12192000" y="6858000"/>
                  </a:lnTo>
                  <a:lnTo>
                    <a:pt x="8458200" y="6858000"/>
                  </a:lnTo>
                  <a:lnTo>
                    <a:pt x="70485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Freeform 8"/>
            <p:cNvSpPr/>
            <p:nvPr userDrawn="1"/>
          </p:nvSpPr>
          <p:spPr>
            <a:xfrm>
              <a:off x="0" y="0"/>
              <a:ext cx="11969750" cy="6858000"/>
            </a:xfrm>
            <a:custGeom>
              <a:avLst/>
              <a:gdLst>
                <a:gd name="connsiteX0" fmla="*/ 0 w 11969750"/>
                <a:gd name="connsiteY0" fmla="*/ 0 h 6858000"/>
                <a:gd name="connsiteX1" fmla="*/ 8112125 w 11969750"/>
                <a:gd name="connsiteY1" fmla="*/ 0 h 6858000"/>
                <a:gd name="connsiteX2" fmla="*/ 8235950 w 11969750"/>
                <a:gd name="connsiteY2" fmla="*/ 0 h 6858000"/>
                <a:gd name="connsiteX3" fmla="*/ 10683875 w 11969750"/>
                <a:gd name="connsiteY3" fmla="*/ 0 h 6858000"/>
                <a:gd name="connsiteX4" fmla="*/ 11969750 w 11969750"/>
                <a:gd name="connsiteY4" fmla="*/ 6858000 h 6858000"/>
                <a:gd name="connsiteX5" fmla="*/ 8235950 w 11969750"/>
                <a:gd name="connsiteY5" fmla="*/ 6858000 h 6858000"/>
                <a:gd name="connsiteX6" fmla="*/ 6826250 w 11969750"/>
                <a:gd name="connsiteY6" fmla="*/ 6858000 h 6858000"/>
                <a:gd name="connsiteX7" fmla="*/ 0 w 1196975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69750" h="6858000">
                  <a:moveTo>
                    <a:pt x="0" y="0"/>
                  </a:moveTo>
                  <a:lnTo>
                    <a:pt x="8112125" y="0"/>
                  </a:lnTo>
                  <a:lnTo>
                    <a:pt x="8235950" y="0"/>
                  </a:lnTo>
                  <a:lnTo>
                    <a:pt x="10683875" y="0"/>
                  </a:lnTo>
                  <a:lnTo>
                    <a:pt x="11969750" y="6858000"/>
                  </a:lnTo>
                  <a:lnTo>
                    <a:pt x="8235950" y="6858000"/>
                  </a:lnTo>
                  <a:lnTo>
                    <a:pt x="682625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18212" y="0"/>
            <a:ext cx="11720942" cy="831273"/>
          </a:xfrm>
        </p:spPr>
        <p:txBody>
          <a:bodyPr>
            <a:normAutofit/>
          </a:bodyPr>
          <a:lstStyle>
            <a:lvl1pPr algn="l">
              <a:defRPr sz="4000" baseline="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Slide Title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11" y="852055"/>
            <a:ext cx="11720941" cy="586942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3000">
                <a:solidFill>
                  <a:srgbClr val="4D4D4D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sz="2600">
                <a:solidFill>
                  <a:srgbClr val="4D4D4D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 sz="2200">
                <a:solidFill>
                  <a:srgbClr val="4D4D4D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4D4D4D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443853" y="6424612"/>
            <a:ext cx="422564" cy="365125"/>
          </a:xfrm>
        </p:spPr>
        <p:txBody>
          <a:bodyPr/>
          <a:lstStyle/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27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572770" y="0"/>
            <a:ext cx="11619230" cy="6858000"/>
            <a:chOff x="572770" y="0"/>
            <a:chExt cx="11619230" cy="6858000"/>
          </a:xfrm>
        </p:grpSpPr>
        <p:sp>
          <p:nvSpPr>
            <p:cNvPr id="19" name="Freeform 18"/>
            <p:cNvSpPr/>
            <p:nvPr userDrawn="1"/>
          </p:nvSpPr>
          <p:spPr>
            <a:xfrm rot="10800000">
              <a:off x="572770" y="0"/>
              <a:ext cx="11619230" cy="6858000"/>
            </a:xfrm>
            <a:custGeom>
              <a:avLst/>
              <a:gdLst>
                <a:gd name="connsiteX0" fmla="*/ 11619230 w 11619230"/>
                <a:gd name="connsiteY0" fmla="*/ 6858000 h 6858000"/>
                <a:gd name="connsiteX1" fmla="*/ 7885430 w 11619230"/>
                <a:gd name="connsiteY1" fmla="*/ 6858000 h 6858000"/>
                <a:gd name="connsiteX2" fmla="*/ 6475730 w 11619230"/>
                <a:gd name="connsiteY2" fmla="*/ 6858000 h 6858000"/>
                <a:gd name="connsiteX3" fmla="*/ 0 w 11619230"/>
                <a:gd name="connsiteY3" fmla="*/ 6858000 h 6858000"/>
                <a:gd name="connsiteX4" fmla="*/ 0 w 11619230"/>
                <a:gd name="connsiteY4" fmla="*/ 0 h 6858000"/>
                <a:gd name="connsiteX5" fmla="*/ 7761605 w 11619230"/>
                <a:gd name="connsiteY5" fmla="*/ 0 h 6858000"/>
                <a:gd name="connsiteX6" fmla="*/ 7885430 w 11619230"/>
                <a:gd name="connsiteY6" fmla="*/ 0 h 6858000"/>
                <a:gd name="connsiteX7" fmla="*/ 10333355 w 1161923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9230" h="6858000">
                  <a:moveTo>
                    <a:pt x="11619230" y="6858000"/>
                  </a:moveTo>
                  <a:lnTo>
                    <a:pt x="7885430" y="6858000"/>
                  </a:lnTo>
                  <a:lnTo>
                    <a:pt x="647573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761605" y="0"/>
                  </a:lnTo>
                  <a:lnTo>
                    <a:pt x="7885430" y="0"/>
                  </a:lnTo>
                  <a:lnTo>
                    <a:pt x="1033335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Freeform 16"/>
            <p:cNvSpPr/>
            <p:nvPr userDrawn="1"/>
          </p:nvSpPr>
          <p:spPr>
            <a:xfrm rot="10800000">
              <a:off x="988060" y="0"/>
              <a:ext cx="11203940" cy="6858000"/>
            </a:xfrm>
            <a:custGeom>
              <a:avLst/>
              <a:gdLst>
                <a:gd name="connsiteX0" fmla="*/ 11203940 w 11203940"/>
                <a:gd name="connsiteY0" fmla="*/ 6858000 h 6858000"/>
                <a:gd name="connsiteX1" fmla="*/ 7470140 w 11203940"/>
                <a:gd name="connsiteY1" fmla="*/ 6858000 h 6858000"/>
                <a:gd name="connsiteX2" fmla="*/ 6060440 w 11203940"/>
                <a:gd name="connsiteY2" fmla="*/ 6858000 h 6858000"/>
                <a:gd name="connsiteX3" fmla="*/ 0 w 11203940"/>
                <a:gd name="connsiteY3" fmla="*/ 6858000 h 6858000"/>
                <a:gd name="connsiteX4" fmla="*/ 0 w 11203940"/>
                <a:gd name="connsiteY4" fmla="*/ 0 h 6858000"/>
                <a:gd name="connsiteX5" fmla="*/ 7346315 w 11203940"/>
                <a:gd name="connsiteY5" fmla="*/ 0 h 6858000"/>
                <a:gd name="connsiteX6" fmla="*/ 7470140 w 11203940"/>
                <a:gd name="connsiteY6" fmla="*/ 0 h 6858000"/>
                <a:gd name="connsiteX7" fmla="*/ 9918065 w 1120394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03940" h="6858000">
                  <a:moveTo>
                    <a:pt x="11203940" y="6858000"/>
                  </a:moveTo>
                  <a:lnTo>
                    <a:pt x="7470140" y="6858000"/>
                  </a:lnTo>
                  <a:lnTo>
                    <a:pt x="606044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346315" y="0"/>
                  </a:lnTo>
                  <a:lnTo>
                    <a:pt x="7470140" y="0"/>
                  </a:lnTo>
                  <a:lnTo>
                    <a:pt x="991806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930400" y="1709738"/>
            <a:ext cx="9906000" cy="2852737"/>
          </a:xfrm>
        </p:spPr>
        <p:txBody>
          <a:bodyPr anchor="b"/>
          <a:lstStyle>
            <a:lvl1pPr>
              <a:defRPr sz="60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Section Title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324100" y="4589463"/>
            <a:ext cx="9512300" cy="1500187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D4D4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401070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1" y="3812"/>
            <a:ext cx="12195811" cy="6854190"/>
            <a:chOff x="-1" y="3812"/>
            <a:chExt cx="12195811" cy="6854190"/>
          </a:xfrm>
        </p:grpSpPr>
        <p:sp>
          <p:nvSpPr>
            <p:cNvPr id="17" name="Freeform 16"/>
            <p:cNvSpPr/>
            <p:nvPr userDrawn="1"/>
          </p:nvSpPr>
          <p:spPr>
            <a:xfrm rot="16200000">
              <a:off x="3385185" y="-337756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6" name="Freeform 15"/>
            <p:cNvSpPr/>
            <p:nvPr userDrawn="1"/>
          </p:nvSpPr>
          <p:spPr>
            <a:xfrm rot="5400000">
              <a:off x="3381375" y="-195262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1" name="Freeform 10"/>
            <p:cNvSpPr/>
            <p:nvPr userDrawn="1"/>
          </p:nvSpPr>
          <p:spPr>
            <a:xfrm rot="5400000">
              <a:off x="3327799" y="-2236944"/>
              <a:ext cx="5536405" cy="12192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Freeform 12"/>
            <p:cNvSpPr/>
            <p:nvPr userDrawn="1"/>
          </p:nvSpPr>
          <p:spPr>
            <a:xfrm rot="16200000">
              <a:off x="5667377" y="-5433772"/>
              <a:ext cx="857250" cy="12192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" name="TextBox 2"/>
          <p:cNvSpPr txBox="1"/>
          <p:nvPr userDrawn="1"/>
        </p:nvSpPr>
        <p:spPr>
          <a:xfrm rot="21411406">
            <a:off x="0" y="266319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smtClean="0">
                <a:solidFill>
                  <a:srgbClr val="2196F3"/>
                </a:solidFill>
                <a:latin typeface="+mj-lt"/>
              </a:rPr>
              <a:t>Questions?</a:t>
            </a:r>
            <a:endParaRPr lang="bg-BG" sz="9600" dirty="0">
              <a:solidFill>
                <a:srgbClr val="2196F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090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26A4-A17A-4698-BE1B-BA61FFEA96A2}" type="datetimeFigureOut">
              <a:rPr lang="bg-BG" smtClean="0"/>
              <a:t>6.1.2021 г.</a:t>
            </a:fld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764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96F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li.do/event/ynjb7iv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arxiv.org/pdf/1406.1078v3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colah.github.io/posts/2015-08-Understanding-LSTMs/" TargetMode="External"/><Relationship Id="rId2" Type="http://schemas.openxmlformats.org/officeDocument/2006/relationships/hyperlink" Target="http://www.bioinf.jku.at/publications/older/2604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guide/embedding" TargetMode="External"/><Relationship Id="rId2" Type="http://schemas.openxmlformats.org/officeDocument/2006/relationships/hyperlink" Target="https://www.aclweb.org/anthology/N13-1090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skymind.ai/wiki/word2ve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hackernoon.com/beam-search-a-search-strategy-5d92fb7817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attention-long-short-term-memory-recurrent-neural-networks/" TargetMode="External"/><Relationship Id="rId2" Type="http://schemas.openxmlformats.org/officeDocument/2006/relationships/hyperlink" Target="https://arxiv.org/pdf/1502.03044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Natural Language Processing</a:t>
            </a:r>
            <a:endParaRPr lang="bg-B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Taking time into account</a:t>
            </a:r>
            <a:endParaRPr lang="bg-BG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Yordan Darakchiev</a:t>
            </a:r>
            <a:endParaRPr lang="bg-BG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Technical Trainer</a:t>
            </a:r>
            <a:endParaRPr lang="bg-BG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iordan93@gmail.com</a:t>
            </a:r>
            <a:endParaRPr lang="bg-BG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1304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sli.do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#DeepLearning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5892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Time-dependent (sequential) models</a:t>
            </a:r>
          </a:p>
          <a:p>
            <a:pPr lvl="1"/>
            <a:r>
              <a:rPr lang="en-US" dirty="0" smtClean="0"/>
              <a:t>Architecture</a:t>
            </a:r>
          </a:p>
          <a:p>
            <a:pPr lvl="1"/>
            <a:r>
              <a:rPr lang="en-US" dirty="0" smtClean="0"/>
              <a:t>Types</a:t>
            </a:r>
          </a:p>
          <a:p>
            <a:r>
              <a:rPr lang="en-US" dirty="0" smtClean="0"/>
              <a:t>Improvements</a:t>
            </a:r>
          </a:p>
          <a:p>
            <a:r>
              <a:rPr lang="en-US" dirty="0" smtClean="0"/>
              <a:t>Word (token) representations</a:t>
            </a:r>
          </a:p>
          <a:p>
            <a:r>
              <a:rPr lang="en-US" dirty="0" smtClean="0"/>
              <a:t>Refinement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1178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Time-Dependent Models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"Time is precious, waste it wisely"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1533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Time-Dependent Model Examples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Speech recognition: audio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transcript</a:t>
                </a:r>
              </a:p>
              <a:p>
                <a:r>
                  <a:rPr lang="en-US" dirty="0" smtClean="0"/>
                  <a:t>Machine translation: text (EN)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text (FR)</a:t>
                </a:r>
              </a:p>
              <a:p>
                <a:r>
                  <a:rPr lang="en-US" dirty="0" smtClean="0"/>
                  <a:t>Activity recognition: video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activity type (e.g. walking)</a:t>
                </a:r>
              </a:p>
              <a:p>
                <a:r>
                  <a:rPr lang="en-US" dirty="0" smtClean="0"/>
                  <a:t>Sentiment analysis: 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sentiment</a:t>
                </a:r>
              </a:p>
              <a:p>
                <a:r>
                  <a:rPr lang="en-US" dirty="0" smtClean="0"/>
                  <a:t>Generation</a:t>
                </a:r>
              </a:p>
              <a:p>
                <a:pPr lvl="1"/>
                <a:r>
                  <a:rPr lang="en-US" dirty="0" smtClean="0"/>
                  <a:t>Text summarization</a:t>
                </a:r>
              </a:p>
              <a:p>
                <a:pPr lvl="1"/>
                <a:r>
                  <a:rPr lang="en-US" dirty="0" smtClean="0"/>
                  <a:t>Music generation</a:t>
                </a:r>
              </a:p>
              <a:p>
                <a:r>
                  <a:rPr lang="en-US" dirty="0" smtClean="0"/>
                  <a:t>More generally, models whose inputs depend on time</a:t>
                </a:r>
              </a:p>
              <a:p>
                <a:pPr lvl="1"/>
                <a:r>
                  <a:rPr lang="en-US" dirty="0" smtClean="0"/>
                  <a:t>"Standard" models: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; recurrent models: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 smtClean="0"/>
                  <a:t> – current state</a:t>
                </a:r>
              </a:p>
              <a:p>
                <a:pPr lvl="1"/>
                <a:r>
                  <a:rPr lang="en-US" dirty="0" smtClean="0"/>
                  <a:t>Standard models don't allow variable-length inputs</a:t>
                </a:r>
              </a:p>
              <a:p>
                <a:pPr lvl="1"/>
                <a:r>
                  <a:rPr lang="en-US" dirty="0" smtClean="0"/>
                  <a:t>Most standard models don't allow for weight sharing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1743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Sequences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Training 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 "A black cat in a box"</a:t>
                </a:r>
              </a:p>
              <a:p>
                <a:pPr lvl="1"/>
                <a:r>
                  <a:rPr lang="en-US" dirty="0" smtClean="0"/>
                  <a:t>Split words (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tokenize</a:t>
                </a:r>
                <a:r>
                  <a:rPr lang="en-US" dirty="0" smtClean="0"/>
                  <a:t> the input)</a:t>
                </a:r>
              </a:p>
              <a:p>
                <a:pPr lvl="1"/>
                <a:r>
                  <a:rPr lang="en-US" dirty="0" smtClean="0"/>
                  <a:t>Present words as 1-hot encoded vectors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 smtClean="0"/>
                  <a:t>using a dictionary (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vocabulary</a:t>
                </a:r>
                <a:r>
                  <a:rPr lang="en-US" dirty="0" smtClean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="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"=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 0 …0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="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black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"=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0 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329</m:t>
                        </m:r>
                      </m:sub>
                    </m:sSub>
                  </m:oMath>
                </a14:m>
                <a:r>
                  <a:rPr lang="en-US" dirty="0" smtClean="0"/>
                  <a:t>, etc.</a:t>
                </a:r>
              </a:p>
              <a:p>
                <a:r>
                  <a:rPr lang="en-US" dirty="0" smtClean="0"/>
                  <a:t>Take a standard model (1-layer NN), pass each word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6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414" y="325581"/>
            <a:ext cx="2384367" cy="2384367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2538411" y="4064927"/>
            <a:ext cx="1307365" cy="2518783"/>
            <a:chOff x="976744" y="3948545"/>
            <a:chExt cx="1438102" cy="2518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1396538" y="3948545"/>
                  <a:ext cx="598516" cy="59851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&lt;1&gt;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6538" y="3948545"/>
                  <a:ext cx="598516" cy="598516"/>
                </a:xfrm>
                <a:prstGeom prst="ellipse">
                  <a:avLst/>
                </a:prstGeom>
                <a:blipFill>
                  <a:blip r:embed="rId4"/>
                  <a:stretch>
                    <a:fillRect l="-5495" r="-21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976745" y="4738255"/>
                  <a:ext cx="1438101" cy="43226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745" y="4738255"/>
                  <a:ext cx="1438101" cy="43226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976744" y="5411588"/>
                  <a:ext cx="1438101" cy="43226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&lt;1&gt;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744" y="5411588"/>
                  <a:ext cx="1438101" cy="43226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326141" y="6097996"/>
                  <a:ext cx="7393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&lt;1&gt;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6141" y="6097996"/>
                  <a:ext cx="73930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>
              <a:stCxn id="7" idx="4"/>
              <a:endCxn id="8" idx="0"/>
            </p:cNvCxnSpPr>
            <p:nvPr/>
          </p:nvCxnSpPr>
          <p:spPr>
            <a:xfrm>
              <a:off x="1695796" y="4547061"/>
              <a:ext cx="0" cy="191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8" idx="2"/>
              <a:endCxn id="10" idx="0"/>
            </p:cNvCxnSpPr>
            <p:nvPr/>
          </p:nvCxnSpPr>
          <p:spPr>
            <a:xfrm flipH="1">
              <a:off x="1695795" y="5170517"/>
              <a:ext cx="1" cy="24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0" idx="2"/>
              <a:endCxn id="11" idx="0"/>
            </p:cNvCxnSpPr>
            <p:nvPr/>
          </p:nvCxnSpPr>
          <p:spPr>
            <a:xfrm flipH="1">
              <a:off x="1695794" y="5843850"/>
              <a:ext cx="1" cy="2541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5168002" y="4064927"/>
            <a:ext cx="1307365" cy="2518783"/>
            <a:chOff x="976744" y="3948545"/>
            <a:chExt cx="1438102" cy="2518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/>
                <p:cNvSpPr/>
                <p:nvPr/>
              </p:nvSpPr>
              <p:spPr>
                <a:xfrm>
                  <a:off x="1396538" y="3948545"/>
                  <a:ext cx="598516" cy="59851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&lt;2&gt;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Oval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6538" y="3948545"/>
                  <a:ext cx="598516" cy="598516"/>
                </a:xfrm>
                <a:prstGeom prst="ellipse">
                  <a:avLst/>
                </a:prstGeom>
                <a:blipFill>
                  <a:blip r:embed="rId8"/>
                  <a:stretch>
                    <a:fillRect l="-5435" r="-1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976745" y="4738255"/>
                  <a:ext cx="1438101" cy="43226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745" y="4738255"/>
                  <a:ext cx="1438101" cy="43226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976744" y="5411588"/>
                  <a:ext cx="1438101" cy="43226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&lt;2&gt;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744" y="5411588"/>
                  <a:ext cx="1438101" cy="43226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1326141" y="6097996"/>
                  <a:ext cx="7393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&lt;2&gt;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6141" y="6097996"/>
                  <a:ext cx="73930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/>
            <p:cNvCxnSpPr>
              <a:stCxn id="34" idx="4"/>
              <a:endCxn id="35" idx="0"/>
            </p:cNvCxnSpPr>
            <p:nvPr/>
          </p:nvCxnSpPr>
          <p:spPr>
            <a:xfrm>
              <a:off x="1695796" y="4547061"/>
              <a:ext cx="0" cy="191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35" idx="2"/>
              <a:endCxn id="36" idx="0"/>
            </p:cNvCxnSpPr>
            <p:nvPr/>
          </p:nvCxnSpPr>
          <p:spPr>
            <a:xfrm flipH="1">
              <a:off x="1695795" y="5170517"/>
              <a:ext cx="1" cy="24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36" idx="2"/>
              <a:endCxn id="37" idx="0"/>
            </p:cNvCxnSpPr>
            <p:nvPr/>
          </p:nvCxnSpPr>
          <p:spPr>
            <a:xfrm flipH="1">
              <a:off x="1695794" y="5843850"/>
              <a:ext cx="1" cy="2541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7751876" y="4064927"/>
            <a:ext cx="1307365" cy="2518783"/>
            <a:chOff x="976744" y="3948545"/>
            <a:chExt cx="1438102" cy="2518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/>
                <p:cNvSpPr/>
                <p:nvPr/>
              </p:nvSpPr>
              <p:spPr>
                <a:xfrm>
                  <a:off x="1396538" y="3948545"/>
                  <a:ext cx="598516" cy="59851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&lt;3&gt;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Oval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6538" y="3948545"/>
                  <a:ext cx="598516" cy="598516"/>
                </a:xfrm>
                <a:prstGeom prst="ellipse">
                  <a:avLst/>
                </a:prstGeom>
                <a:blipFill>
                  <a:blip r:embed="rId12"/>
                  <a:stretch>
                    <a:fillRect l="-5495" r="-21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976745" y="4738255"/>
                  <a:ext cx="1438101" cy="43226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745" y="4738255"/>
                  <a:ext cx="1438101" cy="43226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976744" y="5411588"/>
                  <a:ext cx="1438101" cy="43226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&lt;3&gt;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744" y="5411588"/>
                  <a:ext cx="1438101" cy="43226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1326141" y="6097996"/>
                  <a:ext cx="7393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&lt;3&gt;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6141" y="6097996"/>
                  <a:ext cx="739305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/>
            <p:cNvCxnSpPr>
              <a:stCxn id="42" idx="4"/>
              <a:endCxn id="43" idx="0"/>
            </p:cNvCxnSpPr>
            <p:nvPr/>
          </p:nvCxnSpPr>
          <p:spPr>
            <a:xfrm>
              <a:off x="1695796" y="4547061"/>
              <a:ext cx="0" cy="191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43" idx="2"/>
              <a:endCxn id="44" idx="0"/>
            </p:cNvCxnSpPr>
            <p:nvPr/>
          </p:nvCxnSpPr>
          <p:spPr>
            <a:xfrm flipH="1">
              <a:off x="1695795" y="5170517"/>
              <a:ext cx="1" cy="24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44" idx="2"/>
              <a:endCxn id="45" idx="0"/>
            </p:cNvCxnSpPr>
            <p:nvPr/>
          </p:nvCxnSpPr>
          <p:spPr>
            <a:xfrm flipH="1">
              <a:off x="1695794" y="5843850"/>
              <a:ext cx="1" cy="2541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Elbow Connector 49"/>
          <p:cNvCxnSpPr>
            <a:stCxn id="10" idx="3"/>
            <a:endCxn id="35" idx="1"/>
          </p:cNvCxnSpPr>
          <p:nvPr/>
        </p:nvCxnSpPr>
        <p:spPr>
          <a:xfrm flipV="1">
            <a:off x="3845775" y="5070768"/>
            <a:ext cx="1322228" cy="673333"/>
          </a:xfrm>
          <a:prstGeom prst="bent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36" idx="3"/>
            <a:endCxn id="43" idx="1"/>
          </p:cNvCxnSpPr>
          <p:nvPr/>
        </p:nvCxnSpPr>
        <p:spPr>
          <a:xfrm flipV="1">
            <a:off x="6475366" y="5070768"/>
            <a:ext cx="1276511" cy="673333"/>
          </a:xfrm>
          <a:prstGeom prst="bent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645633" y="5527970"/>
                <a:ext cx="1307364" cy="4322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&lt;0&gt;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4D4D4D"/>
                  </a:solidFill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33" y="5527970"/>
                <a:ext cx="1307364" cy="4322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Elbow Connector 58"/>
          <p:cNvCxnSpPr>
            <a:stCxn id="58" idx="3"/>
            <a:endCxn id="8" idx="1"/>
          </p:cNvCxnSpPr>
          <p:nvPr/>
        </p:nvCxnSpPr>
        <p:spPr>
          <a:xfrm flipV="1">
            <a:off x="1952997" y="5070768"/>
            <a:ext cx="585415" cy="673333"/>
          </a:xfrm>
          <a:prstGeom prst="bent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49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Recurrent Neural Networks</a:t>
            </a:r>
            <a:endParaRPr lang="bg-B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"RNN cell"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 smtClean="0"/>
              </a:p>
              <a:p>
                <a:pPr lvl="1"/>
                <a:endParaRPr lang="en-US" dirty="0"/>
              </a:p>
              <a:p>
                <a:r>
                  <a:rPr lang="en-US" dirty="0" smtClean="0"/>
                  <a:t>Deep architectures are also possible</a:t>
                </a:r>
              </a:p>
              <a:p>
                <a:r>
                  <a:rPr lang="en-US" dirty="0" smtClean="0"/>
                  <a:t>Learning: backpropagation through time</a:t>
                </a:r>
              </a:p>
              <a:p>
                <a:pPr lvl="1"/>
                <a:r>
                  <a:rPr lang="en-US" dirty="0" smtClean="0"/>
                  <a:t>The same as in a multi-layer network: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arg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e>
                    </m:d>
                  </m:oMath>
                </a14:m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7</a:t>
            </a:fld>
            <a:endParaRPr lang="bg-BG"/>
          </a:p>
        </p:txBody>
      </p:sp>
      <p:grpSp>
        <p:nvGrpSpPr>
          <p:cNvPr id="80" name="Group 79"/>
          <p:cNvGrpSpPr/>
          <p:nvPr/>
        </p:nvGrpSpPr>
        <p:grpSpPr>
          <a:xfrm>
            <a:off x="682417" y="1640379"/>
            <a:ext cx="4041456" cy="1015935"/>
            <a:chOff x="607603" y="1499062"/>
            <a:chExt cx="4041456" cy="1015935"/>
          </a:xfrm>
        </p:grpSpPr>
        <p:sp>
          <p:nvSpPr>
            <p:cNvPr id="6" name="Rectangle 5"/>
            <p:cNvSpPr/>
            <p:nvPr/>
          </p:nvSpPr>
          <p:spPr>
            <a:xfrm>
              <a:off x="1776857" y="1499062"/>
              <a:ext cx="1548234" cy="9310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Oval 48"/>
                <p:cNvSpPr/>
                <p:nvPr/>
              </p:nvSpPr>
              <p:spPr>
                <a:xfrm>
                  <a:off x="725482" y="1961800"/>
                  <a:ext cx="544105" cy="55319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Oval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482" y="1961800"/>
                  <a:ext cx="544105" cy="553197"/>
                </a:xfrm>
                <a:prstGeom prst="ellipse">
                  <a:avLst/>
                </a:prstGeom>
                <a:blipFill>
                  <a:blip r:embed="rId3"/>
                  <a:stretch>
                    <a:fillRect l="-32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>
                <a:xfrm>
                  <a:off x="607603" y="1499062"/>
                  <a:ext cx="898976" cy="34636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−1&gt;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03" y="1499062"/>
                  <a:ext cx="898976" cy="34636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2028303" y="1579416"/>
                  <a:ext cx="448889" cy="38238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0" dirty="0" smtClean="0">
                      <a:solidFill>
                        <a:srgbClr val="4D4D4D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303" y="1579416"/>
                  <a:ext cx="448889" cy="38238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/>
            <p:cNvCxnSpPr>
              <a:stCxn id="49" idx="6"/>
              <a:endCxn id="9" idx="1"/>
            </p:cNvCxnSpPr>
            <p:nvPr/>
          </p:nvCxnSpPr>
          <p:spPr>
            <a:xfrm flipV="1">
              <a:off x="1269587" y="1770609"/>
              <a:ext cx="758716" cy="4677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4" idx="3"/>
              <a:endCxn id="9" idx="1"/>
            </p:cNvCxnSpPr>
            <p:nvPr/>
          </p:nvCxnSpPr>
          <p:spPr>
            <a:xfrm>
              <a:off x="1506579" y="1672244"/>
              <a:ext cx="521724" cy="983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/>
                <p:cNvSpPr/>
                <p:nvPr/>
              </p:nvSpPr>
              <p:spPr>
                <a:xfrm>
                  <a:off x="2728638" y="1995055"/>
                  <a:ext cx="448889" cy="38238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0" dirty="0" smtClean="0">
                      <a:solidFill>
                        <a:srgbClr val="4D4D4D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8638" y="1995055"/>
                  <a:ext cx="448889" cy="38238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/>
            <p:cNvCxnSpPr>
              <a:stCxn id="9" idx="3"/>
              <a:endCxn id="68" idx="1"/>
            </p:cNvCxnSpPr>
            <p:nvPr/>
          </p:nvCxnSpPr>
          <p:spPr>
            <a:xfrm>
              <a:off x="2477192" y="1770609"/>
              <a:ext cx="12728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/>
            <p:cNvCxnSpPr>
              <a:stCxn id="9" idx="2"/>
              <a:endCxn id="60" idx="1"/>
            </p:cNvCxnSpPr>
            <p:nvPr/>
          </p:nvCxnSpPr>
          <p:spPr>
            <a:xfrm rot="16200000" flipH="1">
              <a:off x="2378470" y="1836080"/>
              <a:ext cx="224446" cy="47589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60" idx="3"/>
            </p:cNvCxnSpPr>
            <p:nvPr/>
          </p:nvCxnSpPr>
          <p:spPr>
            <a:xfrm>
              <a:off x="3177527" y="2186248"/>
              <a:ext cx="572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/>
                <p:cNvSpPr/>
                <p:nvPr/>
              </p:nvSpPr>
              <p:spPr>
                <a:xfrm>
                  <a:off x="3750083" y="1597427"/>
                  <a:ext cx="898976" cy="34636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4D4D4D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0083" y="1597427"/>
                  <a:ext cx="898976" cy="3463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/>
                <p:cNvSpPr txBox="1"/>
                <p:nvPr/>
              </p:nvSpPr>
              <p:spPr>
                <a:xfrm>
                  <a:off x="3839697" y="2031074"/>
                  <a:ext cx="7197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9697" y="2031074"/>
                  <a:ext cx="719749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Elbow Connector 78"/>
            <p:cNvCxnSpPr>
              <a:stCxn id="68" idx="0"/>
              <a:endCxn id="54" idx="0"/>
            </p:cNvCxnSpPr>
            <p:nvPr/>
          </p:nvCxnSpPr>
          <p:spPr>
            <a:xfrm rot="16200000" flipV="1">
              <a:off x="2579149" y="-22995"/>
              <a:ext cx="98365" cy="3142480"/>
            </a:xfrm>
            <a:prstGeom prst="bentConnector3">
              <a:avLst>
                <a:gd name="adj1" fmla="val 332400"/>
              </a:avLst>
            </a:prstGeom>
            <a:ln w="19050"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4" name="Picture 83"/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891" y="1236020"/>
            <a:ext cx="3469181" cy="1958642"/>
          </a:xfrm>
          <a:prstGeom prst="rect">
            <a:avLst/>
          </a:prstGeom>
        </p:spPr>
      </p:pic>
      <p:pic>
        <p:nvPicPr>
          <p:cNvPr id="117" name="Picture 1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16" y="3961846"/>
            <a:ext cx="5081760" cy="293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0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RNN Architectures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One to one: standard</a:t>
            </a:r>
          </a:p>
          <a:p>
            <a:r>
              <a:rPr lang="en-US" dirty="0" smtClean="0"/>
              <a:t>One to many</a:t>
            </a:r>
          </a:p>
          <a:p>
            <a:pPr lvl="1"/>
            <a:r>
              <a:rPr lang="en-US" dirty="0" smtClean="0"/>
              <a:t>Sequence generation given seed (e.g. image captioning)</a:t>
            </a:r>
          </a:p>
          <a:p>
            <a:r>
              <a:rPr lang="en-US" dirty="0" smtClean="0"/>
              <a:t>Many to one</a:t>
            </a:r>
          </a:p>
          <a:p>
            <a:pPr lvl="1"/>
            <a:r>
              <a:rPr lang="en-US" dirty="0" smtClean="0"/>
              <a:t>One output for sequence (e.g. sentiment analysis)</a:t>
            </a:r>
          </a:p>
          <a:p>
            <a:r>
              <a:rPr lang="en-US" dirty="0" smtClean="0"/>
              <a:t>Many to many</a:t>
            </a:r>
          </a:p>
          <a:p>
            <a:pPr lvl="1"/>
            <a:r>
              <a:rPr lang="en-US" dirty="0" smtClean="0"/>
              <a:t>Encoding and decoding (e.g. machine translation)</a:t>
            </a:r>
          </a:p>
          <a:p>
            <a:pPr lvl="1"/>
            <a:r>
              <a:rPr lang="en-US" dirty="0" smtClean="0"/>
              <a:t>Synchronized output</a:t>
            </a:r>
            <a:br>
              <a:rPr lang="en-US" dirty="0" smtClean="0"/>
            </a:br>
            <a:r>
              <a:rPr lang="en-US" dirty="0" smtClean="0"/>
              <a:t>(e.g. video classification</a:t>
            </a:r>
            <a:br>
              <a:rPr lang="en-US" dirty="0" smtClean="0"/>
            </a:br>
            <a:r>
              <a:rPr lang="en-US" dirty="0" smtClean="0"/>
              <a:t>for each frame)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8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6799" y="4563123"/>
            <a:ext cx="6567054" cy="204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6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Language Model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Training</a:t>
                </a:r>
              </a:p>
              <a:p>
                <a:pPr lvl="1"/>
                <a:r>
                  <a:rPr lang="en-US" dirty="0" smtClean="0"/>
                  <a:t>Tokenize the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Use a standard RNN, with no initial seed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&lt;0&gt;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 0…0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&lt;0&gt;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Output: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 smtClean="0"/>
                  <a:t>: a vector of probabilities for each 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[0,0385  0,0476 …0,00041]</m:t>
                    </m:r>
                  </m:oMath>
                </a14:m>
                <a:endParaRPr lang="en-US" dirty="0" smtClean="0"/>
              </a:p>
              <a:p>
                <a:pPr lvl="3"/>
                <a:r>
                  <a:rPr lang="en-US" dirty="0" smtClean="0"/>
                  <a:t>Softmax, with 10 000 outputs</a:t>
                </a:r>
              </a:p>
              <a:p>
                <a:pPr lvl="1"/>
                <a:r>
                  <a:rPr lang="en-US" dirty="0" smtClean="0"/>
                  <a:t>Explanation</a:t>
                </a:r>
              </a:p>
              <a:p>
                <a:pPr lvl="2"/>
                <a:r>
                  <a:rPr lang="en-US" dirty="0" smtClean="0"/>
                  <a:t>First token: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Second token: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In general: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/>
                  <a:t>Generation: random sampling according to computed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&lt;0&gt;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&lt;0&gt;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dirty="0" smtClean="0"/>
                  <a:t>;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</m:oMath>
                </a14:m>
                <a:r>
                  <a:rPr lang="en-US" dirty="0" smtClean="0"/>
                  <a:t>; choose a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</m:oMath>
                </a14:m>
                <a:r>
                  <a:rPr lang="en-US" dirty="0" smtClean="0"/>
                  <a:t>;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&lt;2&gt;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&lt;2&gt;</m:t>
                        </m:r>
                      </m:sup>
                    </m:sSup>
                  </m:oMath>
                </a14:m>
                <a:r>
                  <a:rPr lang="en-US" dirty="0" smtClean="0"/>
                  <a:t>; choose a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… until you reach [.]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 b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5554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Improved Models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Making things even more difficult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0376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Vanishing Gradients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RNN with a long input is similar to a very deep NN</a:t>
                </a:r>
              </a:p>
              <a:p>
                <a:r>
                  <a:rPr lang="en-US" dirty="0" smtClean="0"/>
                  <a:t>Examples</a:t>
                </a:r>
              </a:p>
              <a:p>
                <a:pPr lvl="1"/>
                <a:r>
                  <a:rPr lang="en-US" dirty="0" smtClean="0">
                    <a:solidFill>
                      <a:srgbClr val="8BC34A"/>
                    </a:solidFill>
                  </a:rPr>
                  <a:t>The match</a:t>
                </a:r>
                <a:r>
                  <a:rPr lang="en-US" dirty="0" smtClean="0"/>
                  <a:t> was long, but </a:t>
                </a:r>
                <a:r>
                  <a:rPr lang="en-US" dirty="0" smtClean="0">
                    <a:solidFill>
                      <a:srgbClr val="00B0F0"/>
                    </a:solidFill>
                  </a:rPr>
                  <a:t>we won</a:t>
                </a:r>
                <a:r>
                  <a:rPr lang="en-US" dirty="0" smtClean="0"/>
                  <a:t> </a:t>
                </a:r>
                <a:r>
                  <a:rPr lang="en-US" dirty="0" smtClean="0">
                    <a:solidFill>
                      <a:srgbClr val="8BC34A"/>
                    </a:solidFill>
                  </a:rPr>
                  <a:t>it</a:t>
                </a:r>
                <a:r>
                  <a:rPr lang="en-US" dirty="0" smtClean="0"/>
                  <a:t> </a:t>
                </a:r>
                <a:r>
                  <a:rPr lang="en-US" dirty="0" smtClean="0">
                    <a:solidFill>
                      <a:srgbClr val="00B0F0"/>
                    </a:solidFill>
                  </a:rPr>
                  <a:t>which</a:t>
                </a:r>
                <a:r>
                  <a:rPr lang="en-US" dirty="0" smtClean="0"/>
                  <a:t> made us happy.</a:t>
                </a:r>
              </a:p>
              <a:p>
                <a:pPr lvl="1"/>
                <a:r>
                  <a:rPr lang="en-US" dirty="0" smtClean="0"/>
                  <a:t>We </a:t>
                </a:r>
                <a:r>
                  <a:rPr lang="en-US" b="1" dirty="0" smtClean="0"/>
                  <a:t>decided to go </a:t>
                </a:r>
                <a:r>
                  <a:rPr lang="en-US" b="1" dirty="0" smtClean="0">
                    <a:solidFill>
                      <a:srgbClr val="2196F3"/>
                    </a:solidFill>
                  </a:rPr>
                  <a:t>to the movies</a:t>
                </a:r>
                <a:r>
                  <a:rPr lang="en-US" dirty="0" smtClean="0"/>
                  <a:t>, but </a:t>
                </a:r>
                <a:r>
                  <a:rPr lang="en-US" dirty="0" smtClean="0">
                    <a:solidFill>
                      <a:srgbClr val="8BC34A"/>
                    </a:solidFill>
                  </a:rPr>
                  <a:t>our friend</a:t>
                </a:r>
                <a:r>
                  <a:rPr lang="en-US" dirty="0" smtClean="0"/>
                  <a:t>, who</a:t>
                </a:r>
                <a:br>
                  <a:rPr lang="en-US" dirty="0" smtClean="0"/>
                </a:br>
                <a:r>
                  <a:rPr lang="en-US" dirty="0" smtClean="0"/>
                  <a:t>doesn't like scary movies, </a:t>
                </a:r>
                <a:r>
                  <a:rPr lang="en-US" dirty="0" smtClean="0">
                    <a:solidFill>
                      <a:srgbClr val="8BC34A"/>
                    </a:solidFill>
                  </a:rPr>
                  <a:t>didn't want </a:t>
                </a:r>
                <a:r>
                  <a:rPr lang="en-US" b="1" dirty="0" smtClean="0">
                    <a:solidFill>
                      <a:srgbClr val="8BC34A"/>
                    </a:solidFill>
                  </a:rPr>
                  <a:t>to go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Solution: Gated recurrent unit (GRU) – </a:t>
                </a:r>
                <a:r>
                  <a:rPr lang="en-US" dirty="0" smtClean="0">
                    <a:hlinkClick r:id="rId2"/>
                  </a:rPr>
                  <a:t>Cho et al., 2014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Update 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 smtClean="0"/>
                  <a:t>): how much of the past information to retain</a:t>
                </a:r>
              </a:p>
              <a:p>
                <a:pPr lvl="1"/>
                <a:r>
                  <a:rPr lang="en-US" dirty="0" smtClean="0"/>
                  <a:t>Reset 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 smtClean="0"/>
                  <a:t>): how much information to forget</a:t>
                </a:r>
              </a:p>
              <a:p>
                <a:pPr lvl="1"/>
                <a:r>
                  <a:rPr lang="en-US" dirty="0" smtClean="0"/>
                  <a:t>Final memory: current information + previous "context"</a:t>
                </a:r>
              </a:p>
              <a:p>
                <a:pPr lvl="2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11</a:t>
            </a:fld>
            <a:endParaRPr lang="bg-BG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913" y="4879286"/>
            <a:ext cx="5964252" cy="184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Long-Short Term Memory (LSTM)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Even more powerful (and complicated)</a:t>
                </a:r>
              </a:p>
              <a:p>
                <a:pPr lvl="1"/>
                <a:r>
                  <a:rPr lang="en-US" dirty="0" smtClean="0">
                    <a:hlinkClick r:id="rId2"/>
                  </a:rPr>
                  <a:t>Hochreiter and Schmidthuber, 1997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This is only one layer, LSTM layers can also be stacked</a:t>
                </a:r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Basic parts of the architecture</a:t>
                </a:r>
              </a:p>
              <a:p>
                <a:pPr lvl="1"/>
                <a:r>
                  <a:rPr lang="en-US" dirty="0" smtClean="0"/>
                  <a:t>Forget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Update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Cell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A good </a:t>
                </a:r>
                <a:r>
                  <a:rPr lang="en-US" dirty="0" smtClean="0">
                    <a:hlinkClick r:id="rId3"/>
                  </a:rPr>
                  <a:t>article</a:t>
                </a:r>
                <a:r>
                  <a:rPr lang="en-US" dirty="0" smtClean="0"/>
                  <a:t> explaining LSTM cells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92" t="-2804" b="-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12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06" y="2129046"/>
            <a:ext cx="4417550" cy="165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8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Bi-Directional Networks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Intuition</a:t>
                </a:r>
              </a:p>
              <a:p>
                <a:pPr lvl="1"/>
                <a:r>
                  <a:rPr lang="en-US" dirty="0" smtClean="0"/>
                  <a:t>RNNs may need information ahead, "from the future"</a:t>
                </a:r>
              </a:p>
              <a:p>
                <a:pPr lvl="1"/>
                <a:r>
                  <a:rPr lang="en-US" dirty="0" smtClean="0"/>
                  <a:t>E.g. to translate word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&lt;5&gt;</m:t>
                        </m:r>
                      </m:sup>
                    </m:sSup>
                  </m:oMath>
                </a14:m>
                <a:r>
                  <a:rPr lang="en-US" dirty="0" smtClean="0"/>
                  <a:t> we may need the whole sentence</a:t>
                </a:r>
              </a:p>
              <a:p>
                <a:r>
                  <a:rPr lang="en-US" dirty="0" smtClean="0"/>
                  <a:t>Solution: just create pairs of networks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pPr lvl="1"/>
                <a:r>
                  <a:rPr lang="en-US" dirty="0" smtClean="0"/>
                  <a:t>These can be RNN, GRU, LSTM or other layers</a:t>
                </a:r>
              </a:p>
              <a:p>
                <a:pPr lvl="1"/>
                <a:r>
                  <a:rPr lang="en-US" dirty="0" smtClean="0"/>
                  <a:t>To compute activations, go left to right, then right to left</a:t>
                </a:r>
              </a:p>
              <a:p>
                <a:pPr lvl="1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13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1" y="2666731"/>
            <a:ext cx="4572346" cy="161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5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Representing Words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Find your way</a:t>
            </a:r>
            <a:br>
              <a:rPr lang="en-US" dirty="0" smtClean="0"/>
            </a:br>
            <a:r>
              <a:rPr lang="en-US" dirty="0" smtClean="0"/>
              <a:t>in the multi-dimensional space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7442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Word Representation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Basic idea: one-hot encoding</a:t>
            </a:r>
          </a:p>
          <a:p>
            <a:r>
              <a:rPr lang="en-US" dirty="0" smtClean="0"/>
              <a:t>How to get insights on word relations?</a:t>
            </a:r>
          </a:p>
          <a:p>
            <a:pPr lvl="1"/>
            <a:r>
              <a:rPr lang="en-US" dirty="0" smtClean="0"/>
              <a:t>Try to estimate </a:t>
            </a:r>
            <a:r>
              <a:rPr lang="en-US" dirty="0" smtClean="0">
                <a:solidFill>
                  <a:srgbClr val="2196F3"/>
                </a:solidFill>
              </a:rPr>
              <a:t>word features</a:t>
            </a:r>
            <a:r>
              <a:rPr lang="en-US" dirty="0" smtClean="0"/>
              <a:t>: vectors of numbers for each word</a:t>
            </a:r>
          </a:p>
          <a:p>
            <a:pPr lvl="2"/>
            <a:r>
              <a:rPr lang="en-US" dirty="0" smtClean="0"/>
              <a:t>Unsupervised process</a:t>
            </a:r>
          </a:p>
          <a:p>
            <a:pPr lvl="2"/>
            <a:r>
              <a:rPr lang="en-US" b="1" dirty="0" smtClean="0">
                <a:solidFill>
                  <a:srgbClr val="2196F3"/>
                </a:solidFill>
              </a:rPr>
              <a:t>Embedding</a:t>
            </a:r>
            <a:r>
              <a:rPr lang="en-US" dirty="0" smtClean="0"/>
              <a:t> from a space with one dimension per word</a:t>
            </a:r>
            <a:br>
              <a:rPr lang="en-US" dirty="0" smtClean="0"/>
            </a:br>
            <a:r>
              <a:rPr lang="en-US" dirty="0" smtClean="0"/>
              <a:t>to a lower-dimensional space (e.g. 300D)</a:t>
            </a:r>
          </a:p>
          <a:p>
            <a:pPr lvl="1"/>
            <a:r>
              <a:rPr lang="en-US" dirty="0" smtClean="0"/>
              <a:t>Example uses</a:t>
            </a:r>
          </a:p>
          <a:p>
            <a:pPr lvl="2"/>
            <a:r>
              <a:rPr lang="en-US" dirty="0" smtClean="0"/>
              <a:t>Use similarity measures (e.g. cosine distance) between vectors</a:t>
            </a:r>
          </a:p>
          <a:p>
            <a:pPr lvl="2"/>
            <a:r>
              <a:rPr lang="en-US" dirty="0" smtClean="0"/>
              <a:t>Use projections to generate analogies (</a:t>
            </a:r>
            <a:r>
              <a:rPr lang="en-US" dirty="0" smtClean="0">
                <a:hlinkClick r:id="rId2"/>
              </a:rPr>
              <a:t>Mikolov et al., 2013</a:t>
            </a:r>
            <a:r>
              <a:rPr lang="en-US" dirty="0" smtClean="0"/>
              <a:t>)</a:t>
            </a:r>
          </a:p>
          <a:p>
            <a:r>
              <a:rPr lang="en-US" dirty="0" smtClean="0"/>
              <a:t>Visualization: usually </a:t>
            </a:r>
            <a:r>
              <a:rPr lang="en-US" dirty="0" smtClean="0">
                <a:solidFill>
                  <a:srgbClr val="2196F3"/>
                </a:solidFill>
              </a:rPr>
              <a:t>t-SNE </a:t>
            </a:r>
            <a:r>
              <a:rPr lang="en-US" dirty="0" smtClean="0"/>
              <a:t>or PCA</a:t>
            </a:r>
          </a:p>
          <a:p>
            <a:r>
              <a:rPr lang="en-US" dirty="0" err="1" smtClean="0"/>
              <a:t>Tensorboard</a:t>
            </a:r>
            <a:r>
              <a:rPr lang="en-US" dirty="0" smtClean="0"/>
              <a:t> uses Google's Embedding Projector</a:t>
            </a:r>
          </a:p>
          <a:p>
            <a:pPr lvl="1"/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www.tensorflow.org/guide/embedding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0151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Word2Vec and </a:t>
            </a:r>
            <a:r>
              <a:rPr lang="en-US" dirty="0" err="1" smtClean="0"/>
              <a:t>GloVe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What we already described</a:t>
                </a:r>
              </a:p>
              <a:p>
                <a:pPr lvl="1"/>
                <a:r>
                  <a:rPr lang="en-US" dirty="0" smtClean="0"/>
                  <a:t>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 smtClean="0"/>
                  <a:t> where each vocabulary word has a dense vector</a:t>
                </a:r>
              </a:p>
              <a:p>
                <a:r>
                  <a:rPr lang="en-US" dirty="0" smtClean="0"/>
                  <a:t>Context-target word pairs</a:t>
                </a:r>
              </a:p>
              <a:p>
                <a:pPr lvl="1"/>
                <a:r>
                  <a:rPr lang="en-US" dirty="0" smtClean="0"/>
                  <a:t>Compute </a:t>
                </a:r>
                <a:r>
                  <a:rPr lang="en-US" dirty="0"/>
                  <a:t>v</a:t>
                </a:r>
                <a:r>
                  <a:rPr lang="en-US" dirty="0" smtClean="0"/>
                  <a:t>ectors for context and target</a:t>
                </a:r>
              </a:p>
              <a:p>
                <a:pPr lvl="1"/>
                <a:r>
                  <a:rPr lang="en-US" dirty="0" smtClean="0"/>
                  <a:t>Loss: cross-entropy</a:t>
                </a:r>
              </a:p>
              <a:p>
                <a:r>
                  <a:rPr lang="en-US" dirty="0" smtClean="0"/>
                  <a:t>Similarity</a:t>
                </a:r>
              </a:p>
              <a:p>
                <a:pPr lvl="1"/>
                <a:r>
                  <a:rPr lang="en-US" dirty="0" smtClean="0"/>
                  <a:t>Cosine similarity; closest words to </a:t>
                </a:r>
                <a:r>
                  <a:rPr lang="en-US" dirty="0" smtClean="0">
                    <a:latin typeface="Consolas" panose="020B0609020204030204" pitchFamily="49" charset="0"/>
                  </a:rPr>
                  <a:t>"Sweden"</a:t>
                </a:r>
              </a:p>
              <a:p>
                <a:r>
                  <a:rPr lang="en-US" dirty="0" smtClean="0"/>
                  <a:t>Associations</a:t>
                </a:r>
              </a:p>
              <a:p>
                <a:pPr lvl="1"/>
                <a:r>
                  <a:rPr lang="en-US" dirty="0" smtClean="0">
                    <a:latin typeface="Consolas" panose="020B0609020204030204" pitchFamily="49" charset="0"/>
                  </a:rPr>
                  <a:t>Rome : Italy :: Beijing : China</a:t>
                </a:r>
              </a:p>
              <a:p>
                <a:pPr lvl="1"/>
                <a:r>
                  <a:rPr lang="en-US" dirty="0" smtClean="0">
                    <a:latin typeface="Consolas" panose="020B0609020204030204" pitchFamily="49" charset="0"/>
                  </a:rPr>
                  <a:t>king : queen :: man : woman </a:t>
                </a:r>
              </a:p>
              <a:p>
                <a:pPr lvl="1"/>
                <a:r>
                  <a:rPr lang="en-US" dirty="0" smtClean="0">
                    <a:cs typeface="Calibri" panose="020F0502020204030204" pitchFamily="34" charset="0"/>
                    <a:hlinkClick r:id="rId2"/>
                  </a:rPr>
                  <a:t>Other examples</a:t>
                </a:r>
                <a:endParaRPr lang="en-US" dirty="0" smtClean="0"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16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850" y="2879465"/>
            <a:ext cx="2140787" cy="156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9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Refinement Algorithms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more tricks up our sleeves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7381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Beam Search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Translation</a:t>
                </a:r>
              </a:p>
              <a:p>
                <a:pPr lvl="1"/>
                <a:r>
                  <a:rPr lang="en-US" dirty="0" smtClean="0"/>
                  <a:t>Similar to generation,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cs typeface="Calibri" panose="020F0502020204030204" pitchFamily="34" charset="0"/>
                  </a:rPr>
                  <a:t>, maximize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 smtClean="0">
                  <a:cs typeface="Calibri" panose="020F0502020204030204" pitchFamily="34" charset="0"/>
                </a:endParaRPr>
              </a:p>
              <a:p>
                <a:r>
                  <a:rPr lang="en-US" dirty="0" smtClean="0">
                    <a:cs typeface="Calibri" panose="020F0502020204030204" pitchFamily="34" charset="0"/>
                  </a:rPr>
                  <a:t>What if we have multiple candidates?</a:t>
                </a:r>
              </a:p>
              <a:p>
                <a:pPr lvl="1"/>
                <a:r>
                  <a:rPr lang="en-US" dirty="0" smtClean="0">
                    <a:cs typeface="Calibri" panose="020F0502020204030204" pitchFamily="34" charset="0"/>
                  </a:rPr>
                  <a:t>Use the language model to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</m:oMath>
                </a14:m>
                <a:endParaRPr lang="en-US" dirty="0" smtClean="0">
                  <a:cs typeface="Calibri" panose="020F0502020204030204" pitchFamily="34" charset="0"/>
                </a:endParaRPr>
              </a:p>
              <a:p>
                <a:r>
                  <a:rPr lang="en-US" dirty="0" smtClean="0">
                    <a:cs typeface="Calibri" panose="020F0502020204030204" pitchFamily="34" charset="0"/>
                  </a:rPr>
                  <a:t>Slight complications</a:t>
                </a:r>
              </a:p>
              <a:p>
                <a:pPr lvl="1"/>
                <a:r>
                  <a:rPr lang="en-US" i="1" dirty="0"/>
                  <a:t>I am visiting NY this year end</a:t>
                </a:r>
                <a:r>
                  <a:rPr lang="en-US" i="1" dirty="0" smtClean="0"/>
                  <a:t>.</a:t>
                </a:r>
              </a:p>
              <a:p>
                <a:pPr lvl="1"/>
                <a:r>
                  <a:rPr lang="en-US" i="1" dirty="0"/>
                  <a:t>I am going to be visiting NY this year end</a:t>
                </a:r>
                <a:r>
                  <a:rPr lang="en-US" i="1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going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am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visiting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am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dirty="0" smtClean="0">
                  <a:cs typeface="Calibri" panose="020F0502020204030204" pitchFamily="34" charset="0"/>
                </a:endParaRPr>
              </a:p>
              <a:p>
                <a:pPr lvl="1"/>
                <a:r>
                  <a:rPr lang="en-US" dirty="0" smtClean="0">
                    <a:cs typeface="Calibri" panose="020F0502020204030204" pitchFamily="34" charset="0"/>
                  </a:rPr>
                  <a:t>Observations</a:t>
                </a:r>
              </a:p>
              <a:p>
                <a:pPr lvl="2"/>
                <a:r>
                  <a:rPr lang="en-US" dirty="0" smtClean="0">
                    <a:cs typeface="Calibri" panose="020F0502020204030204" pitchFamily="34" charset="0"/>
                  </a:rPr>
                  <a:t>One word at a time doesn't work too well</a:t>
                </a:r>
              </a:p>
              <a:p>
                <a:pPr lvl="2"/>
                <a:r>
                  <a:rPr lang="en-US" dirty="0" smtClean="0">
                    <a:cs typeface="Calibri" panose="020F0502020204030204" pitchFamily="34" charset="0"/>
                  </a:rPr>
                  <a:t>All words will require enormous computation power</a:t>
                </a:r>
              </a:p>
              <a:p>
                <a:pPr lvl="1"/>
                <a:r>
                  <a:rPr lang="en-US" dirty="0" smtClean="0">
                    <a:cs typeface="Calibri" panose="020F0502020204030204" pitchFamily="34" charset="0"/>
                  </a:rPr>
                  <a:t>Solution: </a:t>
                </a:r>
                <a:r>
                  <a:rPr lang="en-US" dirty="0" smtClean="0">
                    <a:solidFill>
                      <a:srgbClr val="2196F3"/>
                    </a:solidFill>
                    <a:cs typeface="Calibri" panose="020F0502020204030204" pitchFamily="34" charset="0"/>
                  </a:rPr>
                  <a:t>Beam search</a:t>
                </a:r>
              </a:p>
              <a:p>
                <a:pPr lvl="2"/>
                <a:r>
                  <a:rPr lang="en-US" dirty="0" smtClean="0">
                    <a:cs typeface="Calibri" panose="020F0502020204030204" pitchFamily="34" charset="0"/>
                  </a:rPr>
                  <a:t>At each step, choose top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US" dirty="0" smtClean="0">
                    <a:cs typeface="Calibri" panose="020F0502020204030204" pitchFamily="34" charset="0"/>
                  </a:rPr>
                  <a:t> words (</a:t>
                </a:r>
                <a:r>
                  <a:rPr lang="en-US" dirty="0" smtClean="0">
                    <a:solidFill>
                      <a:srgbClr val="2196F3"/>
                    </a:solidFill>
                    <a:cs typeface="Calibri" panose="020F0502020204030204" pitchFamily="34" charset="0"/>
                  </a:rPr>
                  <a:t>beam width</a:t>
                </a:r>
                <a:r>
                  <a:rPr lang="en-US" dirty="0" smtClean="0">
                    <a:cs typeface="Calibri" panose="020F0502020204030204" pitchFamily="34" charset="0"/>
                  </a:rPr>
                  <a:t>)</a:t>
                </a:r>
              </a:p>
              <a:p>
                <a:pPr lvl="2"/>
                <a:r>
                  <a:rPr lang="en-US" dirty="0" smtClean="0">
                    <a:cs typeface="Calibri" panose="020F0502020204030204" pitchFamily="34" charset="0"/>
                  </a:rPr>
                  <a:t>More </a:t>
                </a:r>
                <a:r>
                  <a:rPr lang="en-US" dirty="0" smtClean="0">
                    <a:cs typeface="Calibri" panose="020F0502020204030204" pitchFamily="34" charset="0"/>
                    <a:hlinkClick r:id="rId2"/>
                  </a:rPr>
                  <a:t>details</a:t>
                </a:r>
                <a:endParaRPr lang="en-US" dirty="0" smtClean="0"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2" t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850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Attention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>
                    <a:hlinkClick r:id="rId2"/>
                  </a:rPr>
                  <a:t>Xu et al., 2015</a:t>
                </a:r>
                <a:endParaRPr lang="en-US" dirty="0" smtClean="0"/>
              </a:p>
              <a:p>
                <a:r>
                  <a:rPr lang="en-US" dirty="0" smtClean="0">
                    <a:cs typeface="Calibri" panose="020F0502020204030204" pitchFamily="34" charset="0"/>
                  </a:rPr>
                  <a:t>Another mechanism for dealing with complicated inputs</a:t>
                </a:r>
              </a:p>
              <a:p>
                <a:pPr lvl="1"/>
                <a:r>
                  <a:rPr lang="en-US" dirty="0" smtClean="0">
                    <a:cs typeface="Calibri" panose="020F0502020204030204" pitchFamily="34" charset="0"/>
                  </a:rPr>
                  <a:t>Another caveat: longer sentences have inherently lower</a:t>
                </a:r>
                <a:br>
                  <a:rPr lang="en-US" dirty="0" smtClean="0">
                    <a:cs typeface="Calibri" panose="020F0502020204030204" pitchFamily="34" charset="0"/>
                  </a:rPr>
                </a:br>
                <a:r>
                  <a:rPr lang="en-US" dirty="0" smtClean="0">
                    <a:cs typeface="Calibri" panose="020F0502020204030204" pitchFamily="34" charset="0"/>
                  </a:rPr>
                  <a:t>probabilities so models tend to favor short sentences</a:t>
                </a:r>
              </a:p>
              <a:p>
                <a:pPr lvl="1"/>
                <a:r>
                  <a:rPr lang="en-US" dirty="0" smtClean="0">
                    <a:cs typeface="Calibri" panose="020F0502020204030204" pitchFamily="34" charset="0"/>
                  </a:rPr>
                  <a:t>Intuition: we don't need to know the entire sequence in order</a:t>
                </a:r>
                <a:br>
                  <a:rPr lang="en-US" dirty="0" smtClean="0">
                    <a:cs typeface="Calibri" panose="020F0502020204030204" pitchFamily="34" charset="0"/>
                  </a:rPr>
                </a:br>
                <a:r>
                  <a:rPr lang="en-US" dirty="0" smtClean="0">
                    <a:cs typeface="Calibri" panose="020F0502020204030204" pitchFamily="34" charset="0"/>
                  </a:rPr>
                  <a:t>to be able to translate</a:t>
                </a:r>
              </a:p>
              <a:p>
                <a:r>
                  <a:rPr lang="en-US" dirty="0" smtClean="0">
                    <a:cs typeface="Calibri" panose="020F0502020204030204" pitchFamily="34" charset="0"/>
                  </a:rPr>
                  <a:t>Idea</a:t>
                </a:r>
              </a:p>
              <a:p>
                <a:pPr lvl="1"/>
                <a:r>
                  <a:rPr lang="en-US" dirty="0" smtClean="0">
                    <a:cs typeface="Calibri" panose="020F0502020204030204" pitchFamily="34" charset="0"/>
                  </a:rPr>
                  <a:t>Use a bi-directional RNN (or GRU / LSTM)</a:t>
                </a:r>
              </a:p>
              <a:p>
                <a:pPr lvl="1"/>
                <a:r>
                  <a:rPr lang="en-US" dirty="0" smtClean="0">
                    <a:cs typeface="Calibri" panose="020F0502020204030204" pitchFamily="34" charset="0"/>
                  </a:rPr>
                  <a:t>For each part of the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US" dirty="0" smtClean="0">
                    <a:cs typeface="Calibri" panose="020F0502020204030204" pitchFamily="34" charset="0"/>
                  </a:rPr>
                  <a:t>, compute "how much you care"</a:t>
                </a:r>
                <a:br>
                  <a:rPr lang="en-US" dirty="0" smtClean="0">
                    <a:cs typeface="Calibri" panose="020F0502020204030204" pitchFamily="34" charset="0"/>
                  </a:rPr>
                </a:br>
                <a:r>
                  <a:rPr lang="en-US" dirty="0" smtClean="0">
                    <a:cs typeface="Calibri" panose="020F0502020204030204" pitchFamily="34" charset="0"/>
                  </a:rPr>
                  <a:t>about it: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𝑎𝑡𝑡𝑒𝑛𝑡𝑖𝑜𝑛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&gt;</m:t>
                        </m:r>
                      </m:sup>
                    </m:sSup>
                  </m:oMath>
                </a14:m>
                <a:endParaRPr lang="en-US" dirty="0" smtClean="0">
                  <a:cs typeface="Calibri" panose="020F0502020204030204" pitchFamily="34" charset="0"/>
                </a:endParaRPr>
              </a:p>
              <a:p>
                <a:r>
                  <a:rPr lang="en-US" dirty="0" smtClean="0">
                    <a:cs typeface="Calibri" panose="020F0502020204030204" pitchFamily="34" charset="0"/>
                    <a:hlinkClick r:id="rId3"/>
                  </a:rPr>
                  <a:t>Usages</a:t>
                </a:r>
                <a:endParaRPr lang="en-US" dirty="0" smtClean="0">
                  <a:cs typeface="Calibri" panose="020F0502020204030204" pitchFamily="34" charset="0"/>
                </a:endParaRPr>
              </a:p>
              <a:p>
                <a:pPr lvl="1"/>
                <a:r>
                  <a:rPr lang="en-US" dirty="0" smtClean="0">
                    <a:cs typeface="Calibri" panose="020F0502020204030204" pitchFamily="34" charset="0"/>
                  </a:rPr>
                  <a:t>Translation, image captioning, speech recognition,</a:t>
                </a:r>
                <a:br>
                  <a:rPr lang="en-US" dirty="0" smtClean="0">
                    <a:cs typeface="Calibri" panose="020F0502020204030204" pitchFamily="34" charset="0"/>
                  </a:rPr>
                </a:br>
                <a:r>
                  <a:rPr lang="en-US" dirty="0" smtClean="0">
                    <a:cs typeface="Calibri" panose="020F0502020204030204" pitchFamily="34" charset="0"/>
                  </a:rPr>
                  <a:t>text summarization, etc.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434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Time-dependent (sequential) models</a:t>
            </a:r>
          </a:p>
          <a:p>
            <a:pPr lvl="1"/>
            <a:r>
              <a:rPr lang="en-US" dirty="0"/>
              <a:t>Architecture</a:t>
            </a:r>
          </a:p>
          <a:p>
            <a:pPr lvl="1"/>
            <a:r>
              <a:rPr lang="en-US" dirty="0"/>
              <a:t>Types</a:t>
            </a:r>
          </a:p>
          <a:p>
            <a:r>
              <a:rPr lang="en-US" dirty="0"/>
              <a:t>Improvements</a:t>
            </a:r>
          </a:p>
          <a:p>
            <a:r>
              <a:rPr lang="en-US" dirty="0"/>
              <a:t>Word (token) representations</a:t>
            </a:r>
          </a:p>
          <a:p>
            <a:r>
              <a:rPr lang="en-US" dirty="0"/>
              <a:t>Refinement </a:t>
            </a:r>
            <a:r>
              <a:rPr lang="en-US" dirty="0" smtClean="0"/>
              <a:t>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9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96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2D89"/>
      </a:hlink>
      <a:folHlink>
        <a:srgbClr val="002060"/>
      </a:folHlink>
    </a:clrScheme>
    <a:fontScheme name="Modern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2162</TotalTime>
  <Words>499</Words>
  <Application>Microsoft Office PowerPoint</Application>
  <PresentationFormat>Widescreen</PresentationFormat>
  <Paragraphs>198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Cambria Math</vt:lpstr>
      <vt:lpstr>Consolas</vt:lpstr>
      <vt:lpstr>Lato</vt:lpstr>
      <vt:lpstr>Montserrat Medium</vt:lpstr>
      <vt:lpstr>Open Sans</vt:lpstr>
      <vt:lpstr>Wingdings</vt:lpstr>
      <vt:lpstr>Office Theme</vt:lpstr>
      <vt:lpstr>Natural Language Processing</vt:lpstr>
      <vt:lpstr>sli.do #DeepLearning</vt:lpstr>
      <vt:lpstr>Table of Contents</vt:lpstr>
      <vt:lpstr>Time-Dependent Models</vt:lpstr>
      <vt:lpstr>Time-Dependent Model Examples</vt:lpstr>
      <vt:lpstr>Working with Sequences</vt:lpstr>
      <vt:lpstr>Recurrent Neural Networks</vt:lpstr>
      <vt:lpstr>RNN Architectures</vt:lpstr>
      <vt:lpstr>Language Model</vt:lpstr>
      <vt:lpstr>Improved Models</vt:lpstr>
      <vt:lpstr>Vanishing Gradients</vt:lpstr>
      <vt:lpstr>Long-Short Term Memory (LSTM)</vt:lpstr>
      <vt:lpstr>Bi-Directional Networks</vt:lpstr>
      <vt:lpstr>Representing Words</vt:lpstr>
      <vt:lpstr>Word Representation</vt:lpstr>
      <vt:lpstr>Word2Vec and GloVe</vt:lpstr>
      <vt:lpstr>Refinement Algorithms</vt:lpstr>
      <vt:lpstr>Beam Search</vt:lpstr>
      <vt:lpstr>Attention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Yordan Darakchiev</dc:creator>
  <cp:lastModifiedBy>Yordan Darakchiev</cp:lastModifiedBy>
  <cp:revision>169</cp:revision>
  <dcterms:created xsi:type="dcterms:W3CDTF">2017-09-11T12:40:37Z</dcterms:created>
  <dcterms:modified xsi:type="dcterms:W3CDTF">2021-01-06T15:26:56Z</dcterms:modified>
</cp:coreProperties>
</file>