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8" r:id="rId3"/>
    <p:sldId id="262" r:id="rId4"/>
    <p:sldId id="263" r:id="rId5"/>
    <p:sldId id="315" r:id="rId6"/>
    <p:sldId id="316" r:id="rId7"/>
    <p:sldId id="317" r:id="rId8"/>
    <p:sldId id="320" r:id="rId9"/>
    <p:sldId id="318" r:id="rId10"/>
    <p:sldId id="319" r:id="rId11"/>
    <p:sldId id="321" r:id="rId12"/>
    <p:sldId id="322" r:id="rId13"/>
    <p:sldId id="323" r:id="rId14"/>
    <p:sldId id="324" r:id="rId15"/>
    <p:sldId id="325" r:id="rId16"/>
    <p:sldId id="326" r:id="rId17"/>
    <p:sldId id="329" r:id="rId18"/>
    <p:sldId id="327" r:id="rId19"/>
    <p:sldId id="304" r:id="rId20"/>
    <p:sldId id="261" r:id="rId2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6F3"/>
    <a:srgbClr val="4D4D4D"/>
    <a:srgbClr val="8BC34A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 userDrawn="1"/>
        </p:nvGrpSpPr>
        <p:grpSpPr>
          <a:xfrm>
            <a:off x="3810" y="-7619"/>
            <a:ext cx="12191998" cy="6880134"/>
            <a:chOff x="3810" y="-1"/>
            <a:chExt cx="12191998" cy="6858001"/>
          </a:xfrm>
        </p:grpSpPr>
        <p:sp>
          <p:nvSpPr>
            <p:cNvPr id="109" name="Freeform 108"/>
            <p:cNvSpPr/>
            <p:nvPr userDrawn="1"/>
          </p:nvSpPr>
          <p:spPr>
            <a:xfrm>
              <a:off x="1803400" y="0"/>
              <a:ext cx="10392408" cy="6858000"/>
            </a:xfrm>
            <a:custGeom>
              <a:avLst/>
              <a:gdLst>
                <a:gd name="connsiteX0" fmla="*/ 0 w 10392408"/>
                <a:gd name="connsiteY0" fmla="*/ 0 h 6858000"/>
                <a:gd name="connsiteX1" fmla="*/ 6534783 w 10392408"/>
                <a:gd name="connsiteY1" fmla="*/ 0 h 6858000"/>
                <a:gd name="connsiteX2" fmla="*/ 6658608 w 10392408"/>
                <a:gd name="connsiteY2" fmla="*/ 0 h 6858000"/>
                <a:gd name="connsiteX3" fmla="*/ 9106533 w 10392408"/>
                <a:gd name="connsiteY3" fmla="*/ 0 h 6858000"/>
                <a:gd name="connsiteX4" fmla="*/ 10392408 w 10392408"/>
                <a:gd name="connsiteY4" fmla="*/ 6858000 h 6858000"/>
                <a:gd name="connsiteX5" fmla="*/ 6658608 w 10392408"/>
                <a:gd name="connsiteY5" fmla="*/ 6858000 h 6858000"/>
                <a:gd name="connsiteX6" fmla="*/ 5248908 w 10392408"/>
                <a:gd name="connsiteY6" fmla="*/ 6858000 h 6858000"/>
                <a:gd name="connsiteX7" fmla="*/ 0 w 1039240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92408" h="6858000">
                  <a:moveTo>
                    <a:pt x="0" y="0"/>
                  </a:moveTo>
                  <a:lnTo>
                    <a:pt x="6534783" y="0"/>
                  </a:lnTo>
                  <a:lnTo>
                    <a:pt x="6658608" y="0"/>
                  </a:lnTo>
                  <a:lnTo>
                    <a:pt x="9106533" y="0"/>
                  </a:lnTo>
                  <a:lnTo>
                    <a:pt x="10392408" y="6858000"/>
                  </a:lnTo>
                  <a:lnTo>
                    <a:pt x="6658608" y="6858000"/>
                  </a:lnTo>
                  <a:lnTo>
                    <a:pt x="524890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5" name="Freeform 104"/>
            <p:cNvSpPr/>
            <p:nvPr userDrawn="1"/>
          </p:nvSpPr>
          <p:spPr>
            <a:xfrm>
              <a:off x="1943102" y="-1"/>
              <a:ext cx="9842498" cy="6858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0" name="Freeform 89"/>
            <p:cNvSpPr/>
            <p:nvPr userDrawn="1"/>
          </p:nvSpPr>
          <p:spPr>
            <a:xfrm rot="10800000">
              <a:off x="3810" y="-1"/>
              <a:ext cx="1939290" cy="6858000"/>
            </a:xfrm>
            <a:custGeom>
              <a:avLst/>
              <a:gdLst>
                <a:gd name="connsiteX0" fmla="*/ 1939290 w 1939290"/>
                <a:gd name="connsiteY0" fmla="*/ 6858000 h 6858000"/>
                <a:gd name="connsiteX1" fmla="*/ 0 w 1939290"/>
                <a:gd name="connsiteY1" fmla="*/ 6858000 h 6858000"/>
                <a:gd name="connsiteX2" fmla="*/ 0 w 1939290"/>
                <a:gd name="connsiteY2" fmla="*/ 0 h 6858000"/>
                <a:gd name="connsiteX3" fmla="*/ 653415 w 193929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290" h="6858000">
                  <a:moveTo>
                    <a:pt x="193929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65341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8" name="Freeform 87"/>
            <p:cNvSpPr/>
            <p:nvPr userDrawn="1"/>
          </p:nvSpPr>
          <p:spPr>
            <a:xfrm rot="10800000">
              <a:off x="419100" y="-1"/>
              <a:ext cx="1524000" cy="6858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2960" y="137160"/>
            <a:ext cx="9688467" cy="1988820"/>
          </a:xfrm>
        </p:spPr>
        <p:txBody>
          <a:bodyPr anchor="b">
            <a:normAutofit/>
          </a:bodyPr>
          <a:lstStyle>
            <a:lvl1pPr algn="r">
              <a:defRPr sz="52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97280" y="2153510"/>
            <a:ext cx="9414147" cy="1390311"/>
          </a:xfrm>
        </p:spPr>
        <p:txBody>
          <a:bodyPr>
            <a:normAutofit/>
          </a:bodyPr>
          <a:lstStyle>
            <a:lvl1pPr marL="0" indent="0" algn="r">
              <a:buNone/>
              <a:defRPr sz="3200" b="0" i="0" strike="noStrike" baseline="0">
                <a:solidFill>
                  <a:srgbClr val="2196F3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Main topics</a:t>
            </a:r>
            <a:endParaRPr lang="bg-BG" dirty="0"/>
          </a:p>
        </p:txBody>
      </p:sp>
      <p:sp>
        <p:nvSpPr>
          <p:cNvPr id="113" name="Text Placeholder 112"/>
          <p:cNvSpPr>
            <a:spLocks noGrp="1"/>
          </p:cNvSpPr>
          <p:nvPr>
            <p:ph type="body" sz="quarter" idx="10" hasCustomPrompt="1"/>
          </p:nvPr>
        </p:nvSpPr>
        <p:spPr>
          <a:xfrm>
            <a:off x="1803399" y="5339499"/>
            <a:ext cx="4281486" cy="489744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4D4D4D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 smtClean="0"/>
              <a:t>Name</a:t>
            </a:r>
            <a:endParaRPr lang="bg-BG" dirty="0"/>
          </a:p>
        </p:txBody>
      </p:sp>
      <p:sp>
        <p:nvSpPr>
          <p:cNvPr id="114" name="Text Placeholder 112"/>
          <p:cNvSpPr>
            <a:spLocks noGrp="1"/>
          </p:cNvSpPr>
          <p:nvPr>
            <p:ph type="body" sz="quarter" idx="11" hasCustomPrompt="1"/>
          </p:nvPr>
        </p:nvSpPr>
        <p:spPr>
          <a:xfrm>
            <a:off x="1803399" y="5829300"/>
            <a:ext cx="4281487" cy="3683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>
                    <a:lumMod val="65000"/>
                  </a:schemeClr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bg-BG" dirty="0"/>
          </a:p>
        </p:txBody>
      </p:sp>
      <p:sp>
        <p:nvSpPr>
          <p:cNvPr id="115" name="Text Placeholder 112"/>
          <p:cNvSpPr>
            <a:spLocks noGrp="1"/>
          </p:cNvSpPr>
          <p:nvPr>
            <p:ph type="body" sz="quarter" idx="12" hasCustomPrompt="1"/>
          </p:nvPr>
        </p:nvSpPr>
        <p:spPr>
          <a:xfrm>
            <a:off x="1803398" y="6221072"/>
            <a:ext cx="4281487" cy="44642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2196F3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Email</a:t>
            </a:r>
            <a:endParaRPr lang="bg-BG" dirty="0"/>
          </a:p>
        </p:txBody>
      </p:sp>
      <p:sp>
        <p:nvSpPr>
          <p:cNvPr id="120" name="Picture Placeholder 119"/>
          <p:cNvSpPr>
            <a:spLocks noGrp="1"/>
          </p:cNvSpPr>
          <p:nvPr>
            <p:ph type="pic" sz="quarter" idx="13"/>
          </p:nvPr>
        </p:nvSpPr>
        <p:spPr>
          <a:xfrm>
            <a:off x="8055882" y="4202112"/>
            <a:ext cx="2466975" cy="2465388"/>
          </a:xfrm>
        </p:spPr>
        <p:txBody>
          <a:bodyPr/>
          <a:lstStyle>
            <a:lvl1pPr marL="0" indent="0">
              <a:buNone/>
              <a:defRPr>
                <a:latin typeface="+mn-lt"/>
                <a:cs typeface="Calibri" panose="020F0502020204030204" pitchFamily="34" charset="0"/>
              </a:defRPr>
            </a:lvl1pPr>
          </a:lstStyle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576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350" y="0"/>
            <a:ext cx="12192000" cy="6858000"/>
            <a:chOff x="-6350" y="0"/>
            <a:chExt cx="12192000" cy="6858000"/>
          </a:xfrm>
        </p:grpSpPr>
        <p:sp>
          <p:nvSpPr>
            <p:cNvPr id="13" name="Freeform 12"/>
            <p:cNvSpPr/>
            <p:nvPr userDrawn="1"/>
          </p:nvSpPr>
          <p:spPr>
            <a:xfrm>
              <a:off x="-635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8334375 w 12192000"/>
                <a:gd name="connsiteY1" fmla="*/ 0 h 6858000"/>
                <a:gd name="connsiteX2" fmla="*/ 8458200 w 12192000"/>
                <a:gd name="connsiteY2" fmla="*/ 0 h 6858000"/>
                <a:gd name="connsiteX3" fmla="*/ 10906125 w 12192000"/>
                <a:gd name="connsiteY3" fmla="*/ 0 h 6858000"/>
                <a:gd name="connsiteX4" fmla="*/ 12192000 w 12192000"/>
                <a:gd name="connsiteY4" fmla="*/ 6858000 h 6858000"/>
                <a:gd name="connsiteX5" fmla="*/ 8458200 w 12192000"/>
                <a:gd name="connsiteY5" fmla="*/ 6858000 h 6858000"/>
                <a:gd name="connsiteX6" fmla="*/ 70485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8334375" y="0"/>
                  </a:lnTo>
                  <a:lnTo>
                    <a:pt x="8458200" y="0"/>
                  </a:lnTo>
                  <a:lnTo>
                    <a:pt x="10906125" y="0"/>
                  </a:lnTo>
                  <a:lnTo>
                    <a:pt x="12192000" y="6858000"/>
                  </a:lnTo>
                  <a:lnTo>
                    <a:pt x="8458200" y="6858000"/>
                  </a:lnTo>
                  <a:lnTo>
                    <a:pt x="70485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Freeform 8"/>
            <p:cNvSpPr/>
            <p:nvPr userDrawn="1"/>
          </p:nvSpPr>
          <p:spPr>
            <a:xfrm>
              <a:off x="0" y="0"/>
              <a:ext cx="11969750" cy="6858000"/>
            </a:xfrm>
            <a:custGeom>
              <a:avLst/>
              <a:gdLst>
                <a:gd name="connsiteX0" fmla="*/ 0 w 11969750"/>
                <a:gd name="connsiteY0" fmla="*/ 0 h 6858000"/>
                <a:gd name="connsiteX1" fmla="*/ 8112125 w 11969750"/>
                <a:gd name="connsiteY1" fmla="*/ 0 h 6858000"/>
                <a:gd name="connsiteX2" fmla="*/ 8235950 w 11969750"/>
                <a:gd name="connsiteY2" fmla="*/ 0 h 6858000"/>
                <a:gd name="connsiteX3" fmla="*/ 10683875 w 11969750"/>
                <a:gd name="connsiteY3" fmla="*/ 0 h 6858000"/>
                <a:gd name="connsiteX4" fmla="*/ 11969750 w 11969750"/>
                <a:gd name="connsiteY4" fmla="*/ 6858000 h 6858000"/>
                <a:gd name="connsiteX5" fmla="*/ 8235950 w 11969750"/>
                <a:gd name="connsiteY5" fmla="*/ 6858000 h 6858000"/>
                <a:gd name="connsiteX6" fmla="*/ 6826250 w 11969750"/>
                <a:gd name="connsiteY6" fmla="*/ 6858000 h 6858000"/>
                <a:gd name="connsiteX7" fmla="*/ 0 w 1196975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9750" h="6858000">
                  <a:moveTo>
                    <a:pt x="0" y="0"/>
                  </a:moveTo>
                  <a:lnTo>
                    <a:pt x="8112125" y="0"/>
                  </a:lnTo>
                  <a:lnTo>
                    <a:pt x="8235950" y="0"/>
                  </a:lnTo>
                  <a:lnTo>
                    <a:pt x="10683875" y="0"/>
                  </a:lnTo>
                  <a:lnTo>
                    <a:pt x="11969750" y="6858000"/>
                  </a:lnTo>
                  <a:lnTo>
                    <a:pt x="8235950" y="6858000"/>
                  </a:lnTo>
                  <a:lnTo>
                    <a:pt x="682625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18212" y="0"/>
            <a:ext cx="11720942" cy="831273"/>
          </a:xfrm>
        </p:spPr>
        <p:txBody>
          <a:bodyPr>
            <a:normAutofit/>
          </a:bodyPr>
          <a:lstStyle>
            <a:lvl1pPr algn="l">
              <a:defRPr sz="4000" baseline="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Slide Title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11" y="852055"/>
            <a:ext cx="11720941" cy="586942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3000">
                <a:solidFill>
                  <a:srgbClr val="4D4D4D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2600">
                <a:solidFill>
                  <a:srgbClr val="4D4D4D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 sz="2200">
                <a:solidFill>
                  <a:srgbClr val="4D4D4D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4D4D4D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443853" y="6424612"/>
            <a:ext cx="422564" cy="365125"/>
          </a:xfrm>
        </p:spPr>
        <p:txBody>
          <a:bodyPr/>
          <a:lstStyle/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27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572770" y="0"/>
            <a:ext cx="11619230" cy="6858000"/>
            <a:chOff x="572770" y="0"/>
            <a:chExt cx="11619230" cy="6858000"/>
          </a:xfrm>
        </p:grpSpPr>
        <p:sp>
          <p:nvSpPr>
            <p:cNvPr id="19" name="Freeform 18"/>
            <p:cNvSpPr/>
            <p:nvPr userDrawn="1"/>
          </p:nvSpPr>
          <p:spPr>
            <a:xfrm rot="10800000">
              <a:off x="572770" y="0"/>
              <a:ext cx="11619230" cy="6858000"/>
            </a:xfrm>
            <a:custGeom>
              <a:avLst/>
              <a:gdLst>
                <a:gd name="connsiteX0" fmla="*/ 11619230 w 11619230"/>
                <a:gd name="connsiteY0" fmla="*/ 6858000 h 6858000"/>
                <a:gd name="connsiteX1" fmla="*/ 7885430 w 11619230"/>
                <a:gd name="connsiteY1" fmla="*/ 6858000 h 6858000"/>
                <a:gd name="connsiteX2" fmla="*/ 6475730 w 11619230"/>
                <a:gd name="connsiteY2" fmla="*/ 6858000 h 6858000"/>
                <a:gd name="connsiteX3" fmla="*/ 0 w 11619230"/>
                <a:gd name="connsiteY3" fmla="*/ 6858000 h 6858000"/>
                <a:gd name="connsiteX4" fmla="*/ 0 w 11619230"/>
                <a:gd name="connsiteY4" fmla="*/ 0 h 6858000"/>
                <a:gd name="connsiteX5" fmla="*/ 7761605 w 11619230"/>
                <a:gd name="connsiteY5" fmla="*/ 0 h 6858000"/>
                <a:gd name="connsiteX6" fmla="*/ 7885430 w 11619230"/>
                <a:gd name="connsiteY6" fmla="*/ 0 h 6858000"/>
                <a:gd name="connsiteX7" fmla="*/ 10333355 w 1161923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9230" h="6858000">
                  <a:moveTo>
                    <a:pt x="11619230" y="6858000"/>
                  </a:moveTo>
                  <a:lnTo>
                    <a:pt x="7885430" y="6858000"/>
                  </a:lnTo>
                  <a:lnTo>
                    <a:pt x="647573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761605" y="0"/>
                  </a:lnTo>
                  <a:lnTo>
                    <a:pt x="7885430" y="0"/>
                  </a:lnTo>
                  <a:lnTo>
                    <a:pt x="1033335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Freeform 16"/>
            <p:cNvSpPr/>
            <p:nvPr userDrawn="1"/>
          </p:nvSpPr>
          <p:spPr>
            <a:xfrm rot="10800000">
              <a:off x="988060" y="0"/>
              <a:ext cx="11203940" cy="6858000"/>
            </a:xfrm>
            <a:custGeom>
              <a:avLst/>
              <a:gdLst>
                <a:gd name="connsiteX0" fmla="*/ 11203940 w 11203940"/>
                <a:gd name="connsiteY0" fmla="*/ 6858000 h 6858000"/>
                <a:gd name="connsiteX1" fmla="*/ 7470140 w 11203940"/>
                <a:gd name="connsiteY1" fmla="*/ 6858000 h 6858000"/>
                <a:gd name="connsiteX2" fmla="*/ 6060440 w 11203940"/>
                <a:gd name="connsiteY2" fmla="*/ 6858000 h 6858000"/>
                <a:gd name="connsiteX3" fmla="*/ 0 w 11203940"/>
                <a:gd name="connsiteY3" fmla="*/ 6858000 h 6858000"/>
                <a:gd name="connsiteX4" fmla="*/ 0 w 11203940"/>
                <a:gd name="connsiteY4" fmla="*/ 0 h 6858000"/>
                <a:gd name="connsiteX5" fmla="*/ 7346315 w 11203940"/>
                <a:gd name="connsiteY5" fmla="*/ 0 h 6858000"/>
                <a:gd name="connsiteX6" fmla="*/ 7470140 w 11203940"/>
                <a:gd name="connsiteY6" fmla="*/ 0 h 6858000"/>
                <a:gd name="connsiteX7" fmla="*/ 9918065 w 1120394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3940" h="6858000">
                  <a:moveTo>
                    <a:pt x="11203940" y="6858000"/>
                  </a:moveTo>
                  <a:lnTo>
                    <a:pt x="7470140" y="6858000"/>
                  </a:lnTo>
                  <a:lnTo>
                    <a:pt x="606044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346315" y="0"/>
                  </a:lnTo>
                  <a:lnTo>
                    <a:pt x="7470140" y="0"/>
                  </a:lnTo>
                  <a:lnTo>
                    <a:pt x="991806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930400" y="1709738"/>
            <a:ext cx="9906000" cy="2852737"/>
          </a:xfrm>
        </p:spPr>
        <p:txBody>
          <a:bodyPr anchor="b"/>
          <a:lstStyle>
            <a:lvl1pPr>
              <a:defRPr sz="60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Section Title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324100" y="4589463"/>
            <a:ext cx="9512300" cy="1500187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D4D4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401070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1" y="3812"/>
            <a:ext cx="12195811" cy="6854190"/>
            <a:chOff x="-1" y="3812"/>
            <a:chExt cx="12195811" cy="6854190"/>
          </a:xfrm>
        </p:grpSpPr>
        <p:sp>
          <p:nvSpPr>
            <p:cNvPr id="17" name="Freeform 16"/>
            <p:cNvSpPr/>
            <p:nvPr userDrawn="1"/>
          </p:nvSpPr>
          <p:spPr>
            <a:xfrm rot="16200000">
              <a:off x="3385185" y="-337756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6" name="Freeform 15"/>
            <p:cNvSpPr/>
            <p:nvPr userDrawn="1"/>
          </p:nvSpPr>
          <p:spPr>
            <a:xfrm rot="5400000">
              <a:off x="3381375" y="-195262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1" name="Freeform 10"/>
            <p:cNvSpPr/>
            <p:nvPr userDrawn="1"/>
          </p:nvSpPr>
          <p:spPr>
            <a:xfrm rot="5400000">
              <a:off x="3327799" y="-2236944"/>
              <a:ext cx="5536405" cy="12192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Freeform 12"/>
            <p:cNvSpPr/>
            <p:nvPr userDrawn="1"/>
          </p:nvSpPr>
          <p:spPr>
            <a:xfrm rot="16200000">
              <a:off x="5667377" y="-5433772"/>
              <a:ext cx="857250" cy="12192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" name="TextBox 2"/>
          <p:cNvSpPr txBox="1"/>
          <p:nvPr userDrawn="1"/>
        </p:nvSpPr>
        <p:spPr>
          <a:xfrm rot="21411406">
            <a:off x="0" y="266319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>
                <a:solidFill>
                  <a:srgbClr val="2196F3"/>
                </a:solidFill>
                <a:latin typeface="+mj-lt"/>
              </a:rPr>
              <a:t>Questions?</a:t>
            </a:r>
            <a:endParaRPr lang="bg-BG" sz="9600" dirty="0">
              <a:solidFill>
                <a:srgbClr val="2196F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90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26A4-A17A-4698-BE1B-BA61FFEA96A2}" type="datetimeFigureOut">
              <a:rPr lang="bg-BG" smtClean="0"/>
              <a:t>27.1.2021 г.</a:t>
            </a:fld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764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96F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i.do/event/ynjb7iv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ym.openai.com/envs/FrozenLake-v0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files.davidqiu.com/research/nature14236.pdf" TargetMode="External"/><Relationship Id="rId2" Type="http://schemas.openxmlformats.org/officeDocument/2006/relationships/hyperlink" Target="https://arxiv.org/pdf/1312.5602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science.sciencemag.org/content/362/6419/114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elSlater/AlphaToe" TargetMode="External"/><Relationship Id="rId7" Type="http://schemas.openxmlformats.org/officeDocument/2006/relationships/hyperlink" Target="https://medium.com/tensorflow/deep-reinforcement-learning-playing-cartpole-through-asynchronous-advantage-actor-critic-a3c-7eab2eea5296" TargetMode="External"/><Relationship Id="rId2" Type="http://schemas.openxmlformats.org/officeDocument/2006/relationships/hyperlink" Target="https://github.com/danielegrattarola/deep-q-snak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doi:10.1038/nature24270" TargetMode="External"/><Relationship Id="rId5" Type="http://schemas.openxmlformats.org/officeDocument/2006/relationships/hyperlink" Target="https://deepmind.com/research/dqn/" TargetMode="External"/><Relationship Id="rId4" Type="http://schemas.openxmlformats.org/officeDocument/2006/relationships/hyperlink" Target="https://5vision.github.io/2016/07/11/deep-attention-recurrent-q-network.html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ftp/arxiv/papers/1905/1905.07698.pdf" TargetMode="External"/><Relationship Id="rId3" Type="http://schemas.openxmlformats.org/officeDocument/2006/relationships/hyperlink" Target="https://github.com/maxbren/Reinforcement-Learning-Papers-Notes" TargetMode="External"/><Relationship Id="rId7" Type="http://schemas.openxmlformats.org/officeDocument/2006/relationships/hyperlink" Target="https://arxiv.org/pdf/1705.04304.pdf" TargetMode="External"/><Relationship Id="rId12" Type="http://schemas.openxmlformats.org/officeDocument/2006/relationships/hyperlink" Target="https://arxiv.org/pdf/2101.08074.pdf" TargetMode="External"/><Relationship Id="rId2" Type="http://schemas.openxmlformats.org/officeDocument/2006/relationships/hyperlink" Target="https://spinningup.openai.com/en/latest/spinningup/keypaper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906.10025.pdf" TargetMode="External"/><Relationship Id="rId11" Type="http://schemas.openxmlformats.org/officeDocument/2006/relationships/hyperlink" Target="https://arxiv.org/pdf/2002.00444.pdf" TargetMode="External"/><Relationship Id="rId5" Type="http://schemas.openxmlformats.org/officeDocument/2006/relationships/hyperlink" Target="https://sites.google.com/view/deep-rl-workshop-neurips2020/home" TargetMode="External"/><Relationship Id="rId10" Type="http://schemas.openxmlformats.org/officeDocument/2006/relationships/hyperlink" Target="https://arxiv.org/pdf/1909.03602.pdf" TargetMode="External"/><Relationship Id="rId4" Type="http://schemas.openxmlformats.org/officeDocument/2006/relationships/hyperlink" Target="https://videos.neurips.cc/topic/reinforcement%20learning/" TargetMode="External"/><Relationship Id="rId9" Type="http://schemas.openxmlformats.org/officeDocument/2006/relationships/hyperlink" Target="https://www.nature.com/articles/s41598-019-47148-x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mind.com/blog/article/Specification-gaming-the-flip-side-of-AI-ingenuity" TargetMode="External"/><Relationship Id="rId2" Type="http://schemas.openxmlformats.org/officeDocument/2006/relationships/hyperlink" Target="https://docs.google.com/spreadsheets/d/e/2PACX-1vRPiprOaC3HsCf5Tuum8bRfzYUiKLRqJmbOoC-32JorNdfyTiRRsR7Ea5eWtvsWzuxo8bjOxCG84dAg/pub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Reinforcement Learning</a:t>
            </a:r>
            <a:endParaRPr lang="bg-B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Learning to play games…</a:t>
            </a:r>
            <a:br>
              <a:rPr lang="en-US" dirty="0" smtClean="0"/>
            </a:br>
            <a:r>
              <a:rPr lang="en-US" dirty="0" smtClean="0"/>
              <a:t>and live in a complex world</a:t>
            </a:r>
            <a:endParaRPr lang="bg-B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Yordan Darakchiev</a:t>
            </a:r>
            <a:endParaRPr lang="bg-BG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Technical Trainer</a:t>
            </a:r>
            <a:endParaRPr lang="bg-B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iordan93@gmail.com</a:t>
            </a:r>
            <a:endParaRPr lang="bg-BG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130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sli.do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#DeepLearning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1301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 description</a:t>
            </a:r>
          </a:p>
          <a:p>
            <a:r>
              <a:rPr lang="en-US" dirty="0" smtClean="0"/>
              <a:t>Approaches</a:t>
            </a:r>
          </a:p>
          <a:p>
            <a:r>
              <a:rPr lang="en-US" dirty="0" smtClean="0"/>
              <a:t>Deep-Q networks</a:t>
            </a:r>
          </a:p>
          <a:p>
            <a:r>
              <a:rPr lang="en-US" dirty="0" err="1" smtClean="0"/>
              <a:t>AlphaGo</a:t>
            </a:r>
            <a:endParaRPr lang="en-US" dirty="0" smtClean="0"/>
          </a:p>
          <a:p>
            <a:r>
              <a:rPr lang="en-US" dirty="0" smtClean="0"/>
              <a:t>"Specification gaming"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178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Reinforcement Learning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Main points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1533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OpenAI Gym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Install the Python library</a:t>
            </a:r>
          </a:p>
          <a:p>
            <a:endParaRPr lang="en-US" dirty="0"/>
          </a:p>
          <a:p>
            <a:r>
              <a:rPr lang="en-US" dirty="0" smtClean="0"/>
              <a:t>Usage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Goal: Reach cell </a:t>
            </a:r>
            <a:r>
              <a:rPr lang="en-US" i="0" dirty="0" smtClean="0">
                <a:latin typeface="Consolas" panose="020B0609020204030204" pitchFamily="49" charset="0"/>
              </a:rPr>
              <a:t>G</a:t>
            </a:r>
          </a:p>
          <a:p>
            <a:pPr lvl="1"/>
            <a:r>
              <a:rPr lang="en-US" dirty="0" smtClean="0">
                <a:hlinkClick r:id="rId2"/>
              </a:rPr>
              <a:t>Environment description</a:t>
            </a:r>
            <a:endParaRPr lang="en-US" dirty="0" smtClean="0"/>
          </a:p>
          <a:p>
            <a:pPr lvl="1"/>
            <a:r>
              <a:rPr lang="en-US" i="0" dirty="0" smtClean="0"/>
              <a:t>Slight complication:</a:t>
            </a:r>
            <a:br>
              <a:rPr lang="en-US" i="0" dirty="0" smtClean="0"/>
            </a:br>
            <a:r>
              <a:rPr lang="en-US" i="0" dirty="0" smtClean="0"/>
              <a:t>you don’t always go in the</a:t>
            </a:r>
            <a:br>
              <a:rPr lang="en-US" i="0" dirty="0" smtClean="0"/>
            </a:br>
            <a:r>
              <a:rPr lang="en-US" i="0" dirty="0" smtClean="0"/>
              <a:t>direction you're trying to go</a:t>
            </a:r>
          </a:p>
          <a:p>
            <a:endParaRPr lang="en-US" dirty="0" smtClean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5</a:t>
            </a:fld>
            <a:endParaRPr lang="bg-BG"/>
          </a:p>
        </p:txBody>
      </p:sp>
      <p:sp>
        <p:nvSpPr>
          <p:cNvPr id="6" name="TextBox 5"/>
          <p:cNvSpPr txBox="1"/>
          <p:nvPr/>
        </p:nvSpPr>
        <p:spPr>
          <a:xfrm>
            <a:off x="611971" y="1357664"/>
            <a:ext cx="4342414" cy="369332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it-IT" dirty="0" smtClean="0">
                <a:solidFill>
                  <a:srgbClr val="000000"/>
                </a:solidFill>
              </a:rPr>
              <a:t>conda </a:t>
            </a:r>
            <a:r>
              <a:rPr lang="it-IT" dirty="0">
                <a:solidFill>
                  <a:srgbClr val="000000"/>
                </a:solidFill>
              </a:rPr>
              <a:t>install -c </a:t>
            </a:r>
            <a:r>
              <a:rPr lang="it-IT" dirty="0" smtClean="0">
                <a:solidFill>
                  <a:srgbClr val="000000"/>
                </a:solidFill>
              </a:rPr>
              <a:t>conda-forge gym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970" y="2540839"/>
            <a:ext cx="5148749" cy="646331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da-DK" dirty="0">
                <a:solidFill>
                  <a:srgbClr val="0000FF"/>
                </a:solidFill>
              </a:rPr>
              <a:t>import</a:t>
            </a:r>
            <a:r>
              <a:rPr lang="da-DK" dirty="0">
                <a:solidFill>
                  <a:srgbClr val="000000"/>
                </a:solidFill>
              </a:rPr>
              <a:t> gym</a:t>
            </a:r>
          </a:p>
          <a:p>
            <a:r>
              <a:rPr lang="da-DK" dirty="0">
                <a:solidFill>
                  <a:srgbClr val="000000"/>
                </a:solidFill>
              </a:rPr>
              <a:t>environment = gym.make(</a:t>
            </a:r>
            <a:r>
              <a:rPr lang="da-DK" dirty="0">
                <a:solidFill>
                  <a:srgbClr val="A31515"/>
                </a:solidFill>
              </a:rPr>
              <a:t>"FrozenLake-v0"</a:t>
            </a:r>
            <a:r>
              <a:rPr lang="da-DK" dirty="0">
                <a:solidFill>
                  <a:srgbClr val="000000"/>
                </a:solidFill>
              </a:rPr>
              <a:t>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623397" y="2709949"/>
            <a:ext cx="3759199" cy="3714663"/>
            <a:chOff x="6149572" y="3330286"/>
            <a:chExt cx="3248656" cy="3094326"/>
          </a:xfrm>
        </p:grpSpPr>
        <p:grpSp>
          <p:nvGrpSpPr>
            <p:cNvPr id="30" name="Group 29"/>
            <p:cNvGrpSpPr/>
            <p:nvPr/>
          </p:nvGrpSpPr>
          <p:grpSpPr>
            <a:xfrm>
              <a:off x="6149572" y="3330286"/>
              <a:ext cx="3248656" cy="3094326"/>
              <a:chOff x="7498080" y="3330286"/>
              <a:chExt cx="3248656" cy="3094326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98080" y="3330286"/>
                <a:ext cx="3248656" cy="3094326"/>
              </a:xfrm>
              <a:prstGeom prst="rect">
                <a:avLst/>
              </a:prstGeom>
            </p:spPr>
          </p:pic>
          <p:cxnSp>
            <p:nvCxnSpPr>
              <p:cNvPr id="12" name="Straight Arrow Connector 11"/>
              <p:cNvCxnSpPr/>
              <p:nvPr/>
            </p:nvCxnSpPr>
            <p:spPr>
              <a:xfrm>
                <a:off x="7880465" y="4015048"/>
                <a:ext cx="1612670" cy="0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>
                <a:off x="9592887" y="4015048"/>
                <a:ext cx="16626" cy="1695796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>
                <a:off x="9592887" y="5771805"/>
                <a:ext cx="706583" cy="0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Arrow Connector 30"/>
            <p:cNvCxnSpPr/>
            <p:nvPr/>
          </p:nvCxnSpPr>
          <p:spPr>
            <a:xfrm>
              <a:off x="6451601" y="5455921"/>
              <a:ext cx="1536930" cy="0"/>
            </a:xfrm>
            <a:prstGeom prst="straightConnector1">
              <a:avLst/>
            </a:prstGeom>
            <a:ln w="50800">
              <a:solidFill>
                <a:srgbClr val="2196F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6357045" y="4015048"/>
              <a:ext cx="11430" cy="1440873"/>
            </a:xfrm>
            <a:prstGeom prst="straightConnector1">
              <a:avLst/>
            </a:prstGeom>
            <a:ln w="50800">
              <a:solidFill>
                <a:srgbClr val="2196F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7989028" y="5530736"/>
              <a:ext cx="5218" cy="657785"/>
            </a:xfrm>
            <a:prstGeom prst="straightConnector1">
              <a:avLst/>
            </a:prstGeom>
            <a:ln w="50800">
              <a:solidFill>
                <a:srgbClr val="2196F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8046720" y="6202376"/>
              <a:ext cx="966124" cy="0"/>
            </a:xfrm>
            <a:prstGeom prst="straightConnector1">
              <a:avLst/>
            </a:prstGeom>
            <a:ln w="50800">
              <a:solidFill>
                <a:srgbClr val="2196F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928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Reinforcement Learning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>
                    <a:solidFill>
                      <a:srgbClr val="2196F3"/>
                    </a:solidFill>
                  </a:rPr>
                  <a:t>Supervised</a:t>
                </a:r>
                <a:r>
                  <a:rPr lang="en-US" dirty="0" smtClean="0"/>
                  <a:t> or </a:t>
                </a:r>
                <a:r>
                  <a:rPr lang="en-US" dirty="0" smtClean="0">
                    <a:solidFill>
                      <a:srgbClr val="8BC34A"/>
                    </a:solidFill>
                  </a:rPr>
                  <a:t>unsupervised</a:t>
                </a:r>
                <a:r>
                  <a:rPr lang="en-US" dirty="0" smtClean="0"/>
                  <a:t>?</a:t>
                </a:r>
              </a:p>
              <a:p>
                <a:pPr lvl="1"/>
                <a:r>
                  <a:rPr lang="en-US" dirty="0">
                    <a:solidFill>
                      <a:srgbClr val="2196F3"/>
                    </a:solidFill>
                  </a:rPr>
                  <a:t>Feedback system (reward)</a:t>
                </a:r>
              </a:p>
              <a:p>
                <a:pPr lvl="1"/>
                <a:r>
                  <a:rPr lang="en-US" dirty="0">
                    <a:solidFill>
                      <a:srgbClr val="2196F3"/>
                    </a:solidFill>
                  </a:rPr>
                  <a:t>Sequential learning (time-dependent process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)</a:t>
                </a:r>
                <a:endParaRPr lang="en-US" dirty="0" smtClean="0">
                  <a:solidFill>
                    <a:srgbClr val="8BC34A"/>
                  </a:solidFill>
                </a:endParaRPr>
              </a:p>
              <a:p>
                <a:pPr lvl="1"/>
                <a:r>
                  <a:rPr lang="en-US" dirty="0" smtClean="0">
                    <a:solidFill>
                      <a:srgbClr val="8BC34A"/>
                    </a:solidFill>
                  </a:rPr>
                  <a:t>No supervisor; trial and error</a:t>
                </a:r>
              </a:p>
              <a:p>
                <a:pPr lvl="1"/>
                <a:r>
                  <a:rPr lang="en-US" dirty="0" smtClean="0">
                    <a:solidFill>
                      <a:srgbClr val="8BC34A"/>
                    </a:solidFill>
                  </a:rPr>
                  <a:t>The </a:t>
                </a:r>
                <a:r>
                  <a:rPr lang="en-US" dirty="0">
                    <a:solidFill>
                      <a:srgbClr val="8BC34A"/>
                    </a:solidFill>
                  </a:rPr>
                  <a:t>agent influences the </a:t>
                </a:r>
                <a:r>
                  <a:rPr lang="en-US" dirty="0" smtClean="0">
                    <a:solidFill>
                      <a:srgbClr val="8BC34A"/>
                    </a:solidFill>
                  </a:rPr>
                  <a:t>environment</a:t>
                </a:r>
              </a:p>
              <a:p>
                <a:r>
                  <a:rPr lang="en-US" dirty="0" smtClean="0"/>
                  <a:t>Learning process</a:t>
                </a:r>
              </a:p>
              <a:p>
                <a:pPr lvl="1"/>
                <a:r>
                  <a:rPr lang="en-US" dirty="0" smtClean="0"/>
                  <a:t>Similar to how children learn</a:t>
                </a:r>
              </a:p>
              <a:p>
                <a:pPr lvl="1"/>
                <a:r>
                  <a:rPr lang="en-US" dirty="0" smtClean="0"/>
                  <a:t>Agent learns from environment by performing actions</a:t>
                </a:r>
                <a:br>
                  <a:rPr lang="en-US" dirty="0" smtClean="0"/>
                </a:br>
                <a:r>
                  <a:rPr lang="en-US" dirty="0" smtClean="0"/>
                  <a:t>and taking rewards (positive / negative)</a:t>
                </a:r>
              </a:p>
              <a:p>
                <a:r>
                  <a:rPr lang="en-US" dirty="0" smtClean="0"/>
                  <a:t>RL loop</a:t>
                </a:r>
              </a:p>
              <a:p>
                <a:pPr lvl="1"/>
                <a:r>
                  <a:rPr lang="en-US" dirty="0" smtClean="0"/>
                  <a:t>Observe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 – "state space"</a:t>
                </a:r>
              </a:p>
              <a:p>
                <a:pPr lvl="1"/>
                <a:r>
                  <a:rPr lang="en-US" dirty="0" smtClean="0"/>
                  <a:t>Take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 – "action space"</a:t>
                </a:r>
              </a:p>
              <a:p>
                <a:pPr lvl="1"/>
                <a:r>
                  <a:rPr lang="en-US" dirty="0" smtClean="0"/>
                  <a:t>Receive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update state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6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275" y="1248598"/>
            <a:ext cx="3823578" cy="23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0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Reinforcement Learning (2)</a:t>
            </a:r>
            <a:endParaRPr lang="bg-B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Goal: maximize the cumulative reward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What doesn't work (</a:t>
                </a:r>
                <a:r>
                  <a:rPr lang="en-US" dirty="0"/>
                  <a:t>every </a:t>
                </a:r>
                <a:r>
                  <a:rPr lang="en-US" dirty="0" smtClean="0"/>
                  <a:t>time)</a:t>
                </a:r>
              </a:p>
              <a:p>
                <a:pPr lvl="1"/>
                <a:r>
                  <a:rPr lang="en-US" dirty="0" smtClean="0"/>
                  <a:t>Greedy search</a:t>
                </a:r>
              </a:p>
              <a:p>
                <a:pPr lvl="1"/>
                <a:r>
                  <a:rPr lang="en-US" dirty="0" smtClean="0"/>
                  <a:t>Hand-coded heuristics</a:t>
                </a:r>
                <a:endParaRPr lang="en-US" dirty="0"/>
              </a:p>
              <a:p>
                <a:pPr lvl="2"/>
                <a:r>
                  <a:rPr lang="en-US" dirty="0" smtClean="0"/>
                  <a:t>I.e. simply sum the rewards at each time step</a:t>
                </a:r>
              </a:p>
              <a:p>
                <a:r>
                  <a:rPr lang="en-US" dirty="0" smtClean="0"/>
                  <a:t>Tradeoff: instant gratification vs. later rewards</a:t>
                </a:r>
              </a:p>
              <a:p>
                <a:pPr lvl="1"/>
                <a:r>
                  <a:rPr lang="en-US" dirty="0" smtClean="0"/>
                  <a:t>Discount each reward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∈[0;1)</m:t>
                    </m:r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≈0⇒</m:t>
                    </m:r>
                  </m:oMath>
                </a14:m>
                <a:r>
                  <a:rPr lang="en-US" dirty="0" smtClean="0"/>
                  <a:t> short-term rewards get a bigger weight</a:t>
                </a:r>
                <a:br>
                  <a:rPr lang="en-US" dirty="0" smtClean="0"/>
                </a:br>
                <a:r>
                  <a:rPr lang="en-US" dirty="0" smtClean="0"/>
                  <a:t>(nearest cheese); and vice versa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+…=∑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b>
                    </m:sSub>
                  </m:oMath>
                </a14:m>
                <a:r>
                  <a:rPr lang="en-US" dirty="0" smtClean="0"/>
                  <a:t>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7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340" y="3962861"/>
            <a:ext cx="2633778" cy="264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6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Exploration / Exploitation Tradeoff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Tradeoff</a:t>
                </a:r>
              </a:p>
              <a:p>
                <a:pPr lvl="1"/>
                <a:r>
                  <a:rPr lang="en-US" dirty="0" smtClean="0"/>
                  <a:t>Exploitation: Exploit known information to maximize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Exploration: Find out more information about the environment</a:t>
                </a:r>
              </a:p>
              <a:p>
                <a:r>
                  <a:rPr lang="en-US" dirty="0" smtClean="0"/>
                  <a:t>Problem</a:t>
                </a:r>
              </a:p>
              <a:p>
                <a:pPr lvl="1"/>
                <a:r>
                  <a:rPr lang="en-US" dirty="0" smtClean="0"/>
                  <a:t>Infinite amount of small cheese vs. one large piece</a:t>
                </a:r>
              </a:p>
              <a:p>
                <a:r>
                  <a:rPr lang="en-US" dirty="0" smtClean="0"/>
                  <a:t>Different approaches to avoid this</a:t>
                </a:r>
              </a:p>
              <a:p>
                <a:pPr lvl="1"/>
                <a:r>
                  <a:rPr lang="en-US" dirty="0" smtClean="0"/>
                  <a:t>This is the main reason that greedy algorithms</a:t>
                </a:r>
                <a:br>
                  <a:rPr lang="en-US" dirty="0" smtClean="0"/>
                </a:br>
                <a:r>
                  <a:rPr lang="en-US" dirty="0" smtClean="0"/>
                  <a:t>cannot perform too well on real-life problems</a:t>
                </a:r>
              </a:p>
              <a:p>
                <a:r>
                  <a:rPr lang="en-US" dirty="0" smtClean="0"/>
                  <a:t>Types of RL algorithms</a:t>
                </a:r>
              </a:p>
              <a:p>
                <a:pPr lvl="1"/>
                <a:r>
                  <a:rPr lang="en-US" dirty="0" smtClean="0"/>
                  <a:t>Value-based: maximize expected reward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Policy-based: optimize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Action = policy with given state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8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153" y="3823854"/>
            <a:ext cx="2771958" cy="27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4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Q-Learning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Value-based approach</a:t>
                </a:r>
              </a:p>
              <a:p>
                <a:pPr lvl="1"/>
                <a:r>
                  <a:rPr lang="en-US" dirty="0" smtClean="0"/>
                  <a:t>Given the state and actions, take the most optimal one</a:t>
                </a:r>
              </a:p>
              <a:p>
                <a:pPr lvl="1"/>
                <a:r>
                  <a:rPr lang="en-US" dirty="0" smtClean="0"/>
                  <a:t>Frozen lake: 16 states (cells that you can be in), 4 actions</a:t>
                </a:r>
              </a:p>
              <a:p>
                <a:pPr lvl="1"/>
                <a:r>
                  <a:rPr lang="en-US" dirty="0" smtClean="0"/>
                  <a:t>Q-table: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16×4</m:t>
                    </m:r>
                  </m:oMath>
                </a14:m>
                <a:r>
                  <a:rPr lang="en-US" dirty="0" smtClean="0"/>
                  <a:t> grid</a:t>
                </a:r>
              </a:p>
              <a:p>
                <a:pPr lvl="1"/>
                <a:r>
                  <a:rPr lang="en-US" dirty="0" smtClean="0"/>
                  <a:t>Equation: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func>
                          <m:funcPr>
                            <m:ctrlPr>
                              <a:rPr lang="en-US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92D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92D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92D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solidFill>
                                          <a:srgbClr val="92D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 – learning rate</a:t>
                </a:r>
              </a:p>
              <a:p>
                <a:r>
                  <a:rPr lang="en-US" dirty="0" smtClean="0"/>
                  <a:t>Training</a:t>
                </a:r>
              </a:p>
              <a:p>
                <a:pPr lvl="1"/>
                <a:r>
                  <a:rPr lang="en-US" dirty="0" smtClean="0"/>
                  <a:t>Update the values in the Q-table by playing a lot of games</a:t>
                </a:r>
              </a:p>
              <a:p>
                <a:r>
                  <a:rPr lang="en-US" dirty="0" smtClean="0"/>
                  <a:t>How about a different game?</a:t>
                </a:r>
              </a:p>
              <a:p>
                <a:pPr lvl="1"/>
                <a:r>
                  <a:rPr lang="en-US" dirty="0" smtClean="0"/>
                  <a:t>Example: 10 000 states, 10 actions</a:t>
                </a:r>
              </a:p>
              <a:p>
                <a:pPr lvl="2"/>
                <a:r>
                  <a:rPr lang="en-US" dirty="0" smtClean="0"/>
                  <a:t>Tables quickly become exponentially big</a:t>
                </a:r>
              </a:p>
              <a:p>
                <a:pPr lvl="2"/>
                <a:r>
                  <a:rPr lang="en-US" dirty="0" smtClean="0"/>
                  <a:t>We need a lot of games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9739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Deep Q-Learning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Solution: use an NN as a function approximator</a:t>
                </a:r>
              </a:p>
              <a:p>
                <a:pPr lvl="1"/>
                <a:r>
                  <a:rPr lang="en-US" dirty="0" smtClean="0"/>
                  <a:t>Doesn't even need to be recurrent!</a:t>
                </a:r>
              </a:p>
              <a:p>
                <a:r>
                  <a:rPr lang="en-US" dirty="0" smtClean="0"/>
                  <a:t>Loss / cost function</a:t>
                </a:r>
              </a:p>
              <a:p>
                <a:pPr lvl="1"/>
                <a:r>
                  <a:rPr lang="en-US" dirty="0" smtClean="0"/>
                  <a:t>MSE: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 smtClean="0"/>
              </a:p>
              <a:p>
                <a:r>
                  <a:rPr lang="en-US" b="0" dirty="0" smtClean="0"/>
                  <a:t>Output: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endParaRPr lang="en-US" b="0" dirty="0" smtClean="0"/>
              </a:p>
              <a:p>
                <a:r>
                  <a:rPr lang="en-US" dirty="0" smtClean="0"/>
                  <a:t>For games where the state is a screen image, it's useful</a:t>
                </a:r>
                <a:br>
                  <a:rPr lang="en-US" dirty="0" smtClean="0"/>
                </a:br>
                <a:r>
                  <a:rPr lang="en-US" dirty="0" smtClean="0"/>
                  <a:t>to add convolutional layers at the beginning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10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92" y="4437545"/>
            <a:ext cx="4146579" cy="235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0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Playing Games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AlphaGo</a:t>
            </a:r>
            <a:r>
              <a:rPr lang="en-US" dirty="0" smtClean="0"/>
              <a:t> and its variations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164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Two-player Games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Many different approaches to two-player games</a:t>
                </a:r>
              </a:p>
              <a:p>
                <a:pPr lvl="1"/>
                <a:r>
                  <a:rPr lang="en-US" dirty="0" smtClean="0"/>
                  <a:t>We already saw how GANs learn: minimax algorithm</a:t>
                </a:r>
              </a:p>
              <a:p>
                <a:pPr lvl="1"/>
                <a:r>
                  <a:rPr lang="en-US" dirty="0" smtClean="0"/>
                  <a:t>Idea: maximize your own reward while minimizing</a:t>
                </a:r>
                <a:br>
                  <a:rPr lang="en-US" dirty="0" smtClean="0"/>
                </a:br>
                <a:r>
                  <a:rPr lang="en-US" dirty="0" smtClean="0"/>
                  <a:t>the opponent's reward</a:t>
                </a:r>
              </a:p>
              <a:p>
                <a:pPr lvl="1"/>
                <a:r>
                  <a:rPr lang="en-US" dirty="0" smtClean="0"/>
                  <a:t>For small games, this is viable</a:t>
                </a:r>
              </a:p>
              <a:p>
                <a:pPr lvl="2"/>
                <a:r>
                  <a:rPr lang="en-US" dirty="0" smtClean="0"/>
                  <a:t>Chess: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120</m:t>
                        </m:r>
                      </m:sup>
                    </m:sSup>
                  </m:oMath>
                </a14:m>
                <a:r>
                  <a:rPr lang="en-US" dirty="0" smtClean="0"/>
                  <a:t> nodes </a:t>
                </a:r>
              </a:p>
              <a:p>
                <a:pPr lvl="3"/>
                <a:r>
                  <a:rPr lang="en-US" dirty="0" smtClean="0"/>
                  <a:t>Atoms in the Universe: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One optimization: build the tree for,</a:t>
                </a:r>
                <a:br>
                  <a:rPr lang="en-US" dirty="0" smtClean="0"/>
                </a:br>
                <a:r>
                  <a:rPr lang="en-US" dirty="0" smtClean="0"/>
                  <a:t>say 4 moves in advance</a:t>
                </a:r>
              </a:p>
              <a:p>
                <a:pPr lvl="2"/>
                <a:r>
                  <a:rPr lang="en-US" dirty="0" smtClean="0"/>
                  <a:t>Exploration / exploitation tradeoff</a:t>
                </a:r>
              </a:p>
              <a:p>
                <a:pPr lvl="1"/>
                <a:r>
                  <a:rPr lang="en-US" dirty="0" smtClean="0"/>
                  <a:t>A variant: simulate </a:t>
                </a:r>
                <a:endParaRPr lang="en-US" dirty="0"/>
              </a:p>
              <a:p>
                <a:pPr lvl="2"/>
                <a:r>
                  <a:rPr lang="en-US" dirty="0" smtClean="0"/>
                  <a:t>Monte Carlo tree search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12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096" y="2955218"/>
            <a:ext cx="5452456" cy="365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Deep-Q Networks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hlinkClick r:id="rId2"/>
              </a:rPr>
              <a:t>Mnih et al., 2013</a:t>
            </a:r>
            <a:r>
              <a:rPr lang="en-US" dirty="0" smtClean="0"/>
              <a:t>; </a:t>
            </a:r>
            <a:r>
              <a:rPr lang="en-US" dirty="0" smtClean="0">
                <a:hlinkClick r:id="rId3"/>
              </a:rPr>
              <a:t>Mnih et al., 2015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13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97" y="1565867"/>
            <a:ext cx="5679498" cy="30529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681" y="1362075"/>
            <a:ext cx="4495366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2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AlphaGo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Experience replay</a:t>
                </a:r>
              </a:p>
              <a:p>
                <a:pPr lvl="1"/>
                <a:r>
                  <a:rPr lang="en-US" dirty="0" smtClean="0"/>
                  <a:t>Uses mini-batches to update Q values</a:t>
                </a:r>
              </a:p>
              <a:p>
                <a:pPr lvl="1"/>
                <a:r>
                  <a:rPr lang="en-US" dirty="0" smtClean="0"/>
                  <a:t>Prevents overfitting (the network tends to play similar games)</a:t>
                </a:r>
              </a:p>
              <a:p>
                <a:r>
                  <a:rPr lang="en-US" dirty="0" smtClean="0"/>
                  <a:t>Target network</a:t>
                </a:r>
              </a:p>
              <a:p>
                <a:pPr lvl="1"/>
                <a:r>
                  <a:rPr lang="en-US" dirty="0" smtClean="0"/>
                  <a:t>Doesn't update NN parameters (red rectangle) every step</a:t>
                </a:r>
              </a:p>
              <a:p>
                <a:pPr lvl="2"/>
                <a:r>
                  <a:rPr lang="en-US" dirty="0" smtClean="0"/>
                  <a:t>Because they are unstable</a:t>
                </a:r>
              </a:p>
              <a:p>
                <a:pPr lvl="2"/>
                <a:endParaRPr lang="en-US" dirty="0" smtClean="0"/>
              </a:p>
              <a:p>
                <a:pPr lvl="1"/>
                <a:r>
                  <a:rPr lang="en-US" dirty="0" smtClean="0"/>
                  <a:t>Instead, updates them every 1000 steps</a:t>
                </a:r>
              </a:p>
              <a:p>
                <a:r>
                  <a:rPr lang="en-US" dirty="0" smtClean="0"/>
                  <a:t>Clipping rewards</a:t>
                </a:r>
              </a:p>
              <a:p>
                <a:pPr lvl="1"/>
                <a:r>
                  <a:rPr lang="en-US" dirty="0" smtClean="0"/>
                  <a:t>Different games have different reward ranges; clip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∈[−1;1]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Skipping frames</a:t>
                </a:r>
              </a:p>
              <a:p>
                <a:pPr lvl="1"/>
                <a:r>
                  <a:rPr lang="en-US" dirty="0" smtClean="0"/>
                  <a:t>Humans don't perform at 60fps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we can go away with a smaller NN</a:t>
                </a:r>
              </a:p>
              <a:p>
                <a:pPr lvl="1"/>
                <a:r>
                  <a:rPr lang="en-US" dirty="0" smtClean="0"/>
                  <a:t>Uses 4 frames at a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 b="-1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14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915" y="3513456"/>
            <a:ext cx="3721331" cy="4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4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AlphaGo</a:t>
            </a:r>
            <a:r>
              <a:rPr lang="en-US" dirty="0" smtClean="0"/>
              <a:t> (2)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Performance w.r.t. experience replay / target network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Results (2015)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>
                <a:hlinkClick r:id="rId2"/>
              </a:rPr>
              <a:t>Silver et al., Science, 07.12.2018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15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37" y="1264754"/>
            <a:ext cx="3865419" cy="14206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37" y="3098077"/>
            <a:ext cx="3865419" cy="9615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37" y="4707359"/>
            <a:ext cx="7732056" cy="195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9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DQNs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hlinkClick r:id="rId2"/>
              </a:rPr>
              <a:t>Snake</a:t>
            </a:r>
            <a:endParaRPr lang="en-US" dirty="0" smtClean="0"/>
          </a:p>
          <a:p>
            <a:r>
              <a:rPr lang="en-US" dirty="0" smtClean="0"/>
              <a:t>Small board games (</a:t>
            </a:r>
            <a:r>
              <a:rPr lang="en-US" dirty="0" smtClean="0">
                <a:hlinkClick r:id="rId3"/>
              </a:rPr>
              <a:t>AlphaToe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3"/>
              </a:rPr>
              <a:t>CNNs for OpenAI Gym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LSTMs with attention</a:t>
            </a:r>
            <a:endParaRPr lang="en-US" dirty="0" smtClean="0"/>
          </a:p>
          <a:p>
            <a:r>
              <a:rPr lang="en-US" dirty="0" smtClean="0"/>
              <a:t>DeepMind's </a:t>
            </a:r>
            <a:r>
              <a:rPr lang="en-US" dirty="0" smtClean="0">
                <a:hlinkClick r:id="rId5"/>
              </a:rPr>
              <a:t>DQN papers</a:t>
            </a:r>
            <a:endParaRPr lang="en-US" dirty="0" smtClean="0"/>
          </a:p>
          <a:p>
            <a:pPr lvl="1"/>
            <a:r>
              <a:rPr lang="en-US" dirty="0" smtClean="0">
                <a:hlinkClick r:id="rId6"/>
              </a:rPr>
              <a:t>Silver et al., 2017</a:t>
            </a:r>
            <a:r>
              <a:rPr lang="en-US" dirty="0" smtClean="0"/>
              <a:t>: </a:t>
            </a:r>
            <a:r>
              <a:rPr lang="en-US" dirty="0" err="1" smtClean="0"/>
              <a:t>AlphaGo</a:t>
            </a:r>
            <a:r>
              <a:rPr lang="en-US" dirty="0" smtClean="0"/>
              <a:t> Zero</a:t>
            </a:r>
          </a:p>
          <a:p>
            <a:r>
              <a:rPr lang="en-US" dirty="0" smtClean="0">
                <a:hlinkClick r:id="rId7"/>
              </a:rPr>
              <a:t>A3C algorithm, </a:t>
            </a:r>
            <a:r>
              <a:rPr lang="en-US" dirty="0" err="1" smtClean="0">
                <a:hlinkClick r:id="rId7"/>
              </a:rPr>
              <a:t>tensorflow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9861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of RL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hlinkClick r:id="rId2"/>
              </a:rPr>
              <a:t>Key RL papers</a:t>
            </a:r>
            <a:endParaRPr lang="en-US" dirty="0"/>
          </a:p>
          <a:p>
            <a:pPr lvl="1"/>
            <a:r>
              <a:rPr lang="en-US" dirty="0" smtClean="0"/>
              <a:t>Pay attention </a:t>
            </a:r>
            <a:r>
              <a:rPr lang="en-US" dirty="0"/>
              <a:t>to "12. Reproducibility, Analysis, and Critique</a:t>
            </a:r>
            <a:r>
              <a:rPr lang="en-US" dirty="0" smtClean="0"/>
              <a:t>"</a:t>
            </a:r>
          </a:p>
          <a:p>
            <a:r>
              <a:rPr lang="en-US" dirty="0" smtClean="0">
                <a:hlinkClick r:id="rId3"/>
              </a:rPr>
              <a:t>Notes on important papers</a:t>
            </a:r>
            <a:endParaRPr lang="en-US" dirty="0" smtClean="0"/>
          </a:p>
          <a:p>
            <a:r>
              <a:rPr lang="en-US" dirty="0" err="1" smtClean="0"/>
              <a:t>NeurIPS</a:t>
            </a:r>
            <a:r>
              <a:rPr lang="en-US" dirty="0" smtClean="0"/>
              <a:t> 2020 (</a:t>
            </a:r>
            <a:r>
              <a:rPr lang="en-US" dirty="0" smtClean="0">
                <a:hlinkClick r:id="rId4"/>
              </a:rPr>
              <a:t>videos</a:t>
            </a:r>
            <a:r>
              <a:rPr lang="en-US" dirty="0" smtClean="0"/>
              <a:t>, </a:t>
            </a:r>
            <a:r>
              <a:rPr lang="en-US" dirty="0" smtClean="0">
                <a:hlinkClick r:id="rId5"/>
              </a:rPr>
              <a:t>workshop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6"/>
              </a:rPr>
              <a:t>Overview of deep RL algorithms</a:t>
            </a:r>
            <a:r>
              <a:rPr lang="en-US" dirty="0" smtClean="0"/>
              <a:t> (Ivanov, 2019)</a:t>
            </a:r>
          </a:p>
          <a:p>
            <a:r>
              <a:rPr lang="en-US" dirty="0" smtClean="0"/>
              <a:t>Some interesting applications</a:t>
            </a:r>
          </a:p>
          <a:p>
            <a:pPr lvl="1"/>
            <a:r>
              <a:rPr lang="en-US" dirty="0" smtClean="0">
                <a:hlinkClick r:id="rId7"/>
              </a:rPr>
              <a:t>Text summarization</a:t>
            </a:r>
            <a:r>
              <a:rPr lang="en-US" dirty="0" smtClean="0"/>
              <a:t> (Paulus et al., 2017)</a:t>
            </a:r>
          </a:p>
          <a:p>
            <a:pPr lvl="1"/>
            <a:r>
              <a:rPr lang="en-US" dirty="0" smtClean="0">
                <a:hlinkClick r:id="rId8"/>
              </a:rPr>
              <a:t>Traffic control</a:t>
            </a:r>
            <a:r>
              <a:rPr lang="en-US" dirty="0" smtClean="0"/>
              <a:t> (</a:t>
            </a:r>
            <a:r>
              <a:rPr lang="en-US" dirty="0" err="1" smtClean="0"/>
              <a:t>Guo</a:t>
            </a:r>
            <a:r>
              <a:rPr lang="en-US" dirty="0" smtClean="0"/>
              <a:t> &amp; Wang, 2019)</a:t>
            </a:r>
          </a:p>
          <a:p>
            <a:pPr lvl="1"/>
            <a:r>
              <a:rPr lang="en-US" dirty="0" smtClean="0">
                <a:hlinkClick r:id="rId9"/>
              </a:rPr>
              <a:t>Molecular dynamics</a:t>
            </a:r>
            <a:r>
              <a:rPr lang="en-US" dirty="0" smtClean="0"/>
              <a:t> (Zhou et al., 2019)</a:t>
            </a:r>
          </a:p>
          <a:p>
            <a:pPr lvl="1"/>
            <a:r>
              <a:rPr lang="en-US" dirty="0" smtClean="0">
                <a:hlinkClick r:id="rId10"/>
              </a:rPr>
              <a:t>Recommenders (online ads)</a:t>
            </a:r>
            <a:r>
              <a:rPr lang="en-US" dirty="0" smtClean="0"/>
              <a:t>, Zhao et al., 2019</a:t>
            </a:r>
          </a:p>
          <a:p>
            <a:pPr lvl="1"/>
            <a:r>
              <a:rPr lang="en-US" dirty="0" smtClean="0">
                <a:hlinkClick r:id="rId11"/>
              </a:rPr>
              <a:t>Autonomous driving</a:t>
            </a:r>
            <a:r>
              <a:rPr lang="en-US" dirty="0" smtClean="0"/>
              <a:t> (Kiran et al., 2021)</a:t>
            </a:r>
          </a:p>
          <a:p>
            <a:pPr lvl="1"/>
            <a:r>
              <a:rPr lang="en-US" dirty="0">
                <a:hlinkClick r:id="rId12"/>
              </a:rPr>
              <a:t>Robotics / drones</a:t>
            </a:r>
            <a:r>
              <a:rPr lang="en-US" dirty="0"/>
              <a:t> (Yan et al., 2021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9464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"Specification gaming"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hlinkClick r:id="rId2"/>
              </a:rPr>
              <a:t>Source</a:t>
            </a:r>
            <a:endParaRPr lang="en-US" dirty="0" smtClean="0"/>
          </a:p>
          <a:p>
            <a:pPr lvl="1"/>
            <a:r>
              <a:rPr lang="en-US" dirty="0" smtClean="0">
                <a:hlinkClick r:id="rId3"/>
              </a:rPr>
              <a:t>OpenAI article</a:t>
            </a:r>
            <a:endParaRPr lang="en-US" dirty="0" smtClean="0"/>
          </a:p>
          <a:p>
            <a:pPr lvl="1"/>
            <a:r>
              <a:rPr lang="en-US" dirty="0" smtClean="0"/>
              <a:t>The hardest step in optimization is to choose the correct</a:t>
            </a:r>
            <a:br>
              <a:rPr lang="en-US" dirty="0" smtClean="0"/>
            </a:br>
            <a:r>
              <a:rPr lang="en-US" dirty="0" smtClean="0"/>
              <a:t>reward function</a:t>
            </a:r>
          </a:p>
          <a:p>
            <a:pPr lvl="1"/>
            <a:r>
              <a:rPr lang="en-US" dirty="0" smtClean="0"/>
              <a:t>A wrongly or poorly chosen reward tends to create algorithms</a:t>
            </a:r>
            <a:br>
              <a:rPr lang="en-US" dirty="0" smtClean="0"/>
            </a:br>
            <a:r>
              <a:rPr lang="en-US" dirty="0" smtClean="0"/>
              <a:t>which cheat</a:t>
            </a:r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/>
              <a:t>Creatures bred for speed grow really tall and generate </a:t>
            </a:r>
            <a:r>
              <a:rPr lang="en-US" dirty="0" smtClean="0"/>
              <a:t>high</a:t>
            </a:r>
            <a:br>
              <a:rPr lang="en-US" dirty="0" smtClean="0"/>
            </a:br>
            <a:r>
              <a:rPr lang="en-US" dirty="0" smtClean="0"/>
              <a:t>velocities </a:t>
            </a:r>
            <a:r>
              <a:rPr lang="en-US" dirty="0"/>
              <a:t>by falling </a:t>
            </a:r>
            <a:r>
              <a:rPr lang="en-US" dirty="0" smtClean="0"/>
              <a:t>over</a:t>
            </a:r>
          </a:p>
          <a:p>
            <a:pPr lvl="1"/>
            <a:r>
              <a:rPr lang="en-US" dirty="0"/>
              <a:t>Simulated pancake making robot learned to throw the pancake as high in the air as possible in order to maximize time away from the </a:t>
            </a:r>
            <a:r>
              <a:rPr lang="en-US" dirty="0" smtClean="0"/>
              <a:t>ground</a:t>
            </a:r>
          </a:p>
          <a:p>
            <a:pPr lvl="1"/>
            <a:r>
              <a:rPr lang="en-US" dirty="0"/>
              <a:t>Agent kills itself at the end of level 1 to avoid losing in level </a:t>
            </a:r>
            <a:r>
              <a:rPr lang="en-US" dirty="0" smtClean="0"/>
              <a:t>2</a:t>
            </a:r>
          </a:p>
          <a:p>
            <a:pPr lvl="1"/>
            <a:r>
              <a:rPr lang="en-US" dirty="0"/>
              <a:t>Self-driving car rewarded for speed learns to spin in </a:t>
            </a:r>
            <a:r>
              <a:rPr lang="en-US" dirty="0" smtClean="0"/>
              <a:t>circles</a:t>
            </a:r>
          </a:p>
          <a:p>
            <a:pPr lvl="1"/>
            <a:r>
              <a:rPr lang="en-US" dirty="0"/>
              <a:t>Agent pauses the game indefinitely to avoid losing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7764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 </a:t>
            </a:r>
            <a:r>
              <a:rPr lang="en-US" dirty="0"/>
              <a:t>description</a:t>
            </a:r>
          </a:p>
          <a:p>
            <a:r>
              <a:rPr lang="en-US" dirty="0"/>
              <a:t>Approaches</a:t>
            </a:r>
          </a:p>
          <a:p>
            <a:r>
              <a:rPr lang="en-US" dirty="0"/>
              <a:t>Deep-Q networks</a:t>
            </a:r>
          </a:p>
          <a:p>
            <a:r>
              <a:rPr lang="en-US" dirty="0" err="1"/>
              <a:t>AlphaGo</a:t>
            </a:r>
            <a:endParaRPr lang="en-US" dirty="0"/>
          </a:p>
          <a:p>
            <a:r>
              <a:rPr lang="en-US" dirty="0"/>
              <a:t>"Specification gaming</a:t>
            </a:r>
            <a:r>
              <a:rPr lang="en-US" dirty="0" smtClean="0"/>
              <a:t>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9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96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2D89"/>
      </a:hlink>
      <a:folHlink>
        <a:srgbClr val="002060"/>
      </a:folHlink>
    </a:clrScheme>
    <a:fontScheme name="Modern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3325</TotalTime>
  <Words>595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Cambria Math</vt:lpstr>
      <vt:lpstr>Consolas</vt:lpstr>
      <vt:lpstr>Lato</vt:lpstr>
      <vt:lpstr>Montserrat Medium</vt:lpstr>
      <vt:lpstr>Open Sans</vt:lpstr>
      <vt:lpstr>Wingdings</vt:lpstr>
      <vt:lpstr>Office Theme</vt:lpstr>
      <vt:lpstr>Reinforcement Learning</vt:lpstr>
      <vt:lpstr>sli.do #DeepLearning</vt:lpstr>
      <vt:lpstr>Table of Contents</vt:lpstr>
      <vt:lpstr>Reinforcement Learning</vt:lpstr>
      <vt:lpstr>OpenAI Gym</vt:lpstr>
      <vt:lpstr>Reinforcement Learning</vt:lpstr>
      <vt:lpstr>Reinforcement Learning (2)</vt:lpstr>
      <vt:lpstr>Exploration / Exploitation Tradeoff</vt:lpstr>
      <vt:lpstr>Q-Learning</vt:lpstr>
      <vt:lpstr>Deep Q-Learning</vt:lpstr>
      <vt:lpstr>Playing Games</vt:lpstr>
      <vt:lpstr>Two-player Games</vt:lpstr>
      <vt:lpstr>Deep-Q Networks</vt:lpstr>
      <vt:lpstr>AlphaGo</vt:lpstr>
      <vt:lpstr>AlphaGo (2)</vt:lpstr>
      <vt:lpstr>Applications of DQNs</vt:lpstr>
      <vt:lpstr>State of RL</vt:lpstr>
      <vt:lpstr>"Specification gaming"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Yordan Darakchiev</dc:creator>
  <cp:lastModifiedBy>Yordan Darakchiev</cp:lastModifiedBy>
  <cp:revision>244</cp:revision>
  <dcterms:created xsi:type="dcterms:W3CDTF">2017-09-11T12:40:37Z</dcterms:created>
  <dcterms:modified xsi:type="dcterms:W3CDTF">2021-01-27T19:59:35Z</dcterms:modified>
</cp:coreProperties>
</file>