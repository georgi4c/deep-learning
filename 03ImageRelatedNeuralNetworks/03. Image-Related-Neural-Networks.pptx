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9" r:id="rId3"/>
    <p:sldId id="262" r:id="rId4"/>
    <p:sldId id="263" r:id="rId5"/>
    <p:sldId id="290" r:id="rId6"/>
    <p:sldId id="306" r:id="rId7"/>
    <p:sldId id="307" r:id="rId8"/>
    <p:sldId id="308" r:id="rId9"/>
    <p:sldId id="309" r:id="rId10"/>
    <p:sldId id="318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04" r:id="rId19"/>
    <p:sldId id="261" r:id="rId20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6F3"/>
    <a:srgbClr val="4D4D4D"/>
    <a:srgbClr val="8BC34A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 userDrawn="1"/>
        </p:nvGrpSpPr>
        <p:grpSpPr>
          <a:xfrm>
            <a:off x="3810" y="-7619"/>
            <a:ext cx="12191998" cy="6880134"/>
            <a:chOff x="3810" y="-1"/>
            <a:chExt cx="12191998" cy="6858001"/>
          </a:xfrm>
        </p:grpSpPr>
        <p:sp>
          <p:nvSpPr>
            <p:cNvPr id="109" name="Freeform 108"/>
            <p:cNvSpPr/>
            <p:nvPr userDrawn="1"/>
          </p:nvSpPr>
          <p:spPr>
            <a:xfrm>
              <a:off x="1803400" y="0"/>
              <a:ext cx="10392408" cy="6858000"/>
            </a:xfrm>
            <a:custGeom>
              <a:avLst/>
              <a:gdLst>
                <a:gd name="connsiteX0" fmla="*/ 0 w 10392408"/>
                <a:gd name="connsiteY0" fmla="*/ 0 h 6858000"/>
                <a:gd name="connsiteX1" fmla="*/ 6534783 w 10392408"/>
                <a:gd name="connsiteY1" fmla="*/ 0 h 6858000"/>
                <a:gd name="connsiteX2" fmla="*/ 6658608 w 10392408"/>
                <a:gd name="connsiteY2" fmla="*/ 0 h 6858000"/>
                <a:gd name="connsiteX3" fmla="*/ 9106533 w 10392408"/>
                <a:gd name="connsiteY3" fmla="*/ 0 h 6858000"/>
                <a:gd name="connsiteX4" fmla="*/ 10392408 w 10392408"/>
                <a:gd name="connsiteY4" fmla="*/ 6858000 h 6858000"/>
                <a:gd name="connsiteX5" fmla="*/ 6658608 w 10392408"/>
                <a:gd name="connsiteY5" fmla="*/ 6858000 h 6858000"/>
                <a:gd name="connsiteX6" fmla="*/ 5248908 w 10392408"/>
                <a:gd name="connsiteY6" fmla="*/ 6858000 h 6858000"/>
                <a:gd name="connsiteX7" fmla="*/ 0 w 1039240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92408" h="6858000">
                  <a:moveTo>
                    <a:pt x="0" y="0"/>
                  </a:moveTo>
                  <a:lnTo>
                    <a:pt x="6534783" y="0"/>
                  </a:lnTo>
                  <a:lnTo>
                    <a:pt x="6658608" y="0"/>
                  </a:lnTo>
                  <a:lnTo>
                    <a:pt x="9106533" y="0"/>
                  </a:lnTo>
                  <a:lnTo>
                    <a:pt x="10392408" y="6858000"/>
                  </a:lnTo>
                  <a:lnTo>
                    <a:pt x="6658608" y="6858000"/>
                  </a:lnTo>
                  <a:lnTo>
                    <a:pt x="524890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5" name="Freeform 104"/>
            <p:cNvSpPr/>
            <p:nvPr userDrawn="1"/>
          </p:nvSpPr>
          <p:spPr>
            <a:xfrm>
              <a:off x="1943102" y="-1"/>
              <a:ext cx="9842498" cy="6858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Freeform 89"/>
            <p:cNvSpPr/>
            <p:nvPr userDrawn="1"/>
          </p:nvSpPr>
          <p:spPr>
            <a:xfrm rot="10800000">
              <a:off x="3810" y="-1"/>
              <a:ext cx="1939290" cy="6858000"/>
            </a:xfrm>
            <a:custGeom>
              <a:avLst/>
              <a:gdLst>
                <a:gd name="connsiteX0" fmla="*/ 1939290 w 1939290"/>
                <a:gd name="connsiteY0" fmla="*/ 6858000 h 6858000"/>
                <a:gd name="connsiteX1" fmla="*/ 0 w 1939290"/>
                <a:gd name="connsiteY1" fmla="*/ 6858000 h 6858000"/>
                <a:gd name="connsiteX2" fmla="*/ 0 w 1939290"/>
                <a:gd name="connsiteY2" fmla="*/ 0 h 6858000"/>
                <a:gd name="connsiteX3" fmla="*/ 653415 w 193929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290" h="6858000">
                  <a:moveTo>
                    <a:pt x="193929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5341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8" name="Freeform 87"/>
            <p:cNvSpPr/>
            <p:nvPr userDrawn="1"/>
          </p:nvSpPr>
          <p:spPr>
            <a:xfrm rot="10800000">
              <a:off x="419100" y="-1"/>
              <a:ext cx="1524000" cy="6858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2960" y="137160"/>
            <a:ext cx="9688467" cy="1988820"/>
          </a:xfrm>
        </p:spPr>
        <p:txBody>
          <a:bodyPr anchor="b">
            <a:normAutofit/>
          </a:bodyPr>
          <a:lstStyle>
            <a:lvl1pPr algn="r">
              <a:defRPr sz="52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97280" y="2153510"/>
            <a:ext cx="9414147" cy="1390311"/>
          </a:xfrm>
        </p:spPr>
        <p:txBody>
          <a:bodyPr>
            <a:normAutofit/>
          </a:bodyPr>
          <a:lstStyle>
            <a:lvl1pPr marL="0" indent="0" algn="r">
              <a:buNone/>
              <a:defRPr sz="3200" b="0" i="0" strike="noStrike" baseline="0">
                <a:solidFill>
                  <a:srgbClr val="2196F3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Main topics</a:t>
            </a:r>
            <a:endParaRPr lang="bg-BG" dirty="0"/>
          </a:p>
        </p:txBody>
      </p:sp>
      <p:sp>
        <p:nvSpPr>
          <p:cNvPr id="113" name="Text Placeholder 112"/>
          <p:cNvSpPr>
            <a:spLocks noGrp="1"/>
          </p:cNvSpPr>
          <p:nvPr>
            <p:ph type="body" sz="quarter" idx="10" hasCustomPrompt="1"/>
          </p:nvPr>
        </p:nvSpPr>
        <p:spPr>
          <a:xfrm>
            <a:off x="1803399" y="5339499"/>
            <a:ext cx="4281486" cy="489744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4D4D4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 smtClean="0"/>
              <a:t>Name</a:t>
            </a:r>
            <a:endParaRPr lang="bg-BG" dirty="0"/>
          </a:p>
        </p:txBody>
      </p:sp>
      <p:sp>
        <p:nvSpPr>
          <p:cNvPr id="114" name="Text Placeholder 112"/>
          <p:cNvSpPr>
            <a:spLocks noGrp="1"/>
          </p:cNvSpPr>
          <p:nvPr>
            <p:ph type="body" sz="quarter" idx="11" hasCustomPrompt="1"/>
          </p:nvPr>
        </p:nvSpPr>
        <p:spPr>
          <a:xfrm>
            <a:off x="1803399" y="5829300"/>
            <a:ext cx="4281487" cy="3683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>
                    <a:lumMod val="65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bg-BG" dirty="0"/>
          </a:p>
        </p:txBody>
      </p:sp>
      <p:sp>
        <p:nvSpPr>
          <p:cNvPr id="115" name="Text Placeholder 112"/>
          <p:cNvSpPr>
            <a:spLocks noGrp="1"/>
          </p:cNvSpPr>
          <p:nvPr>
            <p:ph type="body" sz="quarter" idx="12" hasCustomPrompt="1"/>
          </p:nvPr>
        </p:nvSpPr>
        <p:spPr>
          <a:xfrm>
            <a:off x="1803398" y="6221072"/>
            <a:ext cx="4281487" cy="44642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2196F3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Email</a:t>
            </a:r>
            <a:endParaRPr lang="bg-BG" dirty="0"/>
          </a:p>
        </p:txBody>
      </p:sp>
      <p:sp>
        <p:nvSpPr>
          <p:cNvPr id="120" name="Picture Placeholder 119"/>
          <p:cNvSpPr>
            <a:spLocks noGrp="1"/>
          </p:cNvSpPr>
          <p:nvPr>
            <p:ph type="pic" sz="quarter" idx="13"/>
          </p:nvPr>
        </p:nvSpPr>
        <p:spPr>
          <a:xfrm>
            <a:off x="8055882" y="4202112"/>
            <a:ext cx="2466975" cy="2465388"/>
          </a:xfrm>
        </p:spPr>
        <p:txBody>
          <a:bodyPr/>
          <a:lstStyle>
            <a:lvl1pPr marL="0" indent="0">
              <a:buNone/>
              <a:defRPr>
                <a:latin typeface="+mn-lt"/>
                <a:cs typeface="Calibri" panose="020F0502020204030204" pitchFamily="34" charset="0"/>
              </a:defRPr>
            </a:lvl1pPr>
          </a:lstStyle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7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350" y="0"/>
            <a:ext cx="12192000" cy="6858000"/>
            <a:chOff x="-6350" y="0"/>
            <a:chExt cx="12192000" cy="6858000"/>
          </a:xfrm>
        </p:grpSpPr>
        <p:sp>
          <p:nvSpPr>
            <p:cNvPr id="13" name="Freeform 12"/>
            <p:cNvSpPr/>
            <p:nvPr userDrawn="1"/>
          </p:nvSpPr>
          <p:spPr>
            <a:xfrm>
              <a:off x="-635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8334375 w 12192000"/>
                <a:gd name="connsiteY1" fmla="*/ 0 h 6858000"/>
                <a:gd name="connsiteX2" fmla="*/ 8458200 w 12192000"/>
                <a:gd name="connsiteY2" fmla="*/ 0 h 6858000"/>
                <a:gd name="connsiteX3" fmla="*/ 10906125 w 12192000"/>
                <a:gd name="connsiteY3" fmla="*/ 0 h 6858000"/>
                <a:gd name="connsiteX4" fmla="*/ 12192000 w 12192000"/>
                <a:gd name="connsiteY4" fmla="*/ 6858000 h 6858000"/>
                <a:gd name="connsiteX5" fmla="*/ 8458200 w 12192000"/>
                <a:gd name="connsiteY5" fmla="*/ 6858000 h 6858000"/>
                <a:gd name="connsiteX6" fmla="*/ 70485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8334375" y="0"/>
                  </a:lnTo>
                  <a:lnTo>
                    <a:pt x="8458200" y="0"/>
                  </a:lnTo>
                  <a:lnTo>
                    <a:pt x="10906125" y="0"/>
                  </a:lnTo>
                  <a:lnTo>
                    <a:pt x="12192000" y="6858000"/>
                  </a:lnTo>
                  <a:lnTo>
                    <a:pt x="8458200" y="6858000"/>
                  </a:lnTo>
                  <a:lnTo>
                    <a:pt x="7048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Freeform 8"/>
            <p:cNvSpPr/>
            <p:nvPr userDrawn="1"/>
          </p:nvSpPr>
          <p:spPr>
            <a:xfrm>
              <a:off x="0" y="0"/>
              <a:ext cx="11969750" cy="6858000"/>
            </a:xfrm>
            <a:custGeom>
              <a:avLst/>
              <a:gdLst>
                <a:gd name="connsiteX0" fmla="*/ 0 w 11969750"/>
                <a:gd name="connsiteY0" fmla="*/ 0 h 6858000"/>
                <a:gd name="connsiteX1" fmla="*/ 8112125 w 11969750"/>
                <a:gd name="connsiteY1" fmla="*/ 0 h 6858000"/>
                <a:gd name="connsiteX2" fmla="*/ 8235950 w 11969750"/>
                <a:gd name="connsiteY2" fmla="*/ 0 h 6858000"/>
                <a:gd name="connsiteX3" fmla="*/ 10683875 w 11969750"/>
                <a:gd name="connsiteY3" fmla="*/ 0 h 6858000"/>
                <a:gd name="connsiteX4" fmla="*/ 11969750 w 11969750"/>
                <a:gd name="connsiteY4" fmla="*/ 6858000 h 6858000"/>
                <a:gd name="connsiteX5" fmla="*/ 8235950 w 11969750"/>
                <a:gd name="connsiteY5" fmla="*/ 6858000 h 6858000"/>
                <a:gd name="connsiteX6" fmla="*/ 6826250 w 11969750"/>
                <a:gd name="connsiteY6" fmla="*/ 6858000 h 6858000"/>
                <a:gd name="connsiteX7" fmla="*/ 0 w 1196975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50" h="6858000">
                  <a:moveTo>
                    <a:pt x="0" y="0"/>
                  </a:moveTo>
                  <a:lnTo>
                    <a:pt x="8112125" y="0"/>
                  </a:lnTo>
                  <a:lnTo>
                    <a:pt x="8235950" y="0"/>
                  </a:lnTo>
                  <a:lnTo>
                    <a:pt x="10683875" y="0"/>
                  </a:lnTo>
                  <a:lnTo>
                    <a:pt x="11969750" y="6858000"/>
                  </a:lnTo>
                  <a:lnTo>
                    <a:pt x="8235950" y="6858000"/>
                  </a:lnTo>
                  <a:lnTo>
                    <a:pt x="682625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18212" y="0"/>
            <a:ext cx="11720942" cy="831273"/>
          </a:xfrm>
        </p:spPr>
        <p:txBody>
          <a:bodyPr>
            <a:normAutofit/>
          </a:bodyPr>
          <a:lstStyle>
            <a:lvl1pPr algn="l">
              <a:defRPr sz="4000" baseline="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Slide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52055"/>
            <a:ext cx="11720941" cy="586942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3000">
                <a:solidFill>
                  <a:srgbClr val="4D4D4D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600">
                <a:solidFill>
                  <a:srgbClr val="4D4D4D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2200">
                <a:solidFill>
                  <a:srgbClr val="4D4D4D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4D4D4D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443853" y="6424612"/>
            <a:ext cx="422564" cy="365125"/>
          </a:xfrm>
        </p:spPr>
        <p:txBody>
          <a:bodyPr/>
          <a:lstStyle/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27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572770" y="0"/>
            <a:ext cx="11619230" cy="6858000"/>
            <a:chOff x="572770" y="0"/>
            <a:chExt cx="11619230" cy="6858000"/>
          </a:xfrm>
        </p:grpSpPr>
        <p:sp>
          <p:nvSpPr>
            <p:cNvPr id="19" name="Freeform 18"/>
            <p:cNvSpPr/>
            <p:nvPr userDrawn="1"/>
          </p:nvSpPr>
          <p:spPr>
            <a:xfrm rot="10800000">
              <a:off x="572770" y="0"/>
              <a:ext cx="11619230" cy="6858000"/>
            </a:xfrm>
            <a:custGeom>
              <a:avLst/>
              <a:gdLst>
                <a:gd name="connsiteX0" fmla="*/ 11619230 w 11619230"/>
                <a:gd name="connsiteY0" fmla="*/ 6858000 h 6858000"/>
                <a:gd name="connsiteX1" fmla="*/ 7885430 w 11619230"/>
                <a:gd name="connsiteY1" fmla="*/ 6858000 h 6858000"/>
                <a:gd name="connsiteX2" fmla="*/ 6475730 w 11619230"/>
                <a:gd name="connsiteY2" fmla="*/ 6858000 h 6858000"/>
                <a:gd name="connsiteX3" fmla="*/ 0 w 11619230"/>
                <a:gd name="connsiteY3" fmla="*/ 6858000 h 6858000"/>
                <a:gd name="connsiteX4" fmla="*/ 0 w 11619230"/>
                <a:gd name="connsiteY4" fmla="*/ 0 h 6858000"/>
                <a:gd name="connsiteX5" fmla="*/ 7761605 w 11619230"/>
                <a:gd name="connsiteY5" fmla="*/ 0 h 6858000"/>
                <a:gd name="connsiteX6" fmla="*/ 7885430 w 11619230"/>
                <a:gd name="connsiteY6" fmla="*/ 0 h 6858000"/>
                <a:gd name="connsiteX7" fmla="*/ 10333355 w 1161923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9230" h="6858000">
                  <a:moveTo>
                    <a:pt x="11619230" y="6858000"/>
                  </a:moveTo>
                  <a:lnTo>
                    <a:pt x="7885430" y="6858000"/>
                  </a:lnTo>
                  <a:lnTo>
                    <a:pt x="647573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761605" y="0"/>
                  </a:lnTo>
                  <a:lnTo>
                    <a:pt x="7885430" y="0"/>
                  </a:lnTo>
                  <a:lnTo>
                    <a:pt x="1033335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Freeform 16"/>
            <p:cNvSpPr/>
            <p:nvPr userDrawn="1"/>
          </p:nvSpPr>
          <p:spPr>
            <a:xfrm rot="10800000">
              <a:off x="988060" y="0"/>
              <a:ext cx="11203940" cy="6858000"/>
            </a:xfrm>
            <a:custGeom>
              <a:avLst/>
              <a:gdLst>
                <a:gd name="connsiteX0" fmla="*/ 11203940 w 11203940"/>
                <a:gd name="connsiteY0" fmla="*/ 6858000 h 6858000"/>
                <a:gd name="connsiteX1" fmla="*/ 7470140 w 11203940"/>
                <a:gd name="connsiteY1" fmla="*/ 6858000 h 6858000"/>
                <a:gd name="connsiteX2" fmla="*/ 6060440 w 11203940"/>
                <a:gd name="connsiteY2" fmla="*/ 6858000 h 6858000"/>
                <a:gd name="connsiteX3" fmla="*/ 0 w 11203940"/>
                <a:gd name="connsiteY3" fmla="*/ 6858000 h 6858000"/>
                <a:gd name="connsiteX4" fmla="*/ 0 w 11203940"/>
                <a:gd name="connsiteY4" fmla="*/ 0 h 6858000"/>
                <a:gd name="connsiteX5" fmla="*/ 7346315 w 11203940"/>
                <a:gd name="connsiteY5" fmla="*/ 0 h 6858000"/>
                <a:gd name="connsiteX6" fmla="*/ 7470140 w 11203940"/>
                <a:gd name="connsiteY6" fmla="*/ 0 h 6858000"/>
                <a:gd name="connsiteX7" fmla="*/ 9918065 w 1120394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3940" h="6858000">
                  <a:moveTo>
                    <a:pt x="11203940" y="6858000"/>
                  </a:moveTo>
                  <a:lnTo>
                    <a:pt x="7470140" y="6858000"/>
                  </a:lnTo>
                  <a:lnTo>
                    <a:pt x="606044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346315" y="0"/>
                  </a:lnTo>
                  <a:lnTo>
                    <a:pt x="7470140" y="0"/>
                  </a:lnTo>
                  <a:lnTo>
                    <a:pt x="99180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930400" y="1709738"/>
            <a:ext cx="9906000" cy="2852737"/>
          </a:xfrm>
        </p:spPr>
        <p:txBody>
          <a:bodyPr anchor="b"/>
          <a:lstStyle>
            <a:lvl1pPr>
              <a:defRPr sz="60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Section Title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324100" y="4589463"/>
            <a:ext cx="9512300" cy="1500187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D4D4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401070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1" y="3812"/>
            <a:ext cx="12195811" cy="6854190"/>
            <a:chOff x="-1" y="3812"/>
            <a:chExt cx="12195811" cy="6854190"/>
          </a:xfrm>
        </p:grpSpPr>
        <p:sp>
          <p:nvSpPr>
            <p:cNvPr id="17" name="Freeform 16"/>
            <p:cNvSpPr/>
            <p:nvPr userDrawn="1"/>
          </p:nvSpPr>
          <p:spPr>
            <a:xfrm rot="16200000">
              <a:off x="3385185" y="-337756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6" name="Freeform 15"/>
            <p:cNvSpPr/>
            <p:nvPr userDrawn="1"/>
          </p:nvSpPr>
          <p:spPr>
            <a:xfrm rot="5400000">
              <a:off x="3381375" y="-195262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1" name="Freeform 10"/>
            <p:cNvSpPr/>
            <p:nvPr userDrawn="1"/>
          </p:nvSpPr>
          <p:spPr>
            <a:xfrm rot="5400000">
              <a:off x="3327799" y="-2236944"/>
              <a:ext cx="5536405" cy="12192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Freeform 12"/>
            <p:cNvSpPr/>
            <p:nvPr userDrawn="1"/>
          </p:nvSpPr>
          <p:spPr>
            <a:xfrm rot="16200000">
              <a:off x="5667377" y="-5433772"/>
              <a:ext cx="857250" cy="12192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" name="TextBox 2"/>
          <p:cNvSpPr txBox="1"/>
          <p:nvPr userDrawn="1"/>
        </p:nvSpPr>
        <p:spPr>
          <a:xfrm rot="21411406">
            <a:off x="0" y="266319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rgbClr val="2196F3"/>
                </a:solidFill>
                <a:latin typeface="+mj-lt"/>
              </a:rPr>
              <a:t>Questions?</a:t>
            </a:r>
            <a:endParaRPr lang="bg-BG" sz="9600" dirty="0">
              <a:solidFill>
                <a:srgbClr val="2196F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90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26A4-A17A-4698-BE1B-BA61FFEA96A2}" type="datetimeFigureOut">
              <a:rPr lang="bg-BG" smtClean="0"/>
              <a:t>16.12.2020 г.</a:t>
            </a:fld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6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96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ynjb7iv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s.nyu.edu/~fergus/papers/zeilerECCV2014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papers.nips.cc/paper/4824-imagenet-classification-with-deep-convolutional-neural-networks.pdf" TargetMode="External"/><Relationship Id="rId7" Type="http://schemas.openxmlformats.org/officeDocument/2006/relationships/image" Target="../media/image16.png"/><Relationship Id="rId2" Type="http://schemas.openxmlformats.org/officeDocument/2006/relationships/hyperlink" Target="http://yann.lecun.com/exdb/publis/pdf/lecun-01a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s://arxiv.org/abs/1409.1556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409.4842v1.pdf" TargetMode="External"/><Relationship Id="rId7" Type="http://schemas.openxmlformats.org/officeDocument/2006/relationships/image" Target="../media/image23.png"/><Relationship Id="rId2" Type="http://schemas.openxmlformats.org/officeDocument/2006/relationships/hyperlink" Target="https://arxiv.org/abs/1312.440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arxiv.org/pdf/1602.07261.pdf" TargetMode="External"/><Relationship Id="rId4" Type="http://schemas.openxmlformats.org/officeDocument/2006/relationships/hyperlink" Target="https://arxiv.org/pdf/1512.00567v3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6.02640.pdf" TargetMode="External"/><Relationship Id="rId2" Type="http://schemas.openxmlformats.org/officeDocument/2006/relationships/hyperlink" Target="https://www.pyimagesearch.com/2016/11/07/intersection-over-union-iou-for-object-detec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7.png"/><Relationship Id="rId4" Type="http://schemas.openxmlformats.org/officeDocument/2006/relationships/hyperlink" Target="https://arxiv.org/pdf/1311.2524.pdf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Image-Related</a:t>
            </a:r>
            <a:br>
              <a:rPr lang="en-US" dirty="0" smtClean="0"/>
            </a:br>
            <a:r>
              <a:rPr lang="en-US" dirty="0" smtClean="0"/>
              <a:t>Neural Networks</a:t>
            </a:r>
            <a:endParaRPr lang="bg-B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see like a human</a:t>
            </a:r>
            <a:endParaRPr lang="bg-B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Yordan Darakchiev</a:t>
            </a:r>
            <a:endParaRPr lang="bg-BG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Technical Trainer</a:t>
            </a:r>
            <a:endParaRPr lang="bg-B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iordan93@gmail.com</a:t>
            </a:r>
            <a:endParaRPr lang="bg-BG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130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sli.do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#DeepLearning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8598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Convolutional neural networks</a:t>
            </a:r>
          </a:p>
          <a:p>
            <a:pPr lvl="1"/>
            <a:r>
              <a:rPr lang="en-US" dirty="0" smtClean="0"/>
              <a:t>Operations</a:t>
            </a:r>
          </a:p>
          <a:p>
            <a:pPr lvl="1"/>
            <a:r>
              <a:rPr lang="en-US" dirty="0" smtClean="0"/>
              <a:t>Architectures</a:t>
            </a:r>
          </a:p>
          <a:p>
            <a:r>
              <a:rPr lang="en-US" dirty="0" smtClean="0"/>
              <a:t>Generalizations</a:t>
            </a:r>
          </a:p>
          <a:p>
            <a:pPr lvl="1"/>
            <a:r>
              <a:rPr lang="en-US" dirty="0" smtClean="0"/>
              <a:t>ResNet</a:t>
            </a:r>
            <a:endParaRPr lang="en-US" dirty="0"/>
          </a:p>
          <a:p>
            <a:pPr lvl="1"/>
            <a:r>
              <a:rPr lang="en-US" dirty="0" smtClean="0"/>
              <a:t>1x1 convolutions, "network-in-network"</a:t>
            </a:r>
          </a:p>
          <a:p>
            <a:pPr lvl="1"/>
            <a:r>
              <a:rPr lang="en-US" dirty="0" smtClean="0"/>
              <a:t>Object localization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178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Convolutional</a:t>
            </a:r>
            <a:br>
              <a:rPr lang="en-US" dirty="0" smtClean="0"/>
            </a:br>
            <a:r>
              <a:rPr lang="en-US" dirty="0" smtClean="0"/>
              <a:t>Neural Networks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Learning from images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1533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Convolution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Given an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 smtClean="0"/>
                  <a:t> and a filter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 is defined as</a:t>
                </a:r>
              </a:p>
              <a:p>
                <a:pPr lvl="1"/>
                <a:r>
                  <a:rPr lang="en-US" dirty="0" smtClean="0"/>
                  <a:t>For each pixel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=∑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Depending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, the result has different meanings</a:t>
                </a:r>
              </a:p>
              <a:p>
                <a:pPr lvl="1"/>
                <a:r>
                  <a:rPr lang="en-US" dirty="0" smtClean="0"/>
                  <a:t>Example: Sobel edge detection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 smtClean="0"/>
                  <a:t> is usually square,</a:t>
                </a:r>
                <a:br>
                  <a:rPr lang="en-US" dirty="0" smtClean="0"/>
                </a:br>
                <a:r>
                  <a:rPr lang="en-US" dirty="0" smtClean="0"/>
                  <a:t>with odd rank (so that it has</a:t>
                </a:r>
                <a:br>
                  <a:rPr lang="en-US" dirty="0" smtClean="0"/>
                </a:br>
                <a:r>
                  <a:rPr lang="en-US" dirty="0" smtClean="0"/>
                  <a:t>a central pixel)</a:t>
                </a:r>
              </a:p>
              <a:p>
                <a:pPr lvl="1"/>
                <a:r>
                  <a:rPr lang="en-US" dirty="0" smtClean="0"/>
                  <a:t>E.g. 3, 5, 7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5</a:t>
            </a:fld>
            <a:endParaRPr lang="bg-B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2985" y="2477739"/>
            <a:ext cx="4879590" cy="405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1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Convolution (2)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Padding</a:t>
                </a:r>
              </a:p>
              <a:p>
                <a:pPr lvl="1"/>
                <a:r>
                  <a:rPr lang="en-US" dirty="0"/>
                  <a:t>"Valid convolution": no padding</a:t>
                </a:r>
              </a:p>
              <a:p>
                <a:pPr lvl="1"/>
                <a:r>
                  <a:rPr lang="en-US" dirty="0"/>
                  <a:t>"Same convolution": pad so that</a:t>
                </a:r>
                <a:br>
                  <a:rPr lang="en-US" dirty="0"/>
                </a:br>
                <a:r>
                  <a:rPr lang="en-US" dirty="0"/>
                  <a:t>the output size remains unchanged: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– filter </a:t>
                </a:r>
                <a:r>
                  <a:rPr lang="en-US" dirty="0" smtClean="0"/>
                  <a:t>size</a:t>
                </a:r>
              </a:p>
              <a:p>
                <a:r>
                  <a:rPr lang="en-US" dirty="0" smtClean="0"/>
                  <a:t>Sliding window: 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stride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How many pixels we should skip</a:t>
                </a:r>
              </a:p>
              <a:p>
                <a:r>
                  <a:rPr lang="en-US" dirty="0" smtClean="0"/>
                  <a:t>Summary</a:t>
                </a:r>
              </a:p>
              <a:p>
                <a:pPr lvl="1"/>
                <a:r>
                  <a:rPr lang="en-US" b="0" dirty="0" smtClean="0"/>
                  <a:t>Input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 image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 filter</a:t>
                </a:r>
              </a:p>
              <a:p>
                <a:pPr lvl="2"/>
                <a:r>
                  <a:rPr lang="en-US" dirty="0" smtClean="0"/>
                  <a:t>padding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dirty="0" smtClean="0"/>
              </a:p>
              <a:p>
                <a:pPr lvl="2"/>
                <a:r>
                  <a:rPr lang="en-US" dirty="0" smtClean="0"/>
                  <a:t>stride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Output image dimensions: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If the image is non-square, adjust the dimensions in the formula</a:t>
                </a: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 t="-2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6</a:t>
            </a:fld>
            <a:endParaRPr lang="bg-BG"/>
          </a:p>
        </p:txBody>
      </p:sp>
      <p:grpSp>
        <p:nvGrpSpPr>
          <p:cNvPr id="8" name="Group 7"/>
          <p:cNvGrpSpPr/>
          <p:nvPr/>
        </p:nvGrpSpPr>
        <p:grpSpPr>
          <a:xfrm>
            <a:off x="7173883" y="544064"/>
            <a:ext cx="3374968" cy="3437731"/>
            <a:chOff x="7356763" y="560690"/>
            <a:chExt cx="3374968" cy="343773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356763" y="2238443"/>
              <a:ext cx="3266901" cy="1759978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373389" y="560690"/>
              <a:ext cx="3358342" cy="16777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968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Convolution over Volume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If the image has many channels</a:t>
                </a:r>
                <a:br>
                  <a:rPr lang="en-US" dirty="0" smtClean="0"/>
                </a:br>
                <a:r>
                  <a:rPr lang="en-US" dirty="0" smtClean="0"/>
                  <a:t>with dimensions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 smtClean="0"/>
                  <a:t>,</a:t>
                </a:r>
                <a:br>
                  <a:rPr lang="en-US" dirty="0" smtClean="0"/>
                </a:br>
                <a:r>
                  <a:rPr lang="en-US" dirty="0" smtClean="0"/>
                  <a:t>just use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2196F3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 smtClean="0"/>
                  <a:t> filter</a:t>
                </a:r>
              </a:p>
              <a:p>
                <a:pPr lvl="1"/>
                <a:r>
                  <a:rPr lang="en-US" dirty="0" smtClean="0"/>
                  <a:t>I.e. apply the operation independently </a:t>
                </a:r>
                <a:br>
                  <a:rPr lang="en-US" dirty="0" smtClean="0"/>
                </a:br>
                <a:r>
                  <a:rPr lang="en-US" dirty="0" smtClean="0"/>
                  <a:t>for each channel</a:t>
                </a:r>
              </a:p>
              <a:p>
                <a:pPr lvl="1"/>
                <a:r>
                  <a:rPr lang="en-US" dirty="0" smtClean="0"/>
                  <a:t>Result: 2D image</a:t>
                </a:r>
              </a:p>
              <a:p>
                <a:r>
                  <a:rPr lang="en-US" dirty="0" smtClean="0"/>
                  <a:t>Many filters</a:t>
                </a:r>
              </a:p>
              <a:p>
                <a:pPr lvl="1"/>
                <a:r>
                  <a:rPr lang="en-US" dirty="0" smtClean="0"/>
                  <a:t>Each one produces a 2D image</a:t>
                </a:r>
              </a:p>
              <a:p>
                <a:pPr lvl="1"/>
                <a:r>
                  <a:rPr lang="en-US" dirty="0" smtClean="0"/>
                  <a:t>Stack them together</a:t>
                </a:r>
                <a:br>
                  <a:rPr lang="en-US" dirty="0" smtClean="0"/>
                </a:br>
                <a:r>
                  <a:rPr lang="en-US" dirty="0" smtClean="0"/>
                  <a:t>(since they're independent)</a:t>
                </a:r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3D volume</a:t>
                </a:r>
                <a:br>
                  <a:rPr lang="en-US" dirty="0" smtClean="0"/>
                </a:br>
                <a:endParaRPr lang="en-US" dirty="0" smtClean="0"/>
              </a:p>
              <a:p>
                <a:r>
                  <a:rPr lang="en-US" dirty="0" smtClean="0">
                    <a:solidFill>
                      <a:srgbClr val="2196F3"/>
                    </a:solidFill>
                  </a:rPr>
                  <a:t>The convolution operations we use operate over 3D volumes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7</a:t>
            </a:fld>
            <a:endParaRPr lang="bg-B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606"/>
          <a:stretch/>
        </p:blipFill>
        <p:spPr>
          <a:xfrm>
            <a:off x="7132253" y="783793"/>
            <a:ext cx="3636191" cy="155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Convolutional Layers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Just like a regular network</a:t>
                </a:r>
              </a:p>
              <a:p>
                <a:pPr lvl="1"/>
                <a:r>
                  <a:rPr lang="en-US" dirty="0" smtClean="0"/>
                  <a:t>Input volume dimensions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 smtClean="0"/>
                  <a:t> (number of filters),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Learn each value of the filters, apply bias terms</a:t>
                </a:r>
              </a:p>
              <a:p>
                <a:pPr lvl="1"/>
                <a:r>
                  <a:rPr lang="en-US" dirty="0" smtClean="0"/>
                  <a:t>Add non-linearity (e.g. ReLU)</a:t>
                </a:r>
              </a:p>
              <a:p>
                <a:pPr lvl="2"/>
                <a:r>
                  <a:rPr lang="en-US" dirty="0" smtClean="0"/>
                  <a:t>Convolutions are linear operations</a:t>
                </a:r>
              </a:p>
              <a:p>
                <a:pPr lvl="2"/>
                <a:r>
                  <a:rPr lang="en-US" dirty="0" smtClean="0"/>
                  <a:t>Sometimes, the convolution and activation layers are shown separately</a:t>
                </a:r>
              </a:p>
              <a:p>
                <a:pPr lvl="1"/>
                <a:r>
                  <a:rPr lang="en-US" dirty="0" smtClean="0"/>
                  <a:t>Produce output volume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8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675" y="4073236"/>
            <a:ext cx="6838962" cy="264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9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Pooling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Used to reduce the number of parameters</a:t>
                </a:r>
                <a:br>
                  <a:rPr lang="en-US" dirty="0" smtClean="0"/>
                </a:br>
                <a:r>
                  <a:rPr lang="en-US" dirty="0" smtClean="0"/>
                  <a:t>in the next layers</a:t>
                </a:r>
              </a:p>
              <a:p>
                <a:r>
                  <a:rPr lang="en-US" dirty="0" smtClean="0"/>
                  <a:t>Applied like convolution</a:t>
                </a:r>
              </a:p>
              <a:p>
                <a:r>
                  <a:rPr lang="en-US" dirty="0" smtClean="0"/>
                  <a:t>Parameters: window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, stride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 smtClean="0"/>
                  <a:t>, operation</a:t>
                </a:r>
              </a:p>
              <a:p>
                <a:pPr lvl="1"/>
                <a:r>
                  <a:rPr lang="en-US" dirty="0" smtClean="0"/>
                  <a:t>Most commonly used operation: max (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max-pooling</a:t>
                </a:r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In the past: 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avg-pooling</a:t>
                </a:r>
                <a:r>
                  <a:rPr lang="en-US" dirty="0" smtClean="0"/>
                  <a:t> was also widely used</a:t>
                </a:r>
              </a:p>
              <a:p>
                <a:pPr lvl="1"/>
                <a:r>
                  <a:rPr lang="en-US" dirty="0" smtClean="0"/>
                  <a:t>Other operations are possible but uncommon</a:t>
                </a:r>
              </a:p>
              <a:p>
                <a:r>
                  <a:rPr lang="en-US" dirty="0" smtClean="0">
                    <a:solidFill>
                      <a:srgbClr val="2196F3"/>
                    </a:solidFill>
                  </a:rPr>
                  <a:t>No trainable parameters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9</a:t>
            </a:fld>
            <a:endParaRPr lang="bg-B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9232" y="4247920"/>
            <a:ext cx="4272504" cy="24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0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Convolutions Work?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Image assumptions</a:t>
            </a:r>
          </a:p>
          <a:p>
            <a:pPr lvl="1"/>
            <a:r>
              <a:rPr lang="en-US" dirty="0" smtClean="0"/>
              <a:t>Individual </a:t>
            </a:r>
            <a:r>
              <a:rPr lang="en-US" dirty="0"/>
              <a:t>f</a:t>
            </a:r>
            <a:r>
              <a:rPr lang="en-US" dirty="0" smtClean="0"/>
              <a:t>eatures are relatively localized</a:t>
            </a:r>
          </a:p>
          <a:p>
            <a:pPr lvl="1"/>
            <a:r>
              <a:rPr lang="en-US" dirty="0" smtClean="0"/>
              <a:t>The relative (not absolute) position of features is really important</a:t>
            </a:r>
          </a:p>
          <a:p>
            <a:r>
              <a:rPr lang="en-US" dirty="0" smtClean="0"/>
              <a:t>Convolutions help us to </a:t>
            </a:r>
            <a:r>
              <a:rPr lang="en-US" dirty="0" smtClean="0">
                <a:solidFill>
                  <a:srgbClr val="2196F3"/>
                </a:solidFill>
              </a:rPr>
              <a:t>share computations</a:t>
            </a:r>
          </a:p>
          <a:p>
            <a:pPr lvl="1"/>
            <a:r>
              <a:rPr lang="en-US" dirty="0" smtClean="0"/>
              <a:t>An edge detector is useful in many parts of the image</a:t>
            </a:r>
          </a:p>
          <a:p>
            <a:r>
              <a:rPr lang="en-US" dirty="0" smtClean="0"/>
              <a:t>Each filter has a </a:t>
            </a:r>
            <a:r>
              <a:rPr lang="en-US" dirty="0" smtClean="0">
                <a:solidFill>
                  <a:srgbClr val="2196F3"/>
                </a:solidFill>
              </a:rPr>
              <a:t>low-dimensional input</a:t>
            </a:r>
          </a:p>
          <a:p>
            <a:pPr lvl="1"/>
            <a:r>
              <a:rPr lang="en-US" dirty="0" smtClean="0"/>
              <a:t>Simplifies computations</a:t>
            </a:r>
            <a:endParaRPr lang="en-US" dirty="0">
              <a:hlinkClick r:id="rId2"/>
            </a:endParaRPr>
          </a:p>
          <a:p>
            <a:r>
              <a:rPr lang="en-US" dirty="0" smtClean="0">
                <a:hlinkClick r:id="rId2"/>
              </a:rPr>
              <a:t>Visualizing and Understanding Convolutional Networks,</a:t>
            </a:r>
            <a:br>
              <a:rPr lang="en-US" dirty="0" smtClean="0">
                <a:hlinkClick r:id="rId2"/>
              </a:rPr>
            </a:br>
            <a:r>
              <a:rPr lang="en-US" dirty="0" smtClean="0">
                <a:hlinkClick r:id="rId2"/>
              </a:rPr>
              <a:t>Matthew Zeiler, 2014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4810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Convolutional Layer Architecture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Input volume: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Parameters: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Filter dimensions: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 smtClean="0"/>
                  <a:t>, total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 smtClean="0"/>
                  <a:t> filters</a:t>
                </a:r>
              </a:p>
              <a:p>
                <a:r>
                  <a:rPr lang="en-US" dirty="0" smtClean="0"/>
                  <a:t>Weights, biases: like fully-connected layers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=1×1×1×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After computing, apply activation function</a:t>
                </a:r>
              </a:p>
              <a:p>
                <a:r>
                  <a:rPr lang="en-US" dirty="0" smtClean="0"/>
                  <a:t>Output volume: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1616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Convolutional Neural Networks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LeNet-5 (</a:t>
            </a:r>
            <a:r>
              <a:rPr lang="en-US" dirty="0" smtClean="0">
                <a:hlinkClick r:id="rId2"/>
              </a:rPr>
              <a:t>Yann LeCun, 1998</a:t>
            </a:r>
            <a:r>
              <a:rPr lang="en-US" dirty="0" smtClean="0"/>
              <a:t>)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AlexNet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smtClean="0">
                <a:hlinkClick r:id="rId3"/>
              </a:rPr>
              <a:t>Alex Krizhevsky, 2012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VGG-19 (</a:t>
            </a:r>
            <a:r>
              <a:rPr lang="en-US" dirty="0" smtClean="0">
                <a:hlinkClick r:id="rId4"/>
              </a:rPr>
              <a:t>Karen Simonyan, 2014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12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278" y="1276562"/>
            <a:ext cx="5341389" cy="1476894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458278" y="3228401"/>
            <a:ext cx="9634299" cy="1116728"/>
            <a:chOff x="568034" y="3697937"/>
            <a:chExt cx="11198280" cy="129801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8034" y="3740726"/>
              <a:ext cx="6339842" cy="1255223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7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09775" y="3697937"/>
              <a:ext cx="4956539" cy="1293293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278" y="4835482"/>
            <a:ext cx="3211654" cy="188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1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Generalizations</a:t>
            </a:r>
            <a:br>
              <a:rPr lang="en-US" dirty="0" smtClean="0"/>
            </a:br>
            <a:r>
              <a:rPr lang="en-US" dirty="0" smtClean="0"/>
              <a:t>and Expansions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Applying other tricks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5421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Residual Networks (ResNets)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Deeper networks allow us </a:t>
                </a:r>
                <a:br>
                  <a:rPr lang="en-US" dirty="0" smtClean="0"/>
                </a:br>
                <a:r>
                  <a:rPr lang="en-US" dirty="0" smtClean="0"/>
                  <a:t>to compute complex functions</a:t>
                </a:r>
              </a:p>
              <a:p>
                <a:pPr lvl="1"/>
                <a:r>
                  <a:rPr lang="en-US" dirty="0" smtClean="0"/>
                  <a:t>But are difficult to train </a:t>
                </a:r>
                <a:br>
                  <a:rPr lang="en-US" dirty="0" smtClean="0"/>
                </a:br>
                <a:r>
                  <a:rPr lang="en-US" dirty="0" smtClean="0"/>
                  <a:t>(e.g. vanishing gradients)</a:t>
                </a:r>
              </a:p>
              <a:p>
                <a:pPr lvl="1"/>
                <a:r>
                  <a:rPr lang="en-US" dirty="0" smtClean="0"/>
                  <a:t>The validation error increases </a:t>
                </a:r>
                <a:br>
                  <a:rPr lang="en-US" dirty="0" smtClean="0"/>
                </a:br>
                <a:r>
                  <a:rPr lang="en-US" dirty="0" smtClean="0"/>
                  <a:t>(not by overfitting)</a:t>
                </a:r>
              </a:p>
              <a:p>
                <a:r>
                  <a:rPr lang="en-US" dirty="0" smtClean="0"/>
                  <a:t>Solution: shortcut connections</a:t>
                </a:r>
              </a:p>
              <a:p>
                <a:pPr lvl="1"/>
                <a:r>
                  <a:rPr lang="en-US" dirty="0" smtClean="0"/>
                  <a:t>Pass the activation skipping 1 or more layers</a:t>
                </a:r>
              </a:p>
              <a:p>
                <a:pPr lvl="1"/>
                <a:r>
                  <a:rPr lang="en-US" dirty="0" smtClean="0"/>
                  <a:t>Reason: the identity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is really easy to learn</a:t>
                </a:r>
              </a:p>
              <a:p>
                <a:r>
                  <a:rPr lang="en-US" dirty="0" smtClean="0"/>
                  <a:t>Results</a:t>
                </a:r>
              </a:p>
              <a:p>
                <a:pPr lvl="1"/>
                <a:r>
                  <a:rPr lang="en-US" dirty="0" smtClean="0"/>
                  <a:t>ImageNet</a:t>
                </a:r>
              </a:p>
              <a:p>
                <a:pPr lvl="1"/>
                <a:r>
                  <a:rPr lang="en-US" dirty="0" smtClean="0"/>
                  <a:t>18 / 34 layers</a:t>
                </a:r>
              </a:p>
              <a:p>
                <a:pPr lvl="1"/>
                <a:r>
                  <a:rPr lang="en-US" dirty="0" smtClean="0"/>
                  <a:t>Runtime: faster than VGG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14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817" y="852055"/>
            <a:ext cx="4914900" cy="1609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8187" y="2751993"/>
            <a:ext cx="2453746" cy="15008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2749" y="4809435"/>
            <a:ext cx="5399036" cy="179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438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1x1 Convolutions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>
                    <a:hlinkClick r:id="rId2"/>
                  </a:rPr>
                  <a:t>Network in Network: Min Lin, 2013</a:t>
                </a:r>
                <a:endParaRPr lang="en-US" dirty="0" smtClean="0"/>
              </a:p>
              <a:p>
                <a:r>
                  <a:rPr lang="en-US" dirty="0" smtClean="0"/>
                  <a:t>Single filter: does nothing (scales the input image)</a:t>
                </a:r>
              </a:p>
              <a:p>
                <a:r>
                  <a:rPr lang="en-US" dirty="0" smtClean="0"/>
                  <a:t>Many filters: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1×1×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Keeps the image dimensions, changes the third dimension</a:t>
                </a:r>
              </a:p>
              <a:p>
                <a:pPr lvl="2"/>
                <a:r>
                  <a:rPr lang="en-US" dirty="0" smtClean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(28×28×192)</m:t>
                    </m:r>
                  </m:oMath>
                </a14:m>
                <a:r>
                  <a:rPr lang="en-US" dirty="0" smtClean="0"/>
                  <a:t>, 32 filters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(1×1×192)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⇒(28×28×32)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>
                    <a:solidFill>
                      <a:srgbClr val="2196F3"/>
                    </a:solidFill>
                  </a:rPr>
                  <a:t>Dimensionality reduction</a:t>
                </a:r>
              </a:p>
              <a:p>
                <a:r>
                  <a:rPr lang="en-US" dirty="0" smtClean="0"/>
                  <a:t>Inception (</a:t>
                </a:r>
                <a:r>
                  <a:rPr lang="en-US" dirty="0" smtClean="0">
                    <a:hlinkClick r:id="rId3"/>
                  </a:rPr>
                  <a:t>v1</a:t>
                </a:r>
                <a:r>
                  <a:rPr lang="en-US" dirty="0" smtClean="0"/>
                  <a:t>, </a:t>
                </a:r>
                <a:r>
                  <a:rPr lang="en-US" dirty="0" smtClean="0">
                    <a:hlinkClick r:id="rId4"/>
                  </a:rPr>
                  <a:t>v2 and v3</a:t>
                </a:r>
                <a:r>
                  <a:rPr lang="en-US" dirty="0" smtClean="0"/>
                  <a:t>, </a:t>
                </a:r>
                <a:r>
                  <a:rPr lang="en-US" dirty="0" smtClean="0">
                    <a:hlinkClick r:id="rId5"/>
                  </a:rPr>
                  <a:t>v4 and Inception-Res-Net</a:t>
                </a:r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Main idea</a:t>
                </a:r>
              </a:p>
              <a:p>
                <a:pPr lvl="2"/>
                <a:r>
                  <a:rPr lang="en-US" dirty="0" smtClean="0"/>
                  <a:t>Kernel size corresponds to "size" of features</a:t>
                </a:r>
              </a:p>
              <a:p>
                <a:pPr lvl="2"/>
                <a:r>
                  <a:rPr lang="en-US" dirty="0" smtClean="0"/>
                  <a:t>We can't know the kernel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/>
                  <a:t>,</a:t>
                </a:r>
                <a:br>
                  <a:rPr lang="en-US" dirty="0" smtClean="0"/>
                </a:br>
                <a:r>
                  <a:rPr lang="en-US" dirty="0" smtClean="0"/>
                  <a:t> so try many sizes and let the network </a:t>
                </a:r>
                <a:br>
                  <a:rPr lang="en-US" dirty="0" smtClean="0"/>
                </a:br>
                <a:r>
                  <a:rPr lang="en-US" dirty="0" smtClean="0"/>
                  <a:t>decide what's most useful</a:t>
                </a:r>
              </a:p>
              <a:p>
                <a:pPr lvl="1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15</a:t>
            </a:fld>
            <a:endParaRPr lang="bg-BG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76703" y="4297359"/>
            <a:ext cx="4668982" cy="224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0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Inception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60368"/>
            <a:ext cx="11720941" cy="5869420"/>
          </a:xfrm>
        </p:spPr>
        <p:txBody>
          <a:bodyPr>
            <a:normAutofit/>
          </a:bodyPr>
          <a:lstStyle/>
          <a:p>
            <a:r>
              <a:rPr lang="en-US" dirty="0" smtClean="0"/>
              <a:t>Problem: lots of computations</a:t>
            </a:r>
          </a:p>
          <a:p>
            <a:pPr lvl="1"/>
            <a:r>
              <a:rPr lang="en-US" dirty="0" smtClean="0"/>
              <a:t>Solution: dimensionality reduction </a:t>
            </a:r>
            <a:br>
              <a:rPr lang="en-US" dirty="0" smtClean="0"/>
            </a:br>
            <a:r>
              <a:rPr lang="en-US" dirty="0" smtClean="0"/>
              <a:t>before each convolution</a:t>
            </a:r>
          </a:p>
          <a:p>
            <a:pPr lvl="1"/>
            <a:r>
              <a:rPr lang="en-US" dirty="0" smtClean="0"/>
              <a:t>"Inception block"</a:t>
            </a:r>
          </a:p>
          <a:p>
            <a:r>
              <a:rPr lang="en-US" dirty="0" smtClean="0"/>
              <a:t>GoogLeNet: 9 inception modules</a:t>
            </a:r>
          </a:p>
          <a:p>
            <a:r>
              <a:rPr lang="en-US" dirty="0" smtClean="0"/>
              <a:t>Inception-Res-Net</a:t>
            </a:r>
          </a:p>
          <a:p>
            <a:pPr lvl="1"/>
            <a:r>
              <a:rPr lang="en-US" dirty="0" smtClean="0"/>
              <a:t>A simple combination</a:t>
            </a:r>
            <a:br>
              <a:rPr lang="en-US" dirty="0" smtClean="0"/>
            </a:br>
            <a:r>
              <a:rPr lang="en-US" dirty="0" smtClean="0"/>
              <a:t>of the two concepts</a:t>
            </a:r>
          </a:p>
          <a:p>
            <a:pPr lvl="1"/>
            <a:r>
              <a:rPr lang="en-US" dirty="0" smtClean="0"/>
              <a:t>Idea: create a deeper</a:t>
            </a:r>
            <a:br>
              <a:rPr lang="en-US" dirty="0" smtClean="0"/>
            </a:br>
            <a:r>
              <a:rPr lang="en-US" dirty="0" smtClean="0"/>
              <a:t>inception block, </a:t>
            </a:r>
            <a:br>
              <a:rPr lang="en-US" dirty="0" smtClean="0"/>
            </a:br>
            <a:r>
              <a:rPr lang="en-US" dirty="0" smtClean="0"/>
              <a:t>simplifying learning</a:t>
            </a:r>
            <a:br>
              <a:rPr lang="en-US" dirty="0" smtClean="0"/>
            </a:br>
            <a:r>
              <a:rPr lang="en-US" dirty="0" smtClean="0"/>
              <a:t>through a ResNet connection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16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50923" y="415636"/>
            <a:ext cx="4355869" cy="22945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1708" y="3331956"/>
            <a:ext cx="2803119" cy="27677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7401" y="2886694"/>
            <a:ext cx="1617580" cy="383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3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Localization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Input: image; output: bounding box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Regression</a:t>
                </a:r>
              </a:p>
              <a:p>
                <a:r>
                  <a:rPr lang="en-US" dirty="0" smtClean="0"/>
                  <a:t>Classification and localization</a:t>
                </a:r>
              </a:p>
              <a:p>
                <a:pPr lvl="1"/>
                <a:r>
                  <a:rPr lang="en-US" dirty="0" smtClean="0"/>
                  <a:t>Simplest case: 1 object</a:t>
                </a:r>
              </a:p>
              <a:p>
                <a:pPr lvl="1"/>
                <a:r>
                  <a:rPr lang="en-US" dirty="0"/>
                  <a:t>O</a:t>
                </a:r>
                <a:r>
                  <a:rPr lang="en-US" dirty="0" smtClean="0"/>
                  <a:t>utput a vector: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no object detected; we don't care about the other numbers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=1⇒</m:t>
                    </m:r>
                  </m:oMath>
                </a14:m>
                <a:r>
                  <a:rPr lang="en-US" dirty="0" smtClean="0"/>
                  <a:t> object detected; class: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; bounding box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Metrics: usually </a:t>
                </a:r>
                <a:r>
                  <a:rPr lang="en-US" dirty="0" smtClean="0">
                    <a:hlinkClick r:id="rId2"/>
                  </a:rPr>
                  <a:t>IoU</a:t>
                </a:r>
                <a:r>
                  <a:rPr lang="en-US" dirty="0" smtClean="0"/>
                  <a:t> (or Euclidean distance)</a:t>
                </a:r>
              </a:p>
              <a:p>
                <a:r>
                  <a:rPr lang="en-US" dirty="0" smtClean="0"/>
                  <a:t>Implementations: </a:t>
                </a:r>
                <a:r>
                  <a:rPr lang="en-US" dirty="0" smtClean="0">
                    <a:hlinkClick r:id="rId3"/>
                  </a:rPr>
                  <a:t>YOLO</a:t>
                </a: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(You Only Look Once)</a:t>
                </a:r>
              </a:p>
              <a:p>
                <a:pPr lvl="1"/>
                <a:r>
                  <a:rPr lang="en-US" dirty="0" smtClean="0"/>
                  <a:t>Also: </a:t>
                </a:r>
                <a:r>
                  <a:rPr lang="en-US" dirty="0" smtClean="0">
                    <a:hlinkClick r:id="rId4"/>
                  </a:rPr>
                  <a:t>R-CNN</a:t>
                </a:r>
                <a:r>
                  <a:rPr lang="en-US" dirty="0" smtClean="0"/>
                  <a:t/>
                </a:r>
                <a:br>
                  <a:rPr lang="en-US" dirty="0" smtClean="0"/>
                </a:br>
                <a:r>
                  <a:rPr lang="en-US" dirty="0" smtClean="0"/>
                  <a:t>(Region-proposing network)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17</a:t>
            </a:fld>
            <a:endParaRPr lang="bg-B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94" y="4345593"/>
            <a:ext cx="4020588" cy="226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0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Convolutional </a:t>
            </a:r>
            <a:r>
              <a:rPr lang="en-US" dirty="0"/>
              <a:t>neural networks</a:t>
            </a:r>
          </a:p>
          <a:p>
            <a:pPr lvl="1"/>
            <a:r>
              <a:rPr lang="en-US" dirty="0"/>
              <a:t>Operations</a:t>
            </a:r>
          </a:p>
          <a:p>
            <a:pPr lvl="1"/>
            <a:r>
              <a:rPr lang="en-US" dirty="0"/>
              <a:t>Architectures</a:t>
            </a:r>
          </a:p>
          <a:p>
            <a:r>
              <a:rPr lang="en-US" dirty="0"/>
              <a:t>Generalizations</a:t>
            </a:r>
          </a:p>
          <a:p>
            <a:pPr lvl="1"/>
            <a:r>
              <a:rPr lang="en-US" dirty="0"/>
              <a:t>ResNet</a:t>
            </a:r>
          </a:p>
          <a:p>
            <a:pPr lvl="1"/>
            <a:r>
              <a:rPr lang="en-US" dirty="0"/>
              <a:t>1x1 convolutions, "network-in-network"</a:t>
            </a:r>
          </a:p>
          <a:p>
            <a:pPr lvl="1"/>
            <a:r>
              <a:rPr lang="en-US" dirty="0"/>
              <a:t>Object </a:t>
            </a:r>
            <a:r>
              <a:rPr lang="en-US" dirty="0" smtClean="0"/>
              <a:t>localization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9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2D89"/>
      </a:hlink>
      <a:folHlink>
        <a:srgbClr val="002060"/>
      </a:folHlink>
    </a:clrScheme>
    <a:fontScheme name="Modern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335</Words>
  <Application>Microsoft Office PowerPoint</Application>
  <PresentationFormat>Widescreen</PresentationFormat>
  <Paragraphs>155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Lato</vt:lpstr>
      <vt:lpstr>Montserrat Medium</vt:lpstr>
      <vt:lpstr>Open Sans</vt:lpstr>
      <vt:lpstr>Wingdings</vt:lpstr>
      <vt:lpstr>Office Theme</vt:lpstr>
      <vt:lpstr>Image-Related Neural Networks</vt:lpstr>
      <vt:lpstr>sli.do #DeepLearning</vt:lpstr>
      <vt:lpstr>Table of Contents</vt:lpstr>
      <vt:lpstr>Convolutional Neural Networks</vt:lpstr>
      <vt:lpstr>Convolution</vt:lpstr>
      <vt:lpstr>Convolution (2)</vt:lpstr>
      <vt:lpstr>Convolution over Volume</vt:lpstr>
      <vt:lpstr>Convolutional Layers</vt:lpstr>
      <vt:lpstr>Pooling</vt:lpstr>
      <vt:lpstr>Why Do Convolutions Work?</vt:lpstr>
      <vt:lpstr>Convolutional Layer Architecture</vt:lpstr>
      <vt:lpstr>Convolutional Neural Networks</vt:lpstr>
      <vt:lpstr>Generalizations and Expansions</vt:lpstr>
      <vt:lpstr>Residual Networks (ResNets)</vt:lpstr>
      <vt:lpstr>1x1 Convolutions</vt:lpstr>
      <vt:lpstr>Inception</vt:lpstr>
      <vt:lpstr>Object Localization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 Darakchiev</dc:creator>
  <cp:lastModifiedBy>Yordan Darakchiev</cp:lastModifiedBy>
  <cp:revision>141</cp:revision>
  <dcterms:created xsi:type="dcterms:W3CDTF">2017-09-11T12:40:37Z</dcterms:created>
  <dcterms:modified xsi:type="dcterms:W3CDTF">2020-12-16T15:53:54Z</dcterms:modified>
</cp:coreProperties>
</file>