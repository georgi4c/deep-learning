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9" r:id="rId3"/>
    <p:sldId id="262" r:id="rId4"/>
    <p:sldId id="263" r:id="rId5"/>
    <p:sldId id="315" r:id="rId6"/>
    <p:sldId id="322" r:id="rId7"/>
    <p:sldId id="321" r:id="rId8"/>
    <p:sldId id="323" r:id="rId9"/>
    <p:sldId id="324" r:id="rId10"/>
    <p:sldId id="318" r:id="rId11"/>
    <p:sldId id="320" r:id="rId12"/>
    <p:sldId id="319" r:id="rId13"/>
    <p:sldId id="316" r:id="rId14"/>
    <p:sldId id="317" r:id="rId15"/>
    <p:sldId id="325" r:id="rId16"/>
    <p:sldId id="326" r:id="rId17"/>
    <p:sldId id="327" r:id="rId18"/>
    <p:sldId id="328" r:id="rId19"/>
    <p:sldId id="304" r:id="rId20"/>
    <p:sldId id="261" r:id="rId2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20.1.2021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chzhang/colorization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github.com/carpedm20/pixel-rnn-tensorflo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magenta.tensorflow.org/" TargetMode="External"/><Relationship Id="rId4" Type="http://schemas.openxmlformats.org/officeDocument/2006/relationships/hyperlink" Target="https://github.com/tensorlayer/srga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-science-group-iitr/artistic-style-transfer-with-convolutional-neural-network-7ce2476039fd" TargetMode="External"/><Relationship Id="rId2" Type="http://schemas.openxmlformats.org/officeDocument/2006/relationships/hyperlink" Target="https://www.cv-foundation.org/openaccess/content_cvpr_2016/papers/Gatys_Image_Style_Transfer_CVPR_2016_pape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edium.com/tensorflow/neural-style-transfer-creating-art-with-deep-learning-using-tf-keras-and-eager-execution-7d541ac3139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bpath/Keras_music_gereration" TargetMode="External"/><Relationship Id="rId2" Type="http://schemas.openxmlformats.org/officeDocument/2006/relationships/hyperlink" Target="https://medium.com/@shivambansal36/language-modelling-text-generation-using-lstms-deep-learning-for-nlp-ed36b224b27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carpedm20/pixel-rnn-tensorflow" TargetMode="External"/><Relationship Id="rId4" Type="http://schemas.openxmlformats.org/officeDocument/2006/relationships/hyperlink" Target="https://magenta.tensorflow.org/2016/07/15/lookback-rnn-attention-rnn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810.00597v1.pdf" TargetMode="External"/><Relationship Id="rId3" Type="http://schemas.openxmlformats.org/officeDocument/2006/relationships/hyperlink" Target="https://github.com/kvfrans/variational-autoencoder" TargetMode="External"/><Relationship Id="rId7" Type="http://schemas.openxmlformats.org/officeDocument/2006/relationships/hyperlink" Target="https://arxiv.org/pdf/1802.06847.pdf" TargetMode="External"/><Relationship Id="rId2" Type="http://schemas.openxmlformats.org/officeDocument/2006/relationships/hyperlink" Target="https://en.wikipedia.org/wiki/Kullback%E2%80%93Leibler_diverg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1806.03107.pdf" TargetMode="External"/><Relationship Id="rId5" Type="http://schemas.openxmlformats.org/officeDocument/2006/relationships/hyperlink" Target="https://nips2017creativity.github.io/doc/Hierarchical_Variational_Autoencoders_for_Music.pdf" TargetMode="External"/><Relationship Id="rId4" Type="http://schemas.openxmlformats.org/officeDocument/2006/relationships/hyperlink" Target="https://jmetzen.github.io/2015-11-27/vae.html" TargetMode="External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rxiv.org/pdf/1412.6572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rxiv.org/pdf/1406.266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freecodecamp.org/an-intuitive-introduction-to-generative-adversarial-networks-gans-7a2264a81394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s://github.com/eriklindernoren/Keras-GA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github.com/soumith/ganhacks" TargetMode="External"/><Relationship Id="rId4" Type="http://schemas.openxmlformats.org/officeDocument/2006/relationships/hyperlink" Target="https://github.com/nashory/gans-awesome-application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Generative Models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Generating novel data, adversarial training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7812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Generative models: basics</a:t>
            </a:r>
          </a:p>
          <a:p>
            <a:r>
              <a:rPr lang="en-US" dirty="0" smtClean="0"/>
              <a:t>Unsupervised data generation</a:t>
            </a:r>
          </a:p>
          <a:p>
            <a:pPr lvl="1"/>
            <a:r>
              <a:rPr lang="en-US" dirty="0" smtClean="0"/>
              <a:t>Style transfer</a:t>
            </a:r>
          </a:p>
          <a:p>
            <a:pPr lvl="1"/>
            <a:r>
              <a:rPr lang="en-US" dirty="0" smtClean="0"/>
              <a:t>Generating sequences</a:t>
            </a:r>
          </a:p>
          <a:p>
            <a:pPr lvl="1"/>
            <a:r>
              <a:rPr lang="en-US" dirty="0" smtClean="0"/>
              <a:t>Variational autoencoders</a:t>
            </a:r>
          </a:p>
          <a:p>
            <a:r>
              <a:rPr lang="en-US" dirty="0" smtClean="0"/>
              <a:t>Generative adversarial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Models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Laying out the basics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Models Overview</a:t>
            </a:r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Supervised learning: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 smtClean="0"/>
              </a:p>
              <a:p>
                <a:r>
                  <a:rPr lang="en-US" dirty="0" smtClean="0"/>
                  <a:t>Unsupervised learning: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 describes structure</a:t>
                </a:r>
              </a:p>
              <a:p>
                <a:r>
                  <a:rPr lang="en-US" dirty="0" smtClean="0"/>
                  <a:t>Generative models intuition</a:t>
                </a:r>
              </a:p>
              <a:p>
                <a:pPr lvl="1"/>
                <a:r>
                  <a:rPr lang="en-US" dirty="0" smtClean="0"/>
                  <a:t>Learn the distribution of training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Make the model output new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 "similar"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In other words: after training, make a model: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Examples</a:t>
                </a:r>
              </a:p>
              <a:p>
                <a:pPr lvl="1"/>
                <a:r>
                  <a:rPr lang="en-US" dirty="0" smtClean="0">
                    <a:hlinkClick r:id="rId2"/>
                  </a:rPr>
                  <a:t>PixelRNN / PixelCNN</a:t>
                </a:r>
                <a:r>
                  <a:rPr lang="en-US" dirty="0" smtClean="0"/>
                  <a:t> – image completion</a:t>
                </a:r>
              </a:p>
              <a:p>
                <a:pPr lvl="1"/>
                <a:r>
                  <a:rPr lang="en-US" dirty="0" smtClean="0">
                    <a:hlinkClick r:id="rId3"/>
                  </a:rPr>
                  <a:t>DCGAN Image colorization</a:t>
                </a:r>
                <a:endParaRPr lang="en-US" dirty="0" smtClean="0"/>
              </a:p>
              <a:p>
                <a:pPr lvl="1"/>
                <a:r>
                  <a:rPr lang="en-US" dirty="0" smtClean="0">
                    <a:hlinkClick r:id="rId4"/>
                  </a:rPr>
                  <a:t>SRGAN</a:t>
                </a:r>
                <a:r>
                  <a:rPr lang="en-US" dirty="0" smtClean="0"/>
                  <a:t> – "super resolution"</a:t>
                </a:r>
              </a:p>
              <a:p>
                <a:pPr lvl="1"/>
                <a:r>
                  <a:rPr lang="en-US" dirty="0" smtClean="0"/>
                  <a:t>Sequence generation: words, </a:t>
                </a:r>
                <a:r>
                  <a:rPr lang="en-US" dirty="0" smtClean="0">
                    <a:hlinkClick r:id="rId5"/>
                  </a:rPr>
                  <a:t>music</a:t>
                </a:r>
                <a:r>
                  <a:rPr lang="en-US" dirty="0" smtClean="0"/>
                  <a:t>, etc.; seq2seq models</a:t>
                </a:r>
              </a:p>
              <a:p>
                <a:pPr lvl="1"/>
                <a:r>
                  <a:rPr lang="en-US" dirty="0" smtClean="0"/>
                  <a:t>Time series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planning (reinforcement learning)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497" y="4838005"/>
            <a:ext cx="1716179" cy="66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8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Style Transfer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hlinkClick r:id="rId2"/>
                  </a:rPr>
                  <a:t>Gatys et al., 2016</a:t>
                </a:r>
                <a:endParaRPr lang="en-US" dirty="0" smtClean="0"/>
              </a:p>
              <a:p>
                <a:r>
                  <a:rPr lang="en-US" dirty="0" smtClean="0">
                    <a:hlinkClick r:id="rId3"/>
                  </a:rPr>
                  <a:t>A tutorial</a:t>
                </a:r>
                <a:endParaRPr lang="en-US" dirty="0" smtClean="0"/>
              </a:p>
              <a:p>
                <a:r>
                  <a:rPr lang="en-US" dirty="0" smtClean="0"/>
                  <a:t>Objective</a:t>
                </a:r>
              </a:p>
              <a:p>
                <a:pPr lvl="1"/>
                <a:r>
                  <a:rPr lang="en-US" dirty="0" smtClean="0"/>
                  <a:t>Input</a:t>
                </a:r>
              </a:p>
              <a:p>
                <a:pPr lvl="2"/>
                <a:r>
                  <a:rPr lang="en-US" dirty="0" smtClean="0"/>
                  <a:t>Content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, style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Output: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with the content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and style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Start with a trained model (e.g. VGG-19) and train it further</a:t>
                </a:r>
              </a:p>
              <a:p>
                <a:r>
                  <a:rPr lang="en-US" dirty="0" smtClean="0"/>
                  <a:t>Loss function</a:t>
                </a:r>
              </a:p>
              <a:p>
                <a:pPr lvl="1"/>
                <a:r>
                  <a:rPr lang="en-US" dirty="0" smtClean="0"/>
                  <a:t>Content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Style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Total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0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– numbers (relative contributions of the content and style)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32" y="783793"/>
            <a:ext cx="5925990" cy="177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Style Transfer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Content loss function</a:t>
                </a:r>
              </a:p>
              <a:p>
                <a:pPr lvl="1"/>
                <a:r>
                  <a:rPr lang="en-US" dirty="0"/>
                  <a:t>E</a:t>
                </a:r>
                <a:r>
                  <a:rPr lang="en-US" dirty="0" smtClean="0"/>
                  <a:t>xtract activations from some middle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Intuition</a:t>
                </a:r>
              </a:p>
              <a:p>
                <a:pPr lvl="2"/>
                <a:r>
                  <a:rPr lang="en-US" dirty="0" smtClean="0"/>
                  <a:t>First layer: will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to have very similar pixels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Last layer: "if there's a dog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, draw a dog somewhere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"</a:t>
                </a:r>
              </a:p>
              <a:p>
                <a:pPr lvl="2"/>
                <a:r>
                  <a:rPr lang="en-US" dirty="0" smtClean="0"/>
                  <a:t>Therefore, it's better to choose a layer in between</a:t>
                </a:r>
              </a:p>
              <a:p>
                <a:pPr lvl="3"/>
                <a:r>
                  <a:rPr lang="en-US" dirty="0" smtClean="0"/>
                  <a:t>Even better, treat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 as a hyperparameter and try out a few architectures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𝑐𝑜𝑛𝑡𝑒𝑛𝑡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b="0" i="1" dirty="0" smtClean="0">
                  <a:solidFill>
                    <a:srgbClr val="2196F3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– original image,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– generated image</a:t>
                </a:r>
              </a:p>
              <a:p>
                <a:pPr lvl="1"/>
                <a:r>
                  <a:rPr lang="en-US" dirty="0" smtClean="0"/>
                  <a:t>Pass 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to the trained network</a:t>
                </a:r>
              </a:p>
              <a:p>
                <a:pPr lvl="2"/>
                <a:r>
                  <a:rPr lang="en-US" dirty="0" smtClean="0"/>
                  <a:t>You may not propagate them fully to save time</a:t>
                </a:r>
              </a:p>
              <a:p>
                <a:pPr lvl="2"/>
                <a:r>
                  <a:rPr lang="en-US" dirty="0" smtClean="0"/>
                  <a:t>Take the output activations from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3"/>
                <a:r>
                  <a:rPr lang="en-US" dirty="0" smtClean="0"/>
                  <a:t>These are 3D volumes</a:t>
                </a:r>
              </a:p>
              <a:p>
                <a:pPr lvl="2"/>
                <a:r>
                  <a:rPr lang="en-US" dirty="0" smtClean="0"/>
                  <a:t>Apply MSE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4625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Style Transfer (3)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Style loss function</a:t>
                </a:r>
              </a:p>
              <a:p>
                <a:r>
                  <a:rPr lang="en-US" dirty="0" smtClean="0"/>
                  <a:t>How do we define style?</a:t>
                </a:r>
              </a:p>
              <a:p>
                <a:pPr lvl="1"/>
                <a:r>
                  <a:rPr lang="en-US" dirty="0" smtClean="0"/>
                  <a:t>Correlations between different filter responses</a:t>
                </a:r>
              </a:p>
              <a:p>
                <a:pPr lvl="2"/>
                <a:r>
                  <a:rPr lang="en-US" dirty="0" smtClean="0"/>
                  <a:t>If we look at the activations </a:t>
                </a:r>
                <a:br>
                  <a:rPr lang="en-US" dirty="0" smtClean="0"/>
                </a:br>
                <a:r>
                  <a:rPr lang="en-US" dirty="0" smtClean="0"/>
                  <a:t>at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, they will have the </a:t>
                </a:r>
                <a:br>
                  <a:rPr lang="en-US" dirty="0" smtClean="0"/>
                </a:br>
                <a:r>
                  <a:rPr lang="en-US" dirty="0" smtClean="0"/>
                  <a:t>same style if they are correlated</a:t>
                </a:r>
              </a:p>
              <a:p>
                <a:pPr lvl="2"/>
                <a:r>
                  <a:rPr lang="en-US" dirty="0" smtClean="0"/>
                  <a:t>Style matrix (Gram matrix): </a:t>
                </a:r>
                <a:br>
                  <a:rPr lang="en-US" dirty="0" smtClean="0"/>
                </a:br>
                <a:r>
                  <a:rPr lang="en-US" dirty="0" smtClean="0"/>
                  <a:t>all dot products</a:t>
                </a:r>
              </a:p>
              <a:p>
                <a:pPr lvl="3"/>
                <a:r>
                  <a:rPr lang="en-US" dirty="0" smtClean="0"/>
                  <a:t>Diagonal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dirty="0" smtClean="0"/>
                  <a:t>: how powerful each filter is</a:t>
                </a:r>
              </a:p>
              <a:p>
                <a:pPr lvl="3"/>
                <a:r>
                  <a:rPr lang="en-US" dirty="0" smtClean="0"/>
                  <a:t>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: how correlated filters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are</a:t>
                </a:r>
              </a:p>
              <a:p>
                <a:pPr lvl="1"/>
                <a:r>
                  <a:rPr lang="en-US" dirty="0" smtClean="0"/>
                  <a:t>Compute style matrices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b="0" dirty="0" smtClean="0"/>
                  <a:t>, minimize the distance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Style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Styl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Combine for many layers (with weights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𝑠𝑡𝑦𝑙𝑒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2196F3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Style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i="1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2196F3"/>
                                </a:solidFill>
                                <a:latin typeface="Cambria Math" panose="02040503050406030204" pitchFamily="18" charset="0"/>
                              </a:rPr>
                              <m:t>Styl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2196F3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2196F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597" y="2285458"/>
            <a:ext cx="5029199" cy="166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Style Transfer (4)</a:t>
            </a:r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Training</a:t>
                </a:r>
              </a:p>
              <a:p>
                <a:pPr lvl="1"/>
                <a:r>
                  <a:rPr lang="en-US" dirty="0" smtClean="0"/>
                  <a:t>Load the content and style images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Generate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randomly</a:t>
                </a:r>
              </a:p>
              <a:p>
                <a:pPr lvl="1"/>
                <a:r>
                  <a:rPr lang="en-US" dirty="0" smtClean="0"/>
                  <a:t>Load the trained model (e.g. VGG-19)</a:t>
                </a:r>
              </a:p>
              <a:p>
                <a:pPr lvl="1"/>
                <a:r>
                  <a:rPr lang="en-US" dirty="0" smtClean="0"/>
                  <a:t>Pass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through the model, compute total loss</a:t>
                </a:r>
              </a:p>
              <a:p>
                <a:r>
                  <a:rPr lang="en-US" dirty="0" smtClean="0"/>
                  <a:t>Minimize total loss: standard optimization problem</a:t>
                </a:r>
              </a:p>
              <a:p>
                <a:pPr lvl="1"/>
                <a:r>
                  <a:rPr lang="en-US" dirty="0" smtClean="0"/>
                  <a:t>Freeze all layers in VGG-19</a:t>
                </a:r>
              </a:p>
              <a:p>
                <a:pPr lvl="2"/>
                <a:r>
                  <a:rPr lang="en-US" dirty="0" smtClean="0"/>
                  <a:t>This will change </a:t>
                </a:r>
                <a:r>
                  <a:rPr lang="en-US" b="1" dirty="0" smtClean="0">
                    <a:solidFill>
                      <a:srgbClr val="2196F3"/>
                    </a:solidFill>
                  </a:rPr>
                  <a:t>the pixel values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 smtClean="0"/>
                  <a:t> to minimize the loss,</a:t>
                </a:r>
                <a:br>
                  <a:rPr lang="en-US" dirty="0" smtClean="0"/>
                </a:br>
                <a:r>
                  <a:rPr lang="en-US" b="1" dirty="0" smtClean="0"/>
                  <a:t>NOT the weights</a:t>
                </a:r>
                <a:r>
                  <a:rPr lang="en-US" dirty="0" smtClean="0"/>
                  <a:t> of the trained model</a:t>
                </a:r>
              </a:p>
              <a:p>
                <a:r>
                  <a:rPr lang="en-US" dirty="0" smtClean="0"/>
                  <a:t>Obtaining a result</a:t>
                </a:r>
              </a:p>
              <a:p>
                <a:pPr lvl="1"/>
                <a:r>
                  <a:rPr lang="en-US" dirty="0" smtClean="0"/>
                  <a:t>Take the updated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Style transfer in </a:t>
                </a:r>
                <a:r>
                  <a:rPr lang="en-US" dirty="0" smtClean="0">
                    <a:latin typeface="Consolas" panose="020B0609020204030204" pitchFamily="49" charset="0"/>
                  </a:rPr>
                  <a:t>tensorflow</a:t>
                </a:r>
              </a:p>
              <a:p>
                <a:pPr lvl="1"/>
                <a:r>
                  <a:rPr lang="en-US" dirty="0">
                    <a:hlinkClick r:id="rId2"/>
                  </a:rPr>
                  <a:t>An in-depth </a:t>
                </a:r>
                <a:r>
                  <a:rPr lang="en-US" dirty="0" smtClean="0">
                    <a:hlinkClick r:id="rId2"/>
                  </a:rPr>
                  <a:t>tutorial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 b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732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Generators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Sampling novel sequences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106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Generation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We've already seen this</a:t>
            </a:r>
          </a:p>
          <a:p>
            <a:pPr lvl="1"/>
            <a:r>
              <a:rPr lang="en-US" dirty="0" smtClean="0">
                <a:hlinkClick r:id="rId2"/>
              </a:rPr>
              <a:t>Language modelling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Music generation</a:t>
            </a:r>
            <a:r>
              <a:rPr lang="en-US" dirty="0" smtClean="0"/>
              <a:t>, </a:t>
            </a:r>
            <a:r>
              <a:rPr lang="en-US" dirty="0" smtClean="0">
                <a:hlinkClick r:id="rId4"/>
              </a:rPr>
              <a:t>more music generation</a:t>
            </a:r>
            <a:r>
              <a:rPr lang="en-US" dirty="0" smtClean="0"/>
              <a:t> (Magenta)</a:t>
            </a:r>
          </a:p>
          <a:p>
            <a:pPr lvl="1"/>
            <a:r>
              <a:rPr lang="en-US" dirty="0" smtClean="0">
                <a:hlinkClick r:id="rId5"/>
              </a:rPr>
              <a:t>Image completion (PixelRNN</a:t>
            </a:r>
            <a:r>
              <a:rPr lang="en-US" dirty="0" smtClean="0"/>
              <a:t>)</a:t>
            </a:r>
          </a:p>
          <a:p>
            <a:r>
              <a:rPr lang="en-US" dirty="0" smtClean="0"/>
              <a:t>Training</a:t>
            </a:r>
          </a:p>
          <a:p>
            <a:pPr lvl="1"/>
            <a:r>
              <a:rPr lang="en-US" dirty="0" smtClean="0"/>
              <a:t>As usual, train a one-to-many RNN model</a:t>
            </a:r>
          </a:p>
          <a:p>
            <a:pPr lvl="1"/>
            <a:r>
              <a:rPr lang="en-US" dirty="0" smtClean="0"/>
              <a:t>Maximize the likelihood of input data (Bayes)</a:t>
            </a:r>
          </a:p>
          <a:p>
            <a:r>
              <a:rPr lang="en-US" dirty="0" smtClean="0"/>
              <a:t>Generation</a:t>
            </a:r>
          </a:p>
          <a:p>
            <a:pPr lvl="1"/>
            <a:r>
              <a:rPr lang="en-US" dirty="0" smtClean="0"/>
              <a:t>Use a seed input (e.g. initial words, or a partial picture), predict next</a:t>
            </a:r>
          </a:p>
          <a:p>
            <a:pPr lvl="2"/>
            <a:r>
              <a:rPr lang="en-US" dirty="0" smtClean="0"/>
              <a:t>Continue until the end (e.g. [.] / &lt;EOS&gt; character or until the picture is done)</a:t>
            </a:r>
          </a:p>
          <a:p>
            <a:r>
              <a:rPr lang="en-US" dirty="0" smtClean="0"/>
              <a:t>Drawback: generation can be slow</a:t>
            </a:r>
            <a:endParaRPr lang="en-US" dirty="0"/>
          </a:p>
          <a:p>
            <a:pPr lvl="1"/>
            <a:r>
              <a:rPr lang="en-US" dirty="0" smtClean="0"/>
              <a:t>Especially if we augment it by using beam search</a:t>
            </a:r>
            <a:br>
              <a:rPr lang="en-US" dirty="0" smtClean="0"/>
            </a:br>
            <a:r>
              <a:rPr lang="en-US" dirty="0" smtClean="0"/>
              <a:t>or a similar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041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Variational Autoencoders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Autoencoders with a simple trick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3800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Variational Autoencoders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Train an AE; throw away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Try getting an output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Pass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dirty="0" smtClean="0"/>
                  <a:t> to the decoder</a:t>
                </a:r>
              </a:p>
              <a:p>
                <a:pPr lvl="2"/>
                <a:r>
                  <a:rPr lang="en-US" dirty="0" smtClean="0"/>
                  <a:t>Won't generate different samples :(</a:t>
                </a:r>
              </a:p>
              <a:p>
                <a:pPr lvl="1"/>
                <a:r>
                  <a:rPr lang="en-US" dirty="0" smtClean="0"/>
                  <a:t>Pass random values</a:t>
                </a:r>
              </a:p>
              <a:p>
                <a:pPr lvl="2"/>
                <a:r>
                  <a:rPr lang="en-US" dirty="0"/>
                  <a:t>P</a:t>
                </a:r>
                <a:r>
                  <a:rPr lang="en-US" dirty="0" smtClean="0"/>
                  <a:t>roduces random noise at output :(</a:t>
                </a:r>
              </a:p>
              <a:p>
                <a:r>
                  <a:rPr lang="en-US" dirty="0" smtClean="0"/>
                  <a:t>How to create latent vectors so the AE works properly?</a:t>
                </a:r>
              </a:p>
              <a:p>
                <a:pPr lvl="1"/>
                <a:r>
                  <a:rPr lang="en-US" dirty="0" smtClean="0"/>
                  <a:t>Constrain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 smtClean="0"/>
                  <a:t> to produce specific vectors,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You have now created a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variational autoencoder</a:t>
                </a:r>
                <a:r>
                  <a:rPr lang="en-US" dirty="0" smtClean="0"/>
                  <a:t> (VAE)</a:t>
                </a:r>
              </a:p>
              <a:p>
                <a:pPr lvl="1"/>
                <a:r>
                  <a:rPr lang="en-US" dirty="0" smtClean="0"/>
                  <a:t>Throw away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/>
                  <a:t> now "understands" the input even though it's completely random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827" y="783793"/>
            <a:ext cx="4679436" cy="139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8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Variational Autoencoders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Loss function</a:t>
                </a:r>
              </a:p>
              <a:p>
                <a:pPr lvl="1"/>
                <a:r>
                  <a:rPr lang="en-US" dirty="0" smtClean="0"/>
                  <a:t>Generative loss: how well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/>
                  <a:t> reconstructs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Constraint loss: how close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 is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smtClean="0">
                    <a:hlinkClick r:id="rId2"/>
                  </a:rPr>
                  <a:t>KL divergence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MSE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KLD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Results</a:t>
                </a:r>
              </a:p>
              <a:p>
                <a:pPr lvl="1"/>
                <a:r>
                  <a:rPr lang="en-US" dirty="0" smtClean="0">
                    <a:hlinkClick r:id="rId3"/>
                  </a:rPr>
                  <a:t>MNIST</a:t>
                </a:r>
                <a:r>
                  <a:rPr lang="en-US" dirty="0" smtClean="0"/>
                  <a:t>, one more </a:t>
                </a:r>
                <a:r>
                  <a:rPr lang="en-US" dirty="0" smtClean="0">
                    <a:hlinkClick r:id="rId4"/>
                  </a:rPr>
                  <a:t>MNIST</a:t>
                </a:r>
                <a:endParaRPr lang="en-US" dirty="0" smtClean="0"/>
              </a:p>
              <a:p>
                <a:pPr lvl="1"/>
                <a:r>
                  <a:rPr lang="en-US" dirty="0" smtClean="0">
                    <a:hlinkClick r:id="rId5"/>
                  </a:rPr>
                  <a:t>Music</a:t>
                </a:r>
                <a:r>
                  <a:rPr lang="en-US" dirty="0" smtClean="0"/>
                  <a:t> (Roberts et al., 2017)</a:t>
                </a:r>
              </a:p>
              <a:p>
                <a:pPr lvl="1"/>
                <a:r>
                  <a:rPr lang="en-US" dirty="0" smtClean="0">
                    <a:hlinkClick r:id="rId6"/>
                  </a:rPr>
                  <a:t>Time series (RL)</a:t>
                </a:r>
                <a:r>
                  <a:rPr lang="en-US" dirty="0" smtClean="0"/>
                  <a:t> (Gregor and Besse, 2018)</a:t>
                </a:r>
              </a:p>
              <a:p>
                <a:r>
                  <a:rPr lang="en-US" dirty="0" smtClean="0"/>
                  <a:t>Problems regarding generation</a:t>
                </a:r>
              </a:p>
              <a:p>
                <a:pPr lvl="1"/>
                <a:r>
                  <a:rPr lang="en-US" dirty="0" smtClean="0">
                    <a:hlinkClick r:id="rId7"/>
                  </a:rPr>
                  <a:t>Distribution matching</a:t>
                </a:r>
                <a:r>
                  <a:rPr lang="en-US" dirty="0" smtClean="0"/>
                  <a:t> (Rosca et al., 2018)</a:t>
                </a:r>
              </a:p>
              <a:p>
                <a:pPr lvl="1"/>
                <a:r>
                  <a:rPr lang="en-US" dirty="0" smtClean="0">
                    <a:hlinkClick r:id="rId8"/>
                  </a:rPr>
                  <a:t>Adding more constraints to VAEs</a:t>
                </a:r>
                <a:r>
                  <a:rPr lang="en-US" dirty="0" smtClean="0"/>
                  <a:t> (Rezende and Viola, 2018)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9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0051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Adversarial Networks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Learning how to be the best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129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Adversarial Training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hlinkClick r:id="rId2"/>
                  </a:rPr>
                  <a:t>Goodfellow et al., 2014a</a:t>
                </a:r>
                <a:endParaRPr lang="en-US" dirty="0" smtClean="0"/>
              </a:p>
              <a:p>
                <a:r>
                  <a:rPr lang="en-US" dirty="0" smtClean="0"/>
                  <a:t>ML models misclassify examples</a:t>
                </a:r>
                <a:br>
                  <a:rPr lang="en-US" dirty="0" smtClean="0"/>
                </a:br>
                <a:r>
                  <a:rPr lang="en-US" dirty="0" smtClean="0"/>
                  <a:t>that are only slightly different</a:t>
                </a:r>
                <a:br>
                  <a:rPr lang="en-US" dirty="0" smtClean="0"/>
                </a:br>
                <a:r>
                  <a:rPr lang="en-US" dirty="0" smtClean="0"/>
                  <a:t>from correctly classified examples</a:t>
                </a:r>
              </a:p>
              <a:p>
                <a:pPr lvl="1"/>
                <a:r>
                  <a:rPr lang="en-US" dirty="0" smtClean="0"/>
                  <a:t>"Overfitting"; many reasons</a:t>
                </a:r>
              </a:p>
              <a:p>
                <a:pPr lvl="2"/>
                <a:r>
                  <a:rPr lang="en-US" dirty="0" smtClean="0"/>
                  <a:t>Look at the summary of the paper for a quick overview</a:t>
                </a:r>
              </a:p>
              <a:p>
                <a:pPr lvl="1"/>
                <a:r>
                  <a:rPr lang="en-US" dirty="0" smtClean="0"/>
                  <a:t>Regularization alone doesn't help much</a:t>
                </a:r>
              </a:p>
              <a:p>
                <a:pPr lvl="2"/>
                <a:r>
                  <a:rPr lang="en-US" dirty="0" smtClean="0"/>
                  <a:t>Adversarial training can serve as an additional regularizer</a:t>
                </a:r>
              </a:p>
              <a:p>
                <a:r>
                  <a:rPr lang="en-US" dirty="0" smtClean="0"/>
                  <a:t>Generating adversarial examples</a:t>
                </a:r>
              </a:p>
              <a:p>
                <a:pPr lvl="1"/>
                <a:r>
                  <a:rPr lang="en-US" dirty="0" smtClean="0"/>
                  <a:t>Similar to style transfer (but much easier)</a:t>
                </a:r>
              </a:p>
              <a:p>
                <a:pPr lvl="1"/>
                <a:r>
                  <a:rPr lang="en-US" dirty="0" smtClean="0"/>
                  <a:t>Pass a valid image and a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to the (frozen) neural network</a:t>
                </a:r>
              </a:p>
              <a:p>
                <a:pPr lvl="1"/>
                <a:r>
                  <a:rPr lang="en-US" dirty="0" smtClean="0"/>
                  <a:t>Using the model gradients,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to maximize the desired output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556" y="1218128"/>
            <a:ext cx="4206241" cy="15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Adversarial Networks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hlinkClick r:id="rId2"/>
                  </a:rPr>
                  <a:t>Goodfellow et al., 2014b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One of the "cornerstone" papers of modern deep learning</a:t>
                </a:r>
              </a:p>
              <a:p>
                <a:r>
                  <a:rPr lang="en-US" dirty="0" smtClean="0"/>
                  <a:t>Approach: learn to generate from the training distribution</a:t>
                </a:r>
                <a:br>
                  <a:rPr lang="en-US" dirty="0" smtClean="0"/>
                </a:br>
                <a:r>
                  <a:rPr lang="en-US" dirty="0" smtClean="0"/>
                  <a:t>by a two-player game</a:t>
                </a:r>
              </a:p>
              <a:p>
                <a:pPr lvl="1"/>
                <a:r>
                  <a:rPr lang="en-US" dirty="0" smtClean="0"/>
                  <a:t>Instead of modelling vector densities (like we showed so far)</a:t>
                </a:r>
              </a:p>
              <a:p>
                <a:r>
                  <a:rPr lang="en-US" dirty="0" smtClean="0"/>
                  <a:t>High-level intuition</a:t>
                </a:r>
              </a:p>
              <a:p>
                <a:pPr lvl="1"/>
                <a:r>
                  <a:rPr lang="en-US" dirty="0" smtClean="0"/>
                  <a:t>Generator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: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output</a:t>
                </a:r>
              </a:p>
              <a:p>
                <a:pPr lvl="1"/>
                <a:r>
                  <a:rPr lang="en-US" dirty="0" smtClean="0"/>
                  <a:t>Discriminator network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/>
                  <a:t>: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is input fake?</a:t>
                </a:r>
              </a:p>
              <a:p>
                <a:pPr lvl="1"/>
                <a:r>
                  <a:rPr lang="en-US" dirty="0" smtClean="0"/>
                  <a:t>Objective</a:t>
                </a:r>
              </a:p>
              <a:p>
                <a:pPr lvl="2"/>
                <a:r>
                  <a:rPr lang="en-US" dirty="0" smtClean="0"/>
                  <a:t>Train together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/>
                  <a:t> tries to distinguish between</a:t>
                </a:r>
                <a:br>
                  <a:rPr lang="en-US" dirty="0" smtClean="0"/>
                </a:br>
                <a:r>
                  <a:rPr lang="en-US" dirty="0" smtClean="0"/>
                  <a:t>real and fake images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tries to fool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1912" y="4497187"/>
            <a:ext cx="4666893" cy="19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Adversarial Networks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After training,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to generate outputs</a:t>
                </a:r>
              </a:p>
              <a:p>
                <a:pPr lvl="1"/>
                <a:r>
                  <a:rPr lang="en-US" dirty="0" smtClean="0"/>
                  <a:t>Provide random input</a:t>
                </a:r>
              </a:p>
              <a:p>
                <a:pPr lvl="1"/>
                <a:r>
                  <a:rPr lang="en-US" dirty="0" smtClean="0"/>
                  <a:t>Take generated output</a:t>
                </a:r>
              </a:p>
              <a:p>
                <a:r>
                  <a:rPr lang="en-US" dirty="0"/>
                  <a:t>Another useful property</a:t>
                </a:r>
              </a:p>
              <a:p>
                <a:pPr lvl="1"/>
                <a:r>
                  <a:rPr lang="en-US" dirty="0"/>
                  <a:t>Learned </a:t>
                </a:r>
                <a:r>
                  <a:rPr lang="en-US" dirty="0" smtClean="0"/>
                  <a:t>features</a:t>
                </a:r>
                <a:br>
                  <a:rPr lang="en-US" dirty="0" smtClean="0"/>
                </a:br>
                <a:r>
                  <a:rPr lang="en-US" dirty="0" smtClean="0"/>
                  <a:t>can be interpreted</a:t>
                </a:r>
                <a:br>
                  <a:rPr lang="en-US" dirty="0" smtClean="0"/>
                </a:br>
                <a:r>
                  <a:rPr lang="en-US" dirty="0" smtClean="0"/>
                  <a:t>(similar </a:t>
                </a:r>
                <a:r>
                  <a:rPr lang="en-US" dirty="0"/>
                  <a:t>to word2vec</a:t>
                </a:r>
                <a:r>
                  <a:rPr lang="en-US" dirty="0" smtClean="0"/>
                  <a:t>)</a:t>
                </a:r>
                <a:endParaRPr lang="en-US" dirty="0" smtClean="0">
                  <a:hlinkClick r:id="rId2"/>
                </a:endParaRPr>
              </a:p>
              <a:p>
                <a:r>
                  <a:rPr lang="en-US" dirty="0" smtClean="0">
                    <a:hlinkClick r:id="rId3"/>
                  </a:rPr>
                  <a:t>GAN intuition</a:t>
                </a:r>
                <a:endParaRPr lang="en-US" dirty="0" smtClean="0">
                  <a:hlinkClick r:id="rId2"/>
                </a:endParaRPr>
              </a:p>
              <a:p>
                <a:r>
                  <a:rPr lang="en-US" dirty="0" smtClean="0">
                    <a:hlinkClick r:id="rId2"/>
                  </a:rPr>
                  <a:t>Lots of examples</a:t>
                </a:r>
                <a:endParaRPr lang="en-US" dirty="0" smtClean="0"/>
              </a:p>
              <a:p>
                <a:r>
                  <a:rPr lang="en-US" dirty="0" smtClean="0">
                    <a:hlinkClick r:id="rId4"/>
                  </a:rPr>
                  <a:t>Many more examples</a:t>
                </a:r>
                <a:endParaRPr lang="en-US" dirty="0" smtClean="0"/>
              </a:p>
              <a:p>
                <a:r>
                  <a:rPr lang="en-US" dirty="0" smtClean="0">
                    <a:hlinkClick r:id="rId5"/>
                  </a:rPr>
                  <a:t>17 hacks to make GANs work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18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18" y="1752603"/>
            <a:ext cx="4782765" cy="24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4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models: basics</a:t>
            </a:r>
          </a:p>
          <a:p>
            <a:r>
              <a:rPr lang="en-US" dirty="0"/>
              <a:t>Unsupervised data generation</a:t>
            </a:r>
          </a:p>
          <a:p>
            <a:pPr lvl="1"/>
            <a:r>
              <a:rPr lang="en-US" dirty="0"/>
              <a:t>Style transfer</a:t>
            </a:r>
          </a:p>
          <a:p>
            <a:pPr lvl="1"/>
            <a:r>
              <a:rPr lang="en-US" dirty="0"/>
              <a:t>Generating sequences</a:t>
            </a:r>
          </a:p>
          <a:p>
            <a:pPr lvl="1"/>
            <a:r>
              <a:rPr lang="en-US" dirty="0"/>
              <a:t>Variational autoencoders</a:t>
            </a:r>
          </a:p>
          <a:p>
            <a:r>
              <a:rPr lang="en-US" dirty="0"/>
              <a:t>Generative adversarial networks</a:t>
            </a:r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512</Words>
  <Application>Microsoft Office PowerPoint</Application>
  <PresentationFormat>Widescreen</PresentationFormat>
  <Paragraphs>181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Generative Models</vt:lpstr>
      <vt:lpstr>sli.do #DeepLearning</vt:lpstr>
      <vt:lpstr>Table of Contents</vt:lpstr>
      <vt:lpstr>Generative Models</vt:lpstr>
      <vt:lpstr>Generative Models Overview</vt:lpstr>
      <vt:lpstr>Style Transfer</vt:lpstr>
      <vt:lpstr>Style Transfer (2)</vt:lpstr>
      <vt:lpstr>Style Transfer (3)</vt:lpstr>
      <vt:lpstr>Style Transfer (4)</vt:lpstr>
      <vt:lpstr>Sequence Generators</vt:lpstr>
      <vt:lpstr>Sequence Generation</vt:lpstr>
      <vt:lpstr>Variational Autoencoders</vt:lpstr>
      <vt:lpstr>Variational Autoencoders</vt:lpstr>
      <vt:lpstr>Variational Autoencoders (2)</vt:lpstr>
      <vt:lpstr>Generative Adversarial Networks</vt:lpstr>
      <vt:lpstr>Adversarial Training</vt:lpstr>
      <vt:lpstr>Generative Adversarial Networks</vt:lpstr>
      <vt:lpstr>Generative Adversarial Networks (2)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217</cp:revision>
  <dcterms:created xsi:type="dcterms:W3CDTF">2017-09-11T12:40:37Z</dcterms:created>
  <dcterms:modified xsi:type="dcterms:W3CDTF">2021-01-20T21:38:00Z</dcterms:modified>
</cp:coreProperties>
</file>